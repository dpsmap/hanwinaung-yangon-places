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Greet the audience. Introduce the project: Yangon Places Vector, a web application using AI Vector Search to find places in Yangon more accurately. Outline what the presentation will cover: purpose, system design, workflow, architecture, technologies, and future plans.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motivation was improving search experience. Ordinary search engines only match exact keywords — if a user searches 'Good coffee shop' but the database only has 'Cafe', nothing is found. Vector search understands meaning instead of exact words, giving better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problem is the limitation of keyword search. This project solves it using AI Vector Search that understands query meaning. Another goal is a near-production-level software architecture: Frontend handles UI only, Backend owns business logic, external API calls, and data processing — making maintenance, authentication, caching, and logging easier to add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Users can search and view place details easily thanks to semantic search. The Backend receives requests, talks to external APIs, processes data, and returns it. The scope is not to replace a full map service, but to demonstrate a better AI-powered search experience.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shows the workflow: user enters a keyword, Frontend sends it as an HTTP request, Backend validates and calls the Places API and Vector Search API, processes and formats the data, then returns JSON to the Frontend for display. The Frontend never carries business logic — the Backend owns all data processing.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layered architecture. Layer 1: Frontend, which interacts directly with the user. Layer 2: Backend, which handles requests and business logic, calls external APIs, and formats data for the Frontend. Layer 3: External Services, including Places Data and Vector Search. This separation makes maintenance easier and reduces impact when adding new features.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Modern web development tools were used. Vue.js was chosen for component-based architecture and code reusability. TypeScript gives type safety, catching errors during development. Vite was chosen as the build tool for fast dev server startup and good build performance. Express.js with TypeScript powers the backend — lightweight and widely used for REST APIs. Git and GitHub support version control and collaboration.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Frontend is where the user interacts directly. A Vue component captures the search event, the API service sends an HTTP request to the Backend, and when the response returns, the Frontend renders the results. Business logic is kept out of the Frontend, keeping the code clean and easy to maintain.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Backend is where the main work happens. Express Server routes incoming requests, validates parameters, then sends requests to the required external APIs. It reformats the data, removes unnecessary fields, and returns proper error responses when needed. Currently it works as a proxy server so the Frontend never calls external APIs directly. Future plans include splitting into Controller, Service, Middleware, and Configuration layers for better maintainability.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feature: AI Vector Search. Ordinary search only matches exact keywords, but a user's intent matters more than exact wording. For example, searching 'Good place for studying' won't literally exist in the database, but vector search understands related meanings like study, quiet, cafe, workspace, and returns relevant places — a more natural search experience.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explains the API flow. When the user presses search, the Frontend sends a request to the Backend, which validates it and forwards it to external APIs. The Places API returns location data, the Vector Search API returns semantic results, and the Backend combines and formats them into a JSON response for the Frontend to display. The Frontend never talks to external APIs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strengths: first, AI semantic search. Second, modern architecture — separating Frontend and Backend makes maintaining a growing project much easier. Third, security — since external APIs are only called through the Backend, endpoints are better protected. This architecture makes it easy to add authentication, authorization, Redis caching, logging, and monitoring later. This makes the project feel closer to a production-ready modern web application than a simple CRUD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demo: open the application, type a search keyword such as 'Coffee Shop', the Frontend sends a request to the Backend, the Backend talks to the Places API and Vector Search API, processes the results, and returns them to the Frontend for the user to view immediately. This demo shows the entire workflow in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Several challenges came up during development. Combining two external APIs at once, and their differing response formats, required backend reformatting into one consistent format for the Frontend. Security was another key challenge — instead of the Frontend calling external APIs directly, a proxy architecture through the Backend was used, making it easier to manage APIs and add authentication and logging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keep improving, the Backend architecture should be refactored first — separating Controller, Service, and Middleware layers to improve code maintainability. For performance, adding Redis caching for frequently used data would speed up response times. For security, JWT authentication, authorization, input validation, and rate limiting are planned. For production readiness, Docker, GitHub Actions, and automated testing would improve the deployment process. With these improvements, this project can grow from a portfolio project into a production-level 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project provided more than just programming skill — it built real software engineering perspective. Previously the focus was only on making a feature work; after this project, code structure, maintainability, and scalability became part of the thinking. Separating Frontend and Backend and designing the overall architecture was a valuable experience, along with practical API integration, debugging, and problem-solving skills.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conclusion, Yangon Places Vector is a modern search system using AI Vector Search, built with a layered architecture, with Frontend and Backend clearly separated, using semantic search to improve user experience, and structured to keep growing toward a production-level application in the future. Thank the audience and invite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presentation. Thank the teachers and everyone who attended and listened to the Yangon Places Vector project. Offer to answer any questions or requirements raised during the presentation.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8778240" y="-2011680"/>
            <a:ext cx="5486400" cy="5486400"/>
          </a:xfrm>
          <a:prstGeom prst="ellipse">
            <a:avLst/>
          </a:prstGeom>
          <a:solidFill>
            <a:srgbClr val="065A82"/>
          </a:solidFill>
          <a:ln/>
        </p:spPr>
      </p:sp>
      <p:sp>
        <p:nvSpPr>
          <p:cNvPr id="3" name="Shape 1"/>
          <p:cNvSpPr/>
          <p:nvPr/>
        </p:nvSpPr>
        <p:spPr>
          <a:xfrm>
            <a:off x="-2011680" y="4389120"/>
            <a:ext cx="4572000" cy="4572000"/>
          </a:xfrm>
          <a:prstGeom prst="ellipse">
            <a:avLst/>
          </a:prstGeom>
          <a:solidFill>
            <a:srgbClr val="1C7293"/>
          </a:solidFill>
          <a:ln/>
        </p:spPr>
      </p:sp>
      <p:sp>
        <p:nvSpPr>
          <p:cNvPr id="4" name="Text 2"/>
          <p:cNvSpPr/>
          <p:nvPr/>
        </p:nvSpPr>
        <p:spPr>
          <a:xfrm>
            <a:off x="822960" y="1920240"/>
            <a:ext cx="8229600" cy="365760"/>
          </a:xfrm>
          <a:prstGeom prst="rect">
            <a:avLst/>
          </a:prstGeom>
          <a:noFill/>
          <a:ln/>
        </p:spPr>
        <p:txBody>
          <a:bodyPr wrap="square" rtlCol="0" anchor="ctr"/>
          <a:lstStyle/>
          <a:p>
            <a:pPr indent="0" marL="0">
              <a:buNone/>
            </a:pPr>
            <a:r>
              <a:rPr lang="en-US" sz="1400" b="1" spc="300" kern="0" dirty="0">
                <a:solidFill>
                  <a:srgbClr val="5FD3C4"/>
                </a:solidFill>
                <a:latin typeface="Calibri" pitchFamily="34" charset="0"/>
                <a:ea typeface="Calibri" pitchFamily="34" charset="-122"/>
                <a:cs typeface="Calibri" pitchFamily="34" charset="-120"/>
              </a:rPr>
              <a:t>FINAL YEAR PROJECT PRESENTATION</a:t>
            </a:r>
            <a:endParaRPr lang="en-US" sz="1400" dirty="0"/>
          </a:p>
        </p:txBody>
      </p:sp>
      <p:sp>
        <p:nvSpPr>
          <p:cNvPr id="5" name="Text 3"/>
          <p:cNvSpPr/>
          <p:nvPr/>
        </p:nvSpPr>
        <p:spPr>
          <a:xfrm>
            <a:off x="822960" y="2331720"/>
            <a:ext cx="10058400" cy="1188720"/>
          </a:xfrm>
          <a:prstGeom prst="rect">
            <a:avLst/>
          </a:prstGeom>
          <a:noFill/>
          <a:ln/>
        </p:spPr>
        <p:txBody>
          <a:bodyPr wrap="square"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Yangon Places Vector</a:t>
            </a:r>
            <a:endParaRPr lang="en-US" sz="5400" dirty="0"/>
          </a:p>
        </p:txBody>
      </p:sp>
      <p:sp>
        <p:nvSpPr>
          <p:cNvPr id="6" name="Text 4"/>
          <p:cNvSpPr/>
          <p:nvPr/>
        </p:nvSpPr>
        <p:spPr>
          <a:xfrm>
            <a:off x="822960" y="3520440"/>
            <a:ext cx="9601200" cy="548640"/>
          </a:xfrm>
          <a:prstGeom prst="rect">
            <a:avLst/>
          </a:prstGeom>
          <a:noFill/>
          <a:ln/>
        </p:spPr>
        <p:txBody>
          <a:bodyPr wrap="square" rtlCol="0" anchor="ctr"/>
          <a:lstStyle/>
          <a:p>
            <a:pPr indent="0" marL="0">
              <a:buNone/>
            </a:pPr>
            <a:r>
              <a:rPr lang="en-US" sz="1900" i="1" dirty="0">
                <a:solidFill>
                  <a:srgbClr val="CADCFC"/>
                </a:solidFill>
                <a:latin typeface="Calibri" pitchFamily="34" charset="0"/>
                <a:ea typeface="Calibri" pitchFamily="34" charset="-122"/>
                <a:cs typeface="Calibri" pitchFamily="34" charset="-120"/>
              </a:rPr>
              <a:t>AI-powered Semantic Place Search System for Yangon</a:t>
            </a:r>
            <a:endParaRPr lang="en-US" sz="1900" dirty="0"/>
          </a:p>
        </p:txBody>
      </p:sp>
      <p:sp>
        <p:nvSpPr>
          <p:cNvPr id="7" name="Shape 5"/>
          <p:cNvSpPr/>
          <p:nvPr/>
        </p:nvSpPr>
        <p:spPr>
          <a:xfrm>
            <a:off x="822960" y="4983480"/>
            <a:ext cx="2011680" cy="0"/>
          </a:xfrm>
          <a:prstGeom prst="line">
            <a:avLst/>
          </a:prstGeom>
          <a:noFill/>
          <a:ln w="25400">
            <a:solidFill>
              <a:srgbClr val="5FD3C4"/>
            </a:solidFill>
            <a:prstDash val="solid"/>
          </a:ln>
        </p:spPr>
      </p:sp>
      <p:sp>
        <p:nvSpPr>
          <p:cNvPr id="8" name="Text 6"/>
          <p:cNvSpPr/>
          <p:nvPr/>
        </p:nvSpPr>
        <p:spPr>
          <a:xfrm>
            <a:off x="822960" y="5166360"/>
            <a:ext cx="3657600" cy="320040"/>
          </a:xfrm>
          <a:prstGeom prst="rect">
            <a:avLst/>
          </a:prstGeom>
          <a:noFill/>
          <a:ln/>
        </p:spPr>
        <p:txBody>
          <a:bodyPr wrap="square" rtlCol="0" anchor="ctr"/>
          <a:lstStyle/>
          <a:p>
            <a:pPr indent="0" marL="0">
              <a:buNone/>
            </a:pPr>
            <a:r>
              <a:rPr lang="en-US" sz="1200" dirty="0">
                <a:solidFill>
                  <a:srgbClr val="8C9BB5"/>
                </a:solidFill>
                <a:latin typeface="Calibri" pitchFamily="34" charset="0"/>
                <a:ea typeface="Calibri" pitchFamily="34" charset="-122"/>
                <a:cs typeface="Calibri" pitchFamily="34" charset="-120"/>
              </a:rPr>
              <a:t>Presented By</a:t>
            </a:r>
            <a:endParaRPr lang="en-US" sz="1200" dirty="0"/>
          </a:p>
        </p:txBody>
      </p:sp>
      <p:sp>
        <p:nvSpPr>
          <p:cNvPr id="9" name="Text 7"/>
          <p:cNvSpPr/>
          <p:nvPr/>
        </p:nvSpPr>
        <p:spPr>
          <a:xfrm>
            <a:off x="822960" y="5440680"/>
            <a:ext cx="5486400" cy="502920"/>
          </a:xfrm>
          <a:prstGeom prst="rect">
            <a:avLst/>
          </a:prstGeom>
          <a:noFill/>
          <a:ln/>
        </p:spPr>
        <p:txBody>
          <a:bodyPr wrap="square"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Han Win Aung</a:t>
            </a:r>
            <a:endParaRPr lang="en-US" sz="2200" dirty="0"/>
          </a:p>
        </p:txBody>
      </p:sp>
      <p:sp>
        <p:nvSpPr>
          <p:cNvPr id="10" name="Text 8"/>
          <p:cNvSpPr/>
          <p:nvPr/>
        </p:nvSpPr>
        <p:spPr>
          <a:xfrm>
            <a:off x="11365992" y="6355080"/>
            <a:ext cx="548640" cy="320040"/>
          </a:xfrm>
          <a:prstGeom prst="rect">
            <a:avLst/>
          </a:prstGeom>
          <a:noFill/>
          <a:ln/>
        </p:spPr>
        <p:txBody>
          <a:bodyPr wrap="square"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01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9"/>
        </a:solidFill>
      </p:bgPr>
    </p:bg>
    <p:spTree>
      <p:nvGrpSpPr>
        <p:cNvPr id="1" name=""/>
        <p:cNvGrpSpPr/>
        <p:nvPr/>
      </p:nvGrpSpPr>
      <p:grpSpPr>
        <a:xfrm>
          <a:off x="0" y="0"/>
          <a:ext cx="0" cy="0"/>
          <a:chOff x="0" y="0"/>
          <a:chExt cx="0" cy="0"/>
        </a:xfrm>
      </p:grpSpPr>
      <p:sp>
        <p:nvSpPr>
          <p:cNvPr id="2" name="Text 0"/>
          <p:cNvSpPr/>
          <p:nvPr/>
        </p:nvSpPr>
        <p:spPr>
          <a:xfrm>
            <a:off x="548640" y="411480"/>
            <a:ext cx="7315200" cy="36576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INTRODUCTION</a:t>
            </a:r>
            <a:endParaRPr lang="en-US" sz="1300" dirty="0"/>
          </a:p>
        </p:txBody>
      </p:sp>
      <p:sp>
        <p:nvSpPr>
          <p:cNvPr id="3" name="Text 1"/>
          <p:cNvSpPr/>
          <p:nvPr/>
        </p:nvSpPr>
        <p:spPr>
          <a:xfrm>
            <a:off x="548640" y="731520"/>
            <a:ext cx="10515600" cy="822960"/>
          </a:xfrm>
          <a:prstGeom prst="rect">
            <a:avLst/>
          </a:prstGeom>
          <a:noFill/>
          <a:ln/>
        </p:spPr>
        <p:txBody>
          <a:bodyPr wrap="square" rtlCol="0" anchor="ctr"/>
          <a:lstStyle/>
          <a:p>
            <a:pPr indent="0" marL="0">
              <a:buNone/>
            </a:pPr>
            <a:r>
              <a:rPr lang="en-US" sz="3400" b="1" dirty="0">
                <a:solidFill>
                  <a:srgbClr val="21295C"/>
                </a:solidFill>
                <a:latin typeface="Cambria" pitchFamily="34" charset="0"/>
                <a:ea typeface="Cambria" pitchFamily="34" charset="-122"/>
                <a:cs typeface="Cambria" pitchFamily="34" charset="-120"/>
              </a:rPr>
              <a:t>Search needs to understand intent, not just words</a:t>
            </a:r>
            <a:endParaRPr lang="en-US" sz="3400" dirty="0"/>
          </a:p>
        </p:txBody>
      </p:sp>
      <p:sp>
        <p:nvSpPr>
          <p:cNvPr id="4" name="Text 2"/>
          <p:cNvSpPr/>
          <p:nvPr/>
        </p:nvSpPr>
        <p:spPr>
          <a:xfrm>
            <a:off x="548640" y="1737360"/>
            <a:ext cx="5486400" cy="1188720"/>
          </a:xfrm>
          <a:prstGeom prst="rect">
            <a:avLst/>
          </a:prstGeom>
          <a:noFill/>
          <a:ln/>
        </p:spPr>
        <p:txBody>
          <a:bodyPr wrap="square" rtlCol="0" anchor="t"/>
          <a:lstStyle/>
          <a:p>
            <a:pPr indent="0" marL="0">
              <a:lnSpc>
                <a:spcPct val="125000"/>
              </a:lnSpc>
              <a:buNone/>
            </a:pPr>
            <a:r>
              <a:rPr lang="en-US" sz="1500" dirty="0">
                <a:solidFill>
                  <a:srgbClr val="5A6472"/>
                </a:solidFill>
                <a:latin typeface="Calibri" pitchFamily="34" charset="0"/>
                <a:ea typeface="Calibri" pitchFamily="34" charset="-122"/>
                <a:cs typeface="Calibri" pitchFamily="34" charset="-120"/>
              </a:rPr>
              <a:t>People increasingly search for places online — restaurants, cafes, hospitals, banks, travel spots. But ordinary keyword search cannot understand what a user actually means.</a:t>
            </a:r>
            <a:endParaRPr lang="en-US" sz="1500" dirty="0"/>
          </a:p>
        </p:txBody>
      </p:sp>
      <p:sp>
        <p:nvSpPr>
          <p:cNvPr id="5" name="Text 3"/>
          <p:cNvSpPr/>
          <p:nvPr/>
        </p:nvSpPr>
        <p:spPr>
          <a:xfrm>
            <a:off x="548640" y="2971800"/>
            <a:ext cx="5120640" cy="1463040"/>
          </a:xfrm>
          <a:prstGeom prst="rect">
            <a:avLst/>
          </a:prstGeom>
          <a:noFill/>
          <a:ln/>
        </p:spPr>
        <p:txBody>
          <a:bodyPr wrap="square" rtlCol="0" anchor="t"/>
          <a:lstStyle/>
          <a:p>
            <a:pPr marL="177800" indent="-177800">
              <a:spcAft>
                <a:spcPts val="800"/>
              </a:spcAft>
              <a:buSzPct val="100000"/>
              <a:buChar char="▪"/>
            </a:pPr>
            <a:r>
              <a:rPr lang="en-US" sz="1600" dirty="0">
                <a:solidFill>
                  <a:srgbClr val="21295C"/>
                </a:solidFill>
                <a:latin typeface="Calibri" pitchFamily="34" charset="0"/>
                <a:ea typeface="Calibri" pitchFamily="34" charset="-122"/>
                <a:cs typeface="Calibri" pitchFamily="34" charset="-120"/>
              </a:rPr>
              <a:t>"Coffee"</a:t>
            </a:r>
            <a:endParaRPr lang="en-US" sz="1600" dirty="0"/>
          </a:p>
          <a:p>
            <a:pPr marL="177800" indent="-177800">
              <a:spcAft>
                <a:spcPts val="800"/>
              </a:spcAft>
              <a:buSzPct val="100000"/>
              <a:buChar char="▪"/>
            </a:pPr>
            <a:r>
              <a:rPr lang="en-US" sz="1600" dirty="0">
                <a:solidFill>
                  <a:srgbClr val="21295C"/>
                </a:solidFill>
                <a:latin typeface="Calibri" pitchFamily="34" charset="0"/>
                <a:ea typeface="Calibri" pitchFamily="34" charset="-122"/>
                <a:cs typeface="Calibri" pitchFamily="34" charset="-120"/>
              </a:rPr>
              <a:t>"Best cafe"</a:t>
            </a:r>
            <a:endParaRPr lang="en-US" sz="1600" dirty="0"/>
          </a:p>
          <a:p>
            <a:pPr marL="177800" indent="-177800">
              <a:spcAft>
                <a:spcPts val="800"/>
              </a:spcAft>
              <a:buSzPct val="100000"/>
              <a:buChar char="▪"/>
            </a:pPr>
            <a:r>
              <a:rPr lang="en-US" sz="1600" dirty="0">
                <a:solidFill>
                  <a:srgbClr val="21295C"/>
                </a:solidFill>
                <a:latin typeface="Calibri" pitchFamily="34" charset="0"/>
                <a:ea typeface="Calibri" pitchFamily="34" charset="-122"/>
                <a:cs typeface="Calibri" pitchFamily="34" charset="-120"/>
              </a:rPr>
              <a:t>"Good place to study"</a:t>
            </a:r>
            <a:endParaRPr lang="en-US" sz="1600" dirty="0"/>
          </a:p>
        </p:txBody>
      </p:sp>
      <p:sp>
        <p:nvSpPr>
          <p:cNvPr id="6" name="Text 4"/>
          <p:cNvSpPr/>
          <p:nvPr/>
        </p:nvSpPr>
        <p:spPr>
          <a:xfrm>
            <a:off x="548640" y="4480560"/>
            <a:ext cx="5486400" cy="822960"/>
          </a:xfrm>
          <a:prstGeom prst="rect">
            <a:avLst/>
          </a:prstGeom>
          <a:noFill/>
          <a:ln/>
        </p:spPr>
        <p:txBody>
          <a:bodyPr wrap="square" rtlCol="0" anchor="t"/>
          <a:lstStyle/>
          <a:p>
            <a:pPr indent="0" marL="0">
              <a:buNone/>
            </a:pPr>
            <a:r>
              <a:rPr lang="en-US" sz="1300" i="1" dirty="0">
                <a:solidFill>
                  <a:srgbClr val="1C7293"/>
                </a:solidFill>
                <a:latin typeface="Calibri" pitchFamily="34" charset="0"/>
                <a:ea typeface="Calibri" pitchFamily="34" charset="-122"/>
                <a:cs typeface="Calibri" pitchFamily="34" charset="-120"/>
              </a:rPr>
              <a:t>These three queries mean nearly the same thing — but keyword search returns different results for each.</a:t>
            </a:r>
            <a:endParaRPr lang="en-US" sz="1300" dirty="0"/>
          </a:p>
        </p:txBody>
      </p:sp>
      <p:sp>
        <p:nvSpPr>
          <p:cNvPr id="7" name="Shape 5"/>
          <p:cNvSpPr/>
          <p:nvPr/>
        </p:nvSpPr>
        <p:spPr>
          <a:xfrm>
            <a:off x="6400800" y="1737360"/>
            <a:ext cx="5212080" cy="4023360"/>
          </a:xfrm>
          <a:prstGeom prst="roundRect">
            <a:avLst>
              <a:gd name="adj" fmla="val 1818"/>
            </a:avLst>
          </a:prstGeom>
          <a:solidFill>
            <a:srgbClr val="FFFFFF"/>
          </a:solidFill>
          <a:ln/>
          <a:effectLst>
            <a:outerShdw sx="100000" sy="100000" kx="0" ky="0" algn="bl" rotWithShape="0" blurRad="101600" dist="25400" dir="5400000">
              <a:srgbClr val="1A1D29">
                <a:alpha val="12000"/>
              </a:srgbClr>
            </a:outerShdw>
          </a:effectLst>
        </p:spPr>
      </p:sp>
      <p:sp>
        <p:nvSpPr>
          <p:cNvPr id="8" name="Shape 6"/>
          <p:cNvSpPr/>
          <p:nvPr/>
        </p:nvSpPr>
        <p:spPr>
          <a:xfrm>
            <a:off x="6766560" y="2057400"/>
            <a:ext cx="548640" cy="548640"/>
          </a:xfrm>
          <a:prstGeom prst="ellipse">
            <a:avLst/>
          </a:prstGeom>
          <a:solidFill>
            <a:srgbClr val="1C7293"/>
          </a:solidFill>
          <a:ln/>
        </p:spPr>
      </p:sp>
      <p:sp>
        <p:nvSpPr>
          <p:cNvPr id="9" name="Text 7"/>
          <p:cNvSpPr/>
          <p:nvPr/>
        </p:nvSpPr>
        <p:spPr>
          <a:xfrm>
            <a:off x="6766560" y="2057400"/>
            <a:ext cx="548640" cy="548640"/>
          </a:xfrm>
          <a:prstGeom prst="rect">
            <a:avLst/>
          </a:prstGeom>
          <a:noFill/>
          <a:ln/>
        </p:spPr>
        <p:txBody>
          <a:bodyPr wrap="square" rtlCol="0" anchor="ctr"/>
          <a:lstStyle/>
          <a:p>
            <a:pPr algn="ctr" indent="0" marL="0">
              <a:buNone/>
            </a:pPr>
            <a:r>
              <a:rPr lang="en-US" sz="2040" dirty="0">
                <a:solidFill>
                  <a:srgbClr val="FFFFFF"/>
                </a:solidFill>
                <a:latin typeface="Calibri" pitchFamily="34" charset="0"/>
                <a:ea typeface="Calibri" pitchFamily="34" charset="-122"/>
                <a:cs typeface="Calibri" pitchFamily="34" charset="-120"/>
              </a:rPr>
              <a:t>◎</a:t>
            </a:r>
            <a:endParaRPr lang="en-US" sz="2040" dirty="0"/>
          </a:p>
        </p:txBody>
      </p:sp>
      <p:sp>
        <p:nvSpPr>
          <p:cNvPr id="10" name="Text 8"/>
          <p:cNvSpPr/>
          <p:nvPr/>
        </p:nvSpPr>
        <p:spPr>
          <a:xfrm>
            <a:off x="7452360" y="2103120"/>
            <a:ext cx="3657600" cy="457200"/>
          </a:xfrm>
          <a:prstGeom prst="rect">
            <a:avLst/>
          </a:prstGeom>
          <a:noFill/>
          <a:ln/>
        </p:spPr>
        <p:txBody>
          <a:bodyPr wrap="square" rtlCol="0" anchor="ctr"/>
          <a:lstStyle/>
          <a:p>
            <a:pPr indent="0" marL="0">
              <a:buNone/>
            </a:pPr>
            <a:r>
              <a:rPr lang="en-US" sz="1800" b="1" dirty="0">
                <a:solidFill>
                  <a:srgbClr val="21295C"/>
                </a:solidFill>
                <a:latin typeface="Cambria" pitchFamily="34" charset="0"/>
                <a:ea typeface="Cambria" pitchFamily="34" charset="-122"/>
                <a:cs typeface="Cambria" pitchFamily="34" charset="-120"/>
              </a:rPr>
              <a:t>The Solution</a:t>
            </a:r>
            <a:endParaRPr lang="en-US" sz="1800" dirty="0"/>
          </a:p>
        </p:txBody>
      </p:sp>
      <p:sp>
        <p:nvSpPr>
          <p:cNvPr id="11" name="Text 9"/>
          <p:cNvSpPr/>
          <p:nvPr/>
        </p:nvSpPr>
        <p:spPr>
          <a:xfrm>
            <a:off x="6766560" y="2743200"/>
            <a:ext cx="4572000" cy="1005840"/>
          </a:xfrm>
          <a:prstGeom prst="rect">
            <a:avLst/>
          </a:prstGeom>
          <a:noFill/>
          <a:ln/>
        </p:spPr>
        <p:txBody>
          <a:bodyPr wrap="square" rtlCol="0" anchor="t"/>
          <a:lstStyle/>
          <a:p>
            <a:pPr indent="0" marL="0">
              <a:lnSpc>
                <a:spcPct val="120000"/>
              </a:lnSpc>
              <a:buNone/>
            </a:pPr>
            <a:r>
              <a:rPr lang="en-US" sz="1400" dirty="0">
                <a:solidFill>
                  <a:srgbClr val="1A1D29"/>
                </a:solidFill>
                <a:latin typeface="Calibri" pitchFamily="34" charset="0"/>
                <a:ea typeface="Calibri" pitchFamily="34" charset="-122"/>
                <a:cs typeface="Calibri" pitchFamily="34" charset="-120"/>
              </a:rPr>
              <a:t>This project introduces a Semantic Search System built on AI Vector Search — it reads the meaning behind a query, not just the letters in it.</a:t>
            </a:r>
            <a:endParaRPr lang="en-US" sz="1400" dirty="0"/>
          </a:p>
        </p:txBody>
      </p:sp>
      <p:sp>
        <p:nvSpPr>
          <p:cNvPr id="12" name="Shape 10"/>
          <p:cNvSpPr/>
          <p:nvPr/>
        </p:nvSpPr>
        <p:spPr>
          <a:xfrm>
            <a:off x="6766560" y="3886200"/>
            <a:ext cx="4480560" cy="0"/>
          </a:xfrm>
          <a:prstGeom prst="line">
            <a:avLst/>
          </a:prstGeom>
          <a:noFill/>
          <a:ln w="19050">
            <a:solidFill>
              <a:srgbClr val="F4F7F9"/>
            </a:solidFill>
            <a:prstDash val="solid"/>
          </a:ln>
        </p:spPr>
      </p:sp>
      <p:sp>
        <p:nvSpPr>
          <p:cNvPr id="13" name="Text 11"/>
          <p:cNvSpPr/>
          <p:nvPr/>
        </p:nvSpPr>
        <p:spPr>
          <a:xfrm>
            <a:off x="6766560" y="4114800"/>
            <a:ext cx="4572000" cy="1463040"/>
          </a:xfrm>
          <a:prstGeom prst="rect">
            <a:avLst/>
          </a:prstGeom>
          <a:noFill/>
          <a:ln/>
        </p:spPr>
        <p:txBody>
          <a:bodyPr wrap="square" rtlCol="0" anchor="t"/>
          <a:lstStyle/>
          <a:p>
            <a:pPr indent="0" marL="0">
              <a:buNone/>
            </a:pPr>
            <a:r>
              <a:rPr lang="en-US" sz="1400" b="1" dirty="0">
                <a:solidFill>
                  <a:srgbClr val="065A82"/>
                </a:solidFill>
                <a:latin typeface="Calibri" pitchFamily="34" charset="0"/>
                <a:ea typeface="Calibri" pitchFamily="34" charset="-122"/>
                <a:cs typeface="Calibri" pitchFamily="34" charset="-120"/>
              </a:rPr>
              <a:t>Traditional search matches text. Vector search matches meaning.</a:t>
            </a:r>
            <a:endParaRPr lang="en-US" sz="1400" dirty="0"/>
          </a:p>
        </p:txBody>
      </p:sp>
      <p:sp>
        <p:nvSpPr>
          <p:cNvPr id="14" name="Text 12"/>
          <p:cNvSpPr/>
          <p:nvPr/>
        </p:nvSpPr>
        <p:spPr>
          <a:xfrm>
            <a:off x="11365992" y="6355080"/>
            <a:ext cx="548640" cy="320040"/>
          </a:xfrm>
          <a:prstGeom prst="rect">
            <a:avLst/>
          </a:prstGeom>
          <a:noFill/>
          <a:ln/>
        </p:spPr>
        <p:txBody>
          <a:bodyPr wrap="square"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9"/>
        </a:solidFill>
      </p:bgPr>
    </p:bg>
    <p:spTree>
      <p:nvGrpSpPr>
        <p:cNvPr id="1" name=""/>
        <p:cNvGrpSpPr/>
        <p:nvPr/>
      </p:nvGrpSpPr>
      <p:grpSpPr>
        <a:xfrm>
          <a:off x="0" y="0"/>
          <a:ext cx="0" cy="0"/>
          <a:chOff x="0" y="0"/>
          <a:chExt cx="0" cy="0"/>
        </a:xfrm>
      </p:grpSpPr>
      <p:sp>
        <p:nvSpPr>
          <p:cNvPr id="2" name="Text 0"/>
          <p:cNvSpPr/>
          <p:nvPr/>
        </p:nvSpPr>
        <p:spPr>
          <a:xfrm>
            <a:off x="548640" y="411480"/>
            <a:ext cx="7315200" cy="36576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PROBLEM &amp; OBJECTIVES</a:t>
            </a:r>
            <a:endParaRPr lang="en-US" sz="1300" dirty="0"/>
          </a:p>
        </p:txBody>
      </p:sp>
      <p:sp>
        <p:nvSpPr>
          <p:cNvPr id="3" name="Text 1"/>
          <p:cNvSpPr/>
          <p:nvPr/>
        </p:nvSpPr>
        <p:spPr>
          <a:xfrm>
            <a:off x="548640" y="731520"/>
            <a:ext cx="10515600" cy="822960"/>
          </a:xfrm>
          <a:prstGeom prst="rect">
            <a:avLst/>
          </a:prstGeom>
          <a:noFill/>
          <a:ln/>
        </p:spPr>
        <p:txBody>
          <a:bodyPr wrap="square" rtlCol="0" anchor="ctr"/>
          <a:lstStyle/>
          <a:p>
            <a:pPr indent="0" marL="0">
              <a:buNone/>
            </a:pPr>
            <a:r>
              <a:rPr lang="en-US" sz="3400" b="1" dirty="0">
                <a:solidFill>
                  <a:srgbClr val="21295C"/>
                </a:solidFill>
                <a:latin typeface="Cambria" pitchFamily="34" charset="0"/>
                <a:ea typeface="Cambria" pitchFamily="34" charset="-122"/>
                <a:cs typeface="Cambria" pitchFamily="34" charset="-120"/>
              </a:rPr>
              <a:t>Problem Statement &amp; Project Objectives</a:t>
            </a:r>
            <a:endParaRPr lang="en-US" sz="3400" dirty="0"/>
          </a:p>
        </p:txBody>
      </p:sp>
      <p:sp>
        <p:nvSpPr>
          <p:cNvPr id="4" name="Text 2"/>
          <p:cNvSpPr/>
          <p:nvPr/>
        </p:nvSpPr>
        <p:spPr>
          <a:xfrm>
            <a:off x="548640" y="1691640"/>
            <a:ext cx="5303520" cy="320040"/>
          </a:xfrm>
          <a:prstGeom prst="rect">
            <a:avLst/>
          </a:prstGeom>
          <a:noFill/>
          <a:ln/>
        </p:spPr>
        <p:txBody>
          <a:bodyPr wrap="square"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PROBLEM STATEMENT</a:t>
            </a:r>
            <a:endParaRPr lang="en-US" sz="1300" dirty="0"/>
          </a:p>
        </p:txBody>
      </p:sp>
      <p:sp>
        <p:nvSpPr>
          <p:cNvPr id="5" name="Text 3"/>
          <p:cNvSpPr/>
          <p:nvPr/>
        </p:nvSpPr>
        <p:spPr>
          <a:xfrm>
            <a:off x="548640" y="2103120"/>
            <a:ext cx="5303520" cy="3474720"/>
          </a:xfrm>
          <a:prstGeom prst="rect">
            <a:avLst/>
          </a:prstGeom>
          <a:noFill/>
          <a:ln/>
        </p:spPr>
        <p:txBody>
          <a:bodyPr wrap="square" rtlCol="0" anchor="t"/>
          <a:lstStyle/>
          <a:p>
            <a:pPr marL="177800" indent="-177800">
              <a:spcAft>
                <a:spcPts val="1200"/>
              </a:spcAft>
              <a:buSzPct val="100000"/>
              <a:buChar char="▪"/>
            </a:pPr>
            <a:r>
              <a:rPr lang="en-US" sz="1450" dirty="0">
                <a:solidFill>
                  <a:srgbClr val="1A1D29"/>
                </a:solidFill>
                <a:latin typeface="Calibri" pitchFamily="34" charset="0"/>
                <a:ea typeface="Calibri" pitchFamily="34" charset="-122"/>
                <a:cs typeface="Calibri" pitchFamily="34" charset="-120"/>
              </a:rPr>
              <a:t>Relies only on keyword matching</a:t>
            </a:r>
            <a:endParaRPr lang="en-US" sz="1450" dirty="0"/>
          </a:p>
          <a:p>
            <a:pPr marL="177800" indent="-177800">
              <a:spcAft>
                <a:spcPts val="1200"/>
              </a:spcAft>
              <a:buSzPct val="100000"/>
              <a:buChar char="▪"/>
            </a:pPr>
            <a:r>
              <a:rPr lang="en-US" sz="1450" dirty="0">
                <a:solidFill>
                  <a:srgbClr val="1A1D29"/>
                </a:solidFill>
                <a:latin typeface="Calibri" pitchFamily="34" charset="0"/>
                <a:ea typeface="Calibri" pitchFamily="34" charset="-122"/>
                <a:cs typeface="Calibri" pitchFamily="34" charset="-120"/>
              </a:rPr>
              <a:t>Cannot understand semantic meaning</a:t>
            </a:r>
            <a:endParaRPr lang="en-US" sz="1450" dirty="0"/>
          </a:p>
          <a:p>
            <a:pPr marL="177800" indent="-177800">
              <a:spcAft>
                <a:spcPts val="1200"/>
              </a:spcAft>
              <a:buSzPct val="100000"/>
              <a:buChar char="▪"/>
            </a:pPr>
            <a:r>
              <a:rPr lang="en-US" sz="1450" dirty="0">
                <a:solidFill>
                  <a:srgbClr val="1A1D29"/>
                </a:solidFill>
                <a:latin typeface="Calibri" pitchFamily="34" charset="0"/>
                <a:ea typeface="Calibri" pitchFamily="34" charset="-122"/>
                <a:cs typeface="Calibri" pitchFamily="34" charset="-120"/>
              </a:rPr>
              <a:t>Low result accuracy</a:t>
            </a:r>
            <a:endParaRPr lang="en-US" sz="1450" dirty="0"/>
          </a:p>
          <a:p>
            <a:pPr marL="177800" indent="-177800">
              <a:spcAft>
                <a:spcPts val="1200"/>
              </a:spcAft>
              <a:buSzPct val="100000"/>
              <a:buChar char="▪"/>
            </a:pPr>
            <a:r>
              <a:rPr lang="en-US" sz="1450" dirty="0">
                <a:solidFill>
                  <a:srgbClr val="1A1D29"/>
                </a:solidFill>
                <a:latin typeface="Calibri" pitchFamily="34" charset="0"/>
                <a:ea typeface="Calibri" pitchFamily="34" charset="-122"/>
                <a:cs typeface="Calibri" pitchFamily="34" charset="-120"/>
              </a:rPr>
              <a:t>Frontend calls external APIs directly</a:t>
            </a:r>
            <a:endParaRPr lang="en-US" sz="1450" dirty="0"/>
          </a:p>
          <a:p>
            <a:pPr marL="177800" indent="-177800">
              <a:spcAft>
                <a:spcPts val="1200"/>
              </a:spcAft>
              <a:buSzPct val="100000"/>
              <a:buChar char="▪"/>
            </a:pPr>
            <a:r>
              <a:rPr lang="en-US" sz="1450" dirty="0">
                <a:solidFill>
                  <a:srgbClr val="1A1D29"/>
                </a:solidFill>
                <a:latin typeface="Calibri" pitchFamily="34" charset="0"/>
                <a:ea typeface="Calibri" pitchFamily="34" charset="-122"/>
                <a:cs typeface="Calibri" pitchFamily="34" charset="-120"/>
              </a:rPr>
              <a:t>No backend business-logic layer</a:t>
            </a:r>
            <a:endParaRPr lang="en-US" sz="1450" dirty="0"/>
          </a:p>
        </p:txBody>
      </p:sp>
      <p:sp>
        <p:nvSpPr>
          <p:cNvPr id="6" name="Shape 4"/>
          <p:cNvSpPr/>
          <p:nvPr/>
        </p:nvSpPr>
        <p:spPr>
          <a:xfrm>
            <a:off x="6172200" y="1691640"/>
            <a:ext cx="0" cy="3931920"/>
          </a:xfrm>
          <a:prstGeom prst="line">
            <a:avLst/>
          </a:prstGeom>
          <a:noFill/>
          <a:ln w="12700">
            <a:solidFill>
              <a:srgbClr val="D8DEE6"/>
            </a:solidFill>
            <a:prstDash val="solid"/>
          </a:ln>
        </p:spPr>
      </p:sp>
      <p:sp>
        <p:nvSpPr>
          <p:cNvPr id="7" name="Text 5"/>
          <p:cNvSpPr/>
          <p:nvPr/>
        </p:nvSpPr>
        <p:spPr>
          <a:xfrm>
            <a:off x="6446520" y="1691640"/>
            <a:ext cx="5212080" cy="320040"/>
          </a:xfrm>
          <a:prstGeom prst="rect">
            <a:avLst/>
          </a:prstGeom>
          <a:noFill/>
          <a:ln/>
        </p:spPr>
        <p:txBody>
          <a:bodyPr wrap="square" rtlCol="0" anchor="ctr"/>
          <a:lstStyle/>
          <a:p>
            <a:pPr indent="0" marL="0">
              <a:buNone/>
            </a:pPr>
            <a:r>
              <a:rPr lang="en-US" sz="1300" b="1" dirty="0">
                <a:solidFill>
                  <a:srgbClr val="1C7293"/>
                </a:solidFill>
                <a:latin typeface="Calibri" pitchFamily="34" charset="0"/>
                <a:ea typeface="Calibri" pitchFamily="34" charset="-122"/>
                <a:cs typeface="Calibri" pitchFamily="34" charset="-120"/>
              </a:rPr>
              <a:t>PROJECT OBJECTIVES</a:t>
            </a:r>
            <a:endParaRPr lang="en-US" sz="1300" dirty="0"/>
          </a:p>
        </p:txBody>
      </p:sp>
      <p:sp>
        <p:nvSpPr>
          <p:cNvPr id="8" name="Shape 6"/>
          <p:cNvSpPr/>
          <p:nvPr/>
        </p:nvSpPr>
        <p:spPr>
          <a:xfrm>
            <a:off x="6446520" y="2121408"/>
            <a:ext cx="256032" cy="256032"/>
          </a:xfrm>
          <a:prstGeom prst="ellipse">
            <a:avLst/>
          </a:prstGeom>
          <a:solidFill>
            <a:srgbClr val="5FD3C4"/>
          </a:solidFill>
          <a:ln/>
        </p:spPr>
      </p:sp>
      <p:sp>
        <p:nvSpPr>
          <p:cNvPr id="9" name="Text 7"/>
          <p:cNvSpPr/>
          <p:nvPr/>
        </p:nvSpPr>
        <p:spPr>
          <a:xfrm>
            <a:off x="6446520" y="2121408"/>
            <a:ext cx="256032" cy="256032"/>
          </a:xfrm>
          <a:prstGeom prst="rect">
            <a:avLst/>
          </a:prstGeom>
          <a:noFill/>
          <a:ln/>
        </p:spPr>
        <p:txBody>
          <a:bodyPr wrap="square" rtlCol="0" anchor="ctr"/>
          <a:lstStyle/>
          <a:p>
            <a:pPr algn="ctr" indent="0" marL="0">
              <a:buNone/>
            </a:pPr>
            <a:r>
              <a:rPr lang="en-US" sz="1300" b="1" dirty="0">
                <a:solidFill>
                  <a:srgbClr val="21295C"/>
                </a:solidFill>
              </a:rPr>
              <a:t>✓</a:t>
            </a:r>
            <a:endParaRPr lang="en-US" sz="1300" dirty="0"/>
          </a:p>
        </p:txBody>
      </p:sp>
      <p:sp>
        <p:nvSpPr>
          <p:cNvPr id="10" name="Text 8"/>
          <p:cNvSpPr/>
          <p:nvPr/>
        </p:nvSpPr>
        <p:spPr>
          <a:xfrm>
            <a:off x="6839712" y="2057400"/>
            <a:ext cx="4846320" cy="685800"/>
          </a:xfrm>
          <a:prstGeom prst="rect">
            <a:avLst/>
          </a:prstGeom>
          <a:noFill/>
          <a:ln/>
        </p:spPr>
        <p:txBody>
          <a:bodyPr wrap="square" rtlCol="0" anchor="t"/>
          <a:lstStyle/>
          <a:p>
            <a:pPr indent="0" marL="0">
              <a:buNone/>
            </a:pPr>
            <a:r>
              <a:rPr lang="en-US" sz="1400" dirty="0">
                <a:solidFill>
                  <a:srgbClr val="1A1D29"/>
                </a:solidFill>
                <a:latin typeface="Calibri" pitchFamily="34" charset="0"/>
                <a:ea typeface="Calibri" pitchFamily="34" charset="-122"/>
                <a:cs typeface="Calibri" pitchFamily="34" charset="-120"/>
              </a:rPr>
              <a:t>Deliver more accurate results using AI Vector Search</a:t>
            </a:r>
            <a:endParaRPr lang="en-US" sz="1400" dirty="0"/>
          </a:p>
        </p:txBody>
      </p:sp>
      <p:sp>
        <p:nvSpPr>
          <p:cNvPr id="11" name="Shape 9"/>
          <p:cNvSpPr/>
          <p:nvPr/>
        </p:nvSpPr>
        <p:spPr>
          <a:xfrm>
            <a:off x="6446520" y="2990088"/>
            <a:ext cx="256032" cy="256032"/>
          </a:xfrm>
          <a:prstGeom prst="ellipse">
            <a:avLst/>
          </a:prstGeom>
          <a:solidFill>
            <a:srgbClr val="5FD3C4"/>
          </a:solidFill>
          <a:ln/>
        </p:spPr>
      </p:sp>
      <p:sp>
        <p:nvSpPr>
          <p:cNvPr id="12" name="Text 10"/>
          <p:cNvSpPr/>
          <p:nvPr/>
        </p:nvSpPr>
        <p:spPr>
          <a:xfrm>
            <a:off x="6446520" y="2990088"/>
            <a:ext cx="256032" cy="256032"/>
          </a:xfrm>
          <a:prstGeom prst="rect">
            <a:avLst/>
          </a:prstGeom>
          <a:noFill/>
          <a:ln/>
        </p:spPr>
        <p:txBody>
          <a:bodyPr wrap="square" rtlCol="0" anchor="ctr"/>
          <a:lstStyle/>
          <a:p>
            <a:pPr algn="ctr" indent="0" marL="0">
              <a:buNone/>
            </a:pPr>
            <a:r>
              <a:rPr lang="en-US" sz="1300" b="1" dirty="0">
                <a:solidFill>
                  <a:srgbClr val="21295C"/>
                </a:solidFill>
              </a:rPr>
              <a:t>✓</a:t>
            </a:r>
            <a:endParaRPr lang="en-US" sz="1300" dirty="0"/>
          </a:p>
        </p:txBody>
      </p:sp>
      <p:sp>
        <p:nvSpPr>
          <p:cNvPr id="13" name="Text 11"/>
          <p:cNvSpPr/>
          <p:nvPr/>
        </p:nvSpPr>
        <p:spPr>
          <a:xfrm>
            <a:off x="6839712" y="2926080"/>
            <a:ext cx="4846320" cy="685800"/>
          </a:xfrm>
          <a:prstGeom prst="rect">
            <a:avLst/>
          </a:prstGeom>
          <a:noFill/>
          <a:ln/>
        </p:spPr>
        <p:txBody>
          <a:bodyPr wrap="square" rtlCol="0" anchor="t"/>
          <a:lstStyle/>
          <a:p>
            <a:pPr indent="0" marL="0">
              <a:buNone/>
            </a:pPr>
            <a:r>
              <a:rPr lang="en-US" sz="1400" dirty="0">
                <a:solidFill>
                  <a:srgbClr val="1A1D29"/>
                </a:solidFill>
                <a:latin typeface="Calibri" pitchFamily="34" charset="0"/>
                <a:ea typeface="Calibri" pitchFamily="34" charset="-122"/>
                <a:cs typeface="Calibri" pitchFamily="34" charset="-120"/>
              </a:rPr>
              <a:t>Separate Frontend and Backend into distinct architecture</a:t>
            </a:r>
            <a:endParaRPr lang="en-US" sz="1400" dirty="0"/>
          </a:p>
        </p:txBody>
      </p:sp>
      <p:sp>
        <p:nvSpPr>
          <p:cNvPr id="14" name="Shape 12"/>
          <p:cNvSpPr/>
          <p:nvPr/>
        </p:nvSpPr>
        <p:spPr>
          <a:xfrm>
            <a:off x="6446520" y="3858768"/>
            <a:ext cx="256032" cy="256032"/>
          </a:xfrm>
          <a:prstGeom prst="ellipse">
            <a:avLst/>
          </a:prstGeom>
          <a:solidFill>
            <a:srgbClr val="5FD3C4"/>
          </a:solidFill>
          <a:ln/>
        </p:spPr>
      </p:sp>
      <p:sp>
        <p:nvSpPr>
          <p:cNvPr id="15" name="Text 13"/>
          <p:cNvSpPr/>
          <p:nvPr/>
        </p:nvSpPr>
        <p:spPr>
          <a:xfrm>
            <a:off x="6446520" y="3858768"/>
            <a:ext cx="256032" cy="256032"/>
          </a:xfrm>
          <a:prstGeom prst="rect">
            <a:avLst/>
          </a:prstGeom>
          <a:noFill/>
          <a:ln/>
        </p:spPr>
        <p:txBody>
          <a:bodyPr wrap="square" rtlCol="0" anchor="ctr"/>
          <a:lstStyle/>
          <a:p>
            <a:pPr algn="ctr" indent="0" marL="0">
              <a:buNone/>
            </a:pPr>
            <a:r>
              <a:rPr lang="en-US" sz="1300" b="1" dirty="0">
                <a:solidFill>
                  <a:srgbClr val="21295C"/>
                </a:solidFill>
              </a:rPr>
              <a:t>✓</a:t>
            </a:r>
            <a:endParaRPr lang="en-US" sz="1300" dirty="0"/>
          </a:p>
        </p:txBody>
      </p:sp>
      <p:sp>
        <p:nvSpPr>
          <p:cNvPr id="16" name="Text 14"/>
          <p:cNvSpPr/>
          <p:nvPr/>
        </p:nvSpPr>
        <p:spPr>
          <a:xfrm>
            <a:off x="6839712" y="3794760"/>
            <a:ext cx="4846320" cy="685800"/>
          </a:xfrm>
          <a:prstGeom prst="rect">
            <a:avLst/>
          </a:prstGeom>
          <a:noFill/>
          <a:ln/>
        </p:spPr>
        <p:txBody>
          <a:bodyPr wrap="square" rtlCol="0" anchor="t"/>
          <a:lstStyle/>
          <a:p>
            <a:pPr indent="0" marL="0">
              <a:buNone/>
            </a:pPr>
            <a:r>
              <a:rPr lang="en-US" sz="1400" dirty="0">
                <a:solidFill>
                  <a:srgbClr val="1A1D29"/>
                </a:solidFill>
                <a:latin typeface="Calibri" pitchFamily="34" charset="0"/>
                <a:ea typeface="Calibri" pitchFamily="34" charset="-122"/>
                <a:cs typeface="Calibri" pitchFamily="34" charset="-120"/>
              </a:rPr>
              <a:t>Manage external APIs securely through the Backend</a:t>
            </a:r>
            <a:endParaRPr lang="en-US" sz="1400" dirty="0"/>
          </a:p>
        </p:txBody>
      </p:sp>
      <p:sp>
        <p:nvSpPr>
          <p:cNvPr id="17" name="Shape 15"/>
          <p:cNvSpPr/>
          <p:nvPr/>
        </p:nvSpPr>
        <p:spPr>
          <a:xfrm>
            <a:off x="6446520" y="4727448"/>
            <a:ext cx="256032" cy="256032"/>
          </a:xfrm>
          <a:prstGeom prst="ellipse">
            <a:avLst/>
          </a:prstGeom>
          <a:solidFill>
            <a:srgbClr val="5FD3C4"/>
          </a:solidFill>
          <a:ln/>
        </p:spPr>
      </p:sp>
      <p:sp>
        <p:nvSpPr>
          <p:cNvPr id="18" name="Text 16"/>
          <p:cNvSpPr/>
          <p:nvPr/>
        </p:nvSpPr>
        <p:spPr>
          <a:xfrm>
            <a:off x="6446520" y="4727448"/>
            <a:ext cx="256032" cy="256032"/>
          </a:xfrm>
          <a:prstGeom prst="rect">
            <a:avLst/>
          </a:prstGeom>
          <a:noFill/>
          <a:ln/>
        </p:spPr>
        <p:txBody>
          <a:bodyPr wrap="square" rtlCol="0" anchor="ctr"/>
          <a:lstStyle/>
          <a:p>
            <a:pPr algn="ctr" indent="0" marL="0">
              <a:buNone/>
            </a:pPr>
            <a:r>
              <a:rPr lang="en-US" sz="1300" b="1" dirty="0">
                <a:solidFill>
                  <a:srgbClr val="21295C"/>
                </a:solidFill>
              </a:rPr>
              <a:t>✓</a:t>
            </a:r>
            <a:endParaRPr lang="en-US" sz="1300" dirty="0"/>
          </a:p>
        </p:txBody>
      </p:sp>
      <p:sp>
        <p:nvSpPr>
          <p:cNvPr id="19" name="Text 17"/>
          <p:cNvSpPr/>
          <p:nvPr/>
        </p:nvSpPr>
        <p:spPr>
          <a:xfrm>
            <a:off x="6839712" y="4663440"/>
            <a:ext cx="4846320" cy="685800"/>
          </a:xfrm>
          <a:prstGeom prst="rect">
            <a:avLst/>
          </a:prstGeom>
          <a:noFill/>
          <a:ln/>
        </p:spPr>
        <p:txBody>
          <a:bodyPr wrap="square" rtlCol="0" anchor="t"/>
          <a:lstStyle/>
          <a:p>
            <a:pPr indent="0" marL="0">
              <a:buNone/>
            </a:pPr>
            <a:r>
              <a:rPr lang="en-US" sz="1400" dirty="0">
                <a:solidFill>
                  <a:srgbClr val="1A1D29"/>
                </a:solidFill>
                <a:latin typeface="Calibri" pitchFamily="34" charset="0"/>
                <a:ea typeface="Calibri" pitchFamily="34" charset="-122"/>
                <a:cs typeface="Calibri" pitchFamily="34" charset="-120"/>
              </a:rPr>
              <a:t>Build a structure that is easy to extend with new features</a:t>
            </a:r>
            <a:endParaRPr lang="en-US" sz="1400" dirty="0"/>
          </a:p>
        </p:txBody>
      </p:sp>
      <p:sp>
        <p:nvSpPr>
          <p:cNvPr id="20" name="Text 18"/>
          <p:cNvSpPr/>
          <p:nvPr/>
        </p:nvSpPr>
        <p:spPr>
          <a:xfrm>
            <a:off x="11365992" y="6355080"/>
            <a:ext cx="548640" cy="320040"/>
          </a:xfrm>
          <a:prstGeom prst="rect">
            <a:avLst/>
          </a:prstGeom>
          <a:noFill/>
          <a:ln/>
        </p:spPr>
        <p:txBody>
          <a:bodyPr wrap="square"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9"/>
        </a:solidFill>
      </p:bgPr>
    </p:bg>
    <p:spTree>
      <p:nvGrpSpPr>
        <p:cNvPr id="1" name=""/>
        <p:cNvGrpSpPr/>
        <p:nvPr/>
      </p:nvGrpSpPr>
      <p:grpSpPr>
        <a:xfrm>
          <a:off x="0" y="0"/>
          <a:ext cx="0" cy="0"/>
          <a:chOff x="0" y="0"/>
          <a:chExt cx="0" cy="0"/>
        </a:xfrm>
      </p:grpSpPr>
      <p:sp>
        <p:nvSpPr>
          <p:cNvPr id="2" name="Text 0"/>
          <p:cNvSpPr/>
          <p:nvPr/>
        </p:nvSpPr>
        <p:spPr>
          <a:xfrm>
            <a:off x="548640" y="411480"/>
            <a:ext cx="7315200" cy="36576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PROJECT SCOPE</a:t>
            </a:r>
            <a:endParaRPr lang="en-US" sz="1300" dirty="0"/>
          </a:p>
        </p:txBody>
      </p:sp>
      <p:sp>
        <p:nvSpPr>
          <p:cNvPr id="3" name="Text 1"/>
          <p:cNvSpPr/>
          <p:nvPr/>
        </p:nvSpPr>
        <p:spPr>
          <a:xfrm>
            <a:off x="548640" y="731520"/>
            <a:ext cx="10515600" cy="822960"/>
          </a:xfrm>
          <a:prstGeom prst="rect">
            <a:avLst/>
          </a:prstGeom>
          <a:noFill/>
          <a:ln/>
        </p:spPr>
        <p:txBody>
          <a:bodyPr wrap="square" rtlCol="0" anchor="ctr"/>
          <a:lstStyle/>
          <a:p>
            <a:pPr indent="0" marL="0">
              <a:buNone/>
            </a:pPr>
            <a:r>
              <a:rPr lang="en-US" sz="3400" b="1" dirty="0">
                <a:solidFill>
                  <a:srgbClr val="21295C"/>
                </a:solidFill>
                <a:latin typeface="Cambria" pitchFamily="34" charset="0"/>
                <a:ea typeface="Cambria" pitchFamily="34" charset="-122"/>
                <a:cs typeface="Cambria" pitchFamily="34" charset="-120"/>
              </a:rPr>
              <a:t>What This Project Covers</a:t>
            </a:r>
            <a:endParaRPr lang="en-US" sz="3400" dirty="0"/>
          </a:p>
        </p:txBody>
      </p:sp>
      <p:sp>
        <p:nvSpPr>
          <p:cNvPr id="4" name="Text 2"/>
          <p:cNvSpPr/>
          <p:nvPr/>
        </p:nvSpPr>
        <p:spPr>
          <a:xfrm>
            <a:off x="548640" y="1508760"/>
            <a:ext cx="10515600" cy="457200"/>
          </a:xfrm>
          <a:prstGeom prst="rect">
            <a:avLst/>
          </a:prstGeom>
          <a:noFill/>
          <a:ln/>
        </p:spPr>
        <p:txBody>
          <a:bodyPr wrap="square" rtlCol="0" anchor="ctr"/>
          <a:lstStyle/>
          <a:p>
            <a:pPr indent="0" marL="0">
              <a:buNone/>
            </a:pPr>
            <a:r>
              <a:rPr lang="en-US" sz="1400" i="1" dirty="0">
                <a:solidFill>
                  <a:srgbClr val="5A6472"/>
                </a:solidFill>
                <a:latin typeface="Calibri" pitchFamily="34" charset="0"/>
                <a:ea typeface="Calibri" pitchFamily="34" charset="-122"/>
                <a:cs typeface="Calibri" pitchFamily="34" charset="-120"/>
              </a:rPr>
              <a:t>A location-search system focused on improving the search experience — not a replacement for a full map service.</a:t>
            </a:r>
            <a:endParaRPr lang="en-US" sz="1400" dirty="0"/>
          </a:p>
        </p:txBody>
      </p:sp>
      <p:sp>
        <p:nvSpPr>
          <p:cNvPr id="5" name="Shape 3"/>
          <p:cNvSpPr/>
          <p:nvPr/>
        </p:nvSpPr>
        <p:spPr>
          <a:xfrm>
            <a:off x="548640" y="2148840"/>
            <a:ext cx="5212080" cy="3657600"/>
          </a:xfrm>
          <a:prstGeom prst="roundRect">
            <a:avLst>
              <a:gd name="adj" fmla="val 2000"/>
            </a:avLst>
          </a:prstGeom>
          <a:solidFill>
            <a:srgbClr val="FFFFFF"/>
          </a:solidFill>
          <a:ln/>
          <a:effectLst>
            <a:outerShdw sx="100000" sy="100000" kx="0" ky="0" algn="bl" rotWithShape="0" blurRad="101600" dist="25400" dir="5400000">
              <a:srgbClr val="1A1D29">
                <a:alpha val="12000"/>
              </a:srgbClr>
            </a:outerShdw>
          </a:effectLst>
        </p:spPr>
      </p:sp>
      <p:sp>
        <p:nvSpPr>
          <p:cNvPr id="6" name="Shape 4"/>
          <p:cNvSpPr/>
          <p:nvPr/>
        </p:nvSpPr>
        <p:spPr>
          <a:xfrm>
            <a:off x="914400" y="2423160"/>
            <a:ext cx="502920" cy="502920"/>
          </a:xfrm>
          <a:prstGeom prst="ellipse">
            <a:avLst/>
          </a:prstGeom>
          <a:solidFill>
            <a:srgbClr val="065A82"/>
          </a:solidFill>
          <a:ln/>
        </p:spPr>
      </p:sp>
      <p:sp>
        <p:nvSpPr>
          <p:cNvPr id="7" name="Text 5"/>
          <p:cNvSpPr/>
          <p:nvPr/>
        </p:nvSpPr>
        <p:spPr>
          <a:xfrm>
            <a:off x="914400" y="2423160"/>
            <a:ext cx="502920" cy="502920"/>
          </a:xfrm>
          <a:prstGeom prst="rect">
            <a:avLst/>
          </a:prstGeom>
          <a:noFill/>
          <a:ln/>
        </p:spPr>
        <p:txBody>
          <a:bodyPr wrap="square" rtlCol="0" anchor="ctr"/>
          <a:lstStyle/>
          <a:p>
            <a:pPr algn="ctr" indent="0" marL="0">
              <a:buNone/>
            </a:pPr>
            <a:r>
              <a:rPr lang="en-US" sz="1870" dirty="0">
                <a:solidFill>
                  <a:srgbClr val="FFFFFF"/>
                </a:solidFill>
                <a:latin typeface="Calibri" pitchFamily="34" charset="0"/>
                <a:ea typeface="Calibri" pitchFamily="34" charset="-122"/>
                <a:cs typeface="Calibri" pitchFamily="34" charset="-120"/>
              </a:rPr>
              <a:t>👤</a:t>
            </a:r>
            <a:endParaRPr lang="en-US" sz="1870" dirty="0"/>
          </a:p>
        </p:txBody>
      </p:sp>
      <p:sp>
        <p:nvSpPr>
          <p:cNvPr id="8" name="Text 6"/>
          <p:cNvSpPr/>
          <p:nvPr/>
        </p:nvSpPr>
        <p:spPr>
          <a:xfrm>
            <a:off x="1600200" y="2450592"/>
            <a:ext cx="3657600" cy="457200"/>
          </a:xfrm>
          <a:prstGeom prst="rect">
            <a:avLst/>
          </a:prstGeom>
          <a:noFill/>
          <a:ln/>
        </p:spPr>
        <p:txBody>
          <a:bodyPr wrap="square" rtlCol="0" anchor="ctr"/>
          <a:lstStyle/>
          <a:p>
            <a:pPr indent="0" marL="0">
              <a:buNone/>
            </a:pPr>
            <a:r>
              <a:rPr lang="en-US" sz="1800" b="1" dirty="0">
                <a:solidFill>
                  <a:srgbClr val="21295C"/>
                </a:solidFill>
                <a:latin typeface="Cambria" pitchFamily="34" charset="0"/>
                <a:ea typeface="Cambria" pitchFamily="34" charset="-122"/>
                <a:cs typeface="Cambria" pitchFamily="34" charset="-120"/>
              </a:rPr>
              <a:t>User Features</a:t>
            </a:r>
            <a:endParaRPr lang="en-US" sz="1800" dirty="0"/>
          </a:p>
        </p:txBody>
      </p:sp>
      <p:sp>
        <p:nvSpPr>
          <p:cNvPr id="9" name="Text 7"/>
          <p:cNvSpPr/>
          <p:nvPr/>
        </p:nvSpPr>
        <p:spPr>
          <a:xfrm>
            <a:off x="914400" y="3108960"/>
            <a:ext cx="4572000" cy="2560320"/>
          </a:xfrm>
          <a:prstGeom prst="rect">
            <a:avLst/>
          </a:prstGeom>
          <a:noFill/>
          <a:ln/>
        </p:spPr>
        <p:txBody>
          <a:bodyPr wrap="square" rtlCol="0" anchor="t"/>
          <a:lstStyle/>
          <a:p>
            <a:pPr marL="177800" indent="-177800">
              <a:spcAft>
                <a:spcPts val="1000"/>
              </a:spcAft>
              <a:buSzPct val="100000"/>
              <a:buChar char="▪"/>
            </a:pPr>
            <a:r>
              <a:rPr lang="en-US" sz="1400" dirty="0">
                <a:solidFill>
                  <a:srgbClr val="1A1D29"/>
                </a:solidFill>
                <a:latin typeface="Calibri" pitchFamily="34" charset="0"/>
                <a:ea typeface="Calibri" pitchFamily="34" charset="-122"/>
                <a:cs typeface="Calibri" pitchFamily="34" charset="-120"/>
              </a:rPr>
              <a:t>Place Search</a:t>
            </a:r>
            <a:endParaRPr lang="en-US" sz="1400" dirty="0"/>
          </a:p>
          <a:p>
            <a:pPr marL="177800" indent="-177800">
              <a:spcAft>
                <a:spcPts val="1000"/>
              </a:spcAft>
              <a:buSzPct val="100000"/>
              <a:buChar char="▪"/>
            </a:pPr>
            <a:r>
              <a:rPr lang="en-US" sz="1400" dirty="0">
                <a:solidFill>
                  <a:srgbClr val="1A1D29"/>
                </a:solidFill>
                <a:latin typeface="Calibri" pitchFamily="34" charset="0"/>
                <a:ea typeface="Calibri" pitchFamily="34" charset="-122"/>
                <a:cs typeface="Calibri" pitchFamily="34" charset="-120"/>
              </a:rPr>
              <a:t>Semantic Search (Vector Search)</a:t>
            </a:r>
            <a:endParaRPr lang="en-US" sz="1400" dirty="0"/>
          </a:p>
          <a:p>
            <a:pPr marL="177800" indent="-177800">
              <a:spcAft>
                <a:spcPts val="1000"/>
              </a:spcAft>
              <a:buSzPct val="100000"/>
              <a:buChar char="▪"/>
            </a:pPr>
            <a:r>
              <a:rPr lang="en-US" sz="1400" dirty="0">
                <a:solidFill>
                  <a:srgbClr val="1A1D29"/>
                </a:solidFill>
                <a:latin typeface="Calibri" pitchFamily="34" charset="0"/>
                <a:ea typeface="Calibri" pitchFamily="34" charset="-122"/>
                <a:cs typeface="Calibri" pitchFamily="34" charset="-120"/>
              </a:rPr>
              <a:t>View place details</a:t>
            </a:r>
            <a:endParaRPr lang="en-US" sz="1400" dirty="0"/>
          </a:p>
          <a:p>
            <a:pPr marL="177800" indent="-177800">
              <a:spcAft>
                <a:spcPts val="1000"/>
              </a:spcAft>
              <a:buSzPct val="100000"/>
              <a:buChar char="▪"/>
            </a:pPr>
            <a:r>
              <a:rPr lang="en-US" sz="1400" dirty="0">
                <a:solidFill>
                  <a:srgbClr val="1A1D29"/>
                </a:solidFill>
                <a:latin typeface="Calibri" pitchFamily="34" charset="0"/>
                <a:ea typeface="Calibri" pitchFamily="34" charset="-122"/>
                <a:cs typeface="Calibri" pitchFamily="34" charset="-120"/>
              </a:rPr>
              <a:t>Fast display of search results</a:t>
            </a:r>
            <a:endParaRPr lang="en-US" sz="1400" dirty="0"/>
          </a:p>
        </p:txBody>
      </p:sp>
      <p:sp>
        <p:nvSpPr>
          <p:cNvPr id="10" name="Shape 8"/>
          <p:cNvSpPr/>
          <p:nvPr/>
        </p:nvSpPr>
        <p:spPr>
          <a:xfrm>
            <a:off x="6035040" y="2148840"/>
            <a:ext cx="5577840" cy="3657600"/>
          </a:xfrm>
          <a:prstGeom prst="roundRect">
            <a:avLst>
              <a:gd name="adj" fmla="val 2000"/>
            </a:avLst>
          </a:prstGeom>
          <a:solidFill>
            <a:srgbClr val="FFFFFF"/>
          </a:solidFill>
          <a:ln/>
          <a:effectLst>
            <a:outerShdw sx="100000" sy="100000" kx="0" ky="0" algn="bl" rotWithShape="0" blurRad="101600" dist="25400" dir="5400000">
              <a:srgbClr val="1A1D29">
                <a:alpha val="12000"/>
              </a:srgbClr>
            </a:outerShdw>
          </a:effectLst>
        </p:spPr>
      </p:sp>
      <p:sp>
        <p:nvSpPr>
          <p:cNvPr id="11" name="Shape 9"/>
          <p:cNvSpPr/>
          <p:nvPr/>
        </p:nvSpPr>
        <p:spPr>
          <a:xfrm>
            <a:off x="6400800" y="2423160"/>
            <a:ext cx="502920" cy="502920"/>
          </a:xfrm>
          <a:prstGeom prst="ellipse">
            <a:avLst/>
          </a:prstGeom>
          <a:solidFill>
            <a:srgbClr val="1C7293"/>
          </a:solidFill>
          <a:ln/>
        </p:spPr>
      </p:sp>
      <p:sp>
        <p:nvSpPr>
          <p:cNvPr id="12" name="Text 10"/>
          <p:cNvSpPr/>
          <p:nvPr/>
        </p:nvSpPr>
        <p:spPr>
          <a:xfrm>
            <a:off x="6400800" y="2423160"/>
            <a:ext cx="502920" cy="502920"/>
          </a:xfrm>
          <a:prstGeom prst="rect">
            <a:avLst/>
          </a:prstGeom>
          <a:noFill/>
          <a:ln/>
        </p:spPr>
        <p:txBody>
          <a:bodyPr wrap="square" rtlCol="0" anchor="ctr"/>
          <a:lstStyle/>
          <a:p>
            <a:pPr algn="ctr" indent="0" marL="0">
              <a:buNone/>
            </a:pPr>
            <a:r>
              <a:rPr lang="en-US" sz="1870" dirty="0">
                <a:solidFill>
                  <a:srgbClr val="FFFFFF"/>
                </a:solidFill>
                <a:latin typeface="Calibri" pitchFamily="34" charset="0"/>
                <a:ea typeface="Calibri" pitchFamily="34" charset="-122"/>
                <a:cs typeface="Calibri" pitchFamily="34" charset="-120"/>
              </a:rPr>
              <a:t>⚙</a:t>
            </a:r>
            <a:endParaRPr lang="en-US" sz="1870" dirty="0"/>
          </a:p>
        </p:txBody>
      </p:sp>
      <p:sp>
        <p:nvSpPr>
          <p:cNvPr id="13" name="Text 11"/>
          <p:cNvSpPr/>
          <p:nvPr/>
        </p:nvSpPr>
        <p:spPr>
          <a:xfrm>
            <a:off x="7086600" y="2450592"/>
            <a:ext cx="4114800" cy="457200"/>
          </a:xfrm>
          <a:prstGeom prst="rect">
            <a:avLst/>
          </a:prstGeom>
          <a:noFill/>
          <a:ln/>
        </p:spPr>
        <p:txBody>
          <a:bodyPr wrap="square" rtlCol="0" anchor="ctr"/>
          <a:lstStyle/>
          <a:p>
            <a:pPr indent="0" marL="0">
              <a:buNone/>
            </a:pPr>
            <a:r>
              <a:rPr lang="en-US" sz="1800" b="1" dirty="0">
                <a:solidFill>
                  <a:srgbClr val="21295C"/>
                </a:solidFill>
                <a:latin typeface="Cambria" pitchFamily="34" charset="0"/>
                <a:ea typeface="Cambria" pitchFamily="34" charset="-122"/>
                <a:cs typeface="Cambria" pitchFamily="34" charset="-120"/>
              </a:rPr>
              <a:t>Backend Features</a:t>
            </a:r>
            <a:endParaRPr lang="en-US" sz="1800" dirty="0"/>
          </a:p>
        </p:txBody>
      </p:sp>
      <p:sp>
        <p:nvSpPr>
          <p:cNvPr id="14" name="Text 12"/>
          <p:cNvSpPr/>
          <p:nvPr/>
        </p:nvSpPr>
        <p:spPr>
          <a:xfrm>
            <a:off x="6400800" y="3108960"/>
            <a:ext cx="4937760" cy="2560320"/>
          </a:xfrm>
          <a:prstGeom prst="rect">
            <a:avLst/>
          </a:prstGeom>
          <a:noFill/>
          <a:ln/>
        </p:spPr>
        <p:txBody>
          <a:bodyPr wrap="square" rtlCol="0" anchor="t"/>
          <a:lstStyle/>
          <a:p>
            <a:pPr marL="177800" indent="-177800">
              <a:spcAft>
                <a:spcPts val="900"/>
              </a:spcAft>
              <a:buSzPct val="100000"/>
              <a:buChar char="▪"/>
            </a:pPr>
            <a:r>
              <a:rPr lang="en-US" sz="1400" dirty="0">
                <a:solidFill>
                  <a:srgbClr val="1A1D29"/>
                </a:solidFill>
                <a:latin typeface="Calibri" pitchFamily="34" charset="0"/>
                <a:ea typeface="Calibri" pitchFamily="34" charset="-122"/>
                <a:cs typeface="Calibri" pitchFamily="34" charset="-120"/>
              </a:rPr>
              <a:t>API request management</a:t>
            </a:r>
            <a:endParaRPr lang="en-US" sz="1400" dirty="0"/>
          </a:p>
          <a:p>
            <a:pPr marL="177800" indent="-177800">
              <a:spcAft>
                <a:spcPts val="900"/>
              </a:spcAft>
              <a:buSzPct val="100000"/>
              <a:buChar char="▪"/>
            </a:pPr>
            <a:r>
              <a:rPr lang="en-US" sz="1400" dirty="0">
                <a:solidFill>
                  <a:srgbClr val="1A1D29"/>
                </a:solidFill>
                <a:latin typeface="Calibri" pitchFamily="34" charset="0"/>
                <a:ea typeface="Calibri" pitchFamily="34" charset="-122"/>
                <a:cs typeface="Calibri" pitchFamily="34" charset="-120"/>
              </a:rPr>
              <a:t>External API integration</a:t>
            </a:r>
            <a:endParaRPr lang="en-US" sz="1400" dirty="0"/>
          </a:p>
          <a:p>
            <a:pPr marL="177800" indent="-177800">
              <a:spcAft>
                <a:spcPts val="900"/>
              </a:spcAft>
              <a:buSzPct val="100000"/>
              <a:buChar char="▪"/>
            </a:pPr>
            <a:r>
              <a:rPr lang="en-US" sz="1400" dirty="0">
                <a:solidFill>
                  <a:srgbClr val="1A1D29"/>
                </a:solidFill>
                <a:latin typeface="Calibri" pitchFamily="34" charset="0"/>
                <a:ea typeface="Calibri" pitchFamily="34" charset="-122"/>
                <a:cs typeface="Calibri" pitchFamily="34" charset="-120"/>
              </a:rPr>
              <a:t>Data processing</a:t>
            </a:r>
            <a:endParaRPr lang="en-US" sz="1400" dirty="0"/>
          </a:p>
          <a:p>
            <a:pPr marL="177800" indent="-177800">
              <a:spcAft>
                <a:spcPts val="900"/>
              </a:spcAft>
              <a:buSzPct val="100000"/>
              <a:buChar char="▪"/>
            </a:pPr>
            <a:r>
              <a:rPr lang="en-US" sz="1400" dirty="0">
                <a:solidFill>
                  <a:srgbClr val="1A1D29"/>
                </a:solidFill>
                <a:latin typeface="Calibri" pitchFamily="34" charset="0"/>
                <a:ea typeface="Calibri" pitchFamily="34" charset="-122"/>
                <a:cs typeface="Calibri" pitchFamily="34" charset="-120"/>
              </a:rPr>
              <a:t>Error handling</a:t>
            </a:r>
            <a:endParaRPr lang="en-US" sz="1400" dirty="0"/>
          </a:p>
          <a:p>
            <a:pPr marL="177800" indent="-177800">
              <a:spcAft>
                <a:spcPts val="900"/>
              </a:spcAft>
              <a:buSzPct val="100000"/>
              <a:buChar char="▪"/>
            </a:pPr>
            <a:r>
              <a:rPr lang="en-US" sz="1400" dirty="0">
                <a:solidFill>
                  <a:srgbClr val="1A1D29"/>
                </a:solidFill>
                <a:latin typeface="Calibri" pitchFamily="34" charset="0"/>
                <a:ea typeface="Calibri" pitchFamily="34" charset="-122"/>
                <a:cs typeface="Calibri" pitchFamily="34" charset="-120"/>
              </a:rPr>
              <a:t>Response formatting</a:t>
            </a:r>
            <a:endParaRPr lang="en-US" sz="1400" dirty="0"/>
          </a:p>
        </p:txBody>
      </p:sp>
      <p:sp>
        <p:nvSpPr>
          <p:cNvPr id="15" name="Text 13"/>
          <p:cNvSpPr/>
          <p:nvPr/>
        </p:nvSpPr>
        <p:spPr>
          <a:xfrm>
            <a:off x="11365992" y="6355080"/>
            <a:ext cx="548640" cy="320040"/>
          </a:xfrm>
          <a:prstGeom prst="rect">
            <a:avLst/>
          </a:prstGeom>
          <a:noFill/>
          <a:ln/>
        </p:spPr>
        <p:txBody>
          <a:bodyPr wrap="square"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9"/>
        </a:solidFill>
      </p:bgPr>
    </p:bg>
    <p:spTree>
      <p:nvGrpSpPr>
        <p:cNvPr id="1" name=""/>
        <p:cNvGrpSpPr/>
        <p:nvPr/>
      </p:nvGrpSpPr>
      <p:grpSpPr>
        <a:xfrm>
          <a:off x="0" y="0"/>
          <a:ext cx="0" cy="0"/>
          <a:chOff x="0" y="0"/>
          <a:chExt cx="0" cy="0"/>
        </a:xfrm>
      </p:grpSpPr>
      <p:sp>
        <p:nvSpPr>
          <p:cNvPr id="2" name="Text 0"/>
          <p:cNvSpPr/>
          <p:nvPr/>
        </p:nvSpPr>
        <p:spPr>
          <a:xfrm>
            <a:off x="548640" y="411480"/>
            <a:ext cx="7315200" cy="36576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SYSTEM WORKFLOW</a:t>
            </a:r>
            <a:endParaRPr lang="en-US" sz="1300" dirty="0"/>
          </a:p>
        </p:txBody>
      </p:sp>
      <p:sp>
        <p:nvSpPr>
          <p:cNvPr id="3" name="Text 1"/>
          <p:cNvSpPr/>
          <p:nvPr/>
        </p:nvSpPr>
        <p:spPr>
          <a:xfrm>
            <a:off x="548640" y="731520"/>
            <a:ext cx="10515600" cy="822960"/>
          </a:xfrm>
          <a:prstGeom prst="rect">
            <a:avLst/>
          </a:prstGeom>
          <a:noFill/>
          <a:ln/>
        </p:spPr>
        <p:txBody>
          <a:bodyPr wrap="square" rtlCol="0" anchor="ctr"/>
          <a:lstStyle/>
          <a:p>
            <a:pPr indent="0" marL="0">
              <a:buNone/>
            </a:pPr>
            <a:r>
              <a:rPr lang="en-US" sz="3400" b="1" dirty="0">
                <a:solidFill>
                  <a:srgbClr val="21295C"/>
                </a:solidFill>
                <a:latin typeface="Cambria" pitchFamily="34" charset="0"/>
                <a:ea typeface="Cambria" pitchFamily="34" charset="-122"/>
                <a:cs typeface="Cambria" pitchFamily="34" charset="-120"/>
              </a:rPr>
              <a:t>How a Search Request Flows Through the System</a:t>
            </a:r>
            <a:endParaRPr lang="en-US" sz="3400" dirty="0"/>
          </a:p>
        </p:txBody>
      </p:sp>
      <p:sp>
        <p:nvSpPr>
          <p:cNvPr id="4" name="Shape 2"/>
          <p:cNvSpPr/>
          <p:nvPr/>
        </p:nvSpPr>
        <p:spPr>
          <a:xfrm>
            <a:off x="379476" y="2743200"/>
            <a:ext cx="1691640" cy="1188720"/>
          </a:xfrm>
          <a:prstGeom prst="roundRect">
            <a:avLst>
              <a:gd name="adj" fmla="val 4615"/>
            </a:avLst>
          </a:prstGeom>
          <a:solidFill>
            <a:srgbClr val="065A82"/>
          </a:solidFill>
          <a:ln/>
        </p:spPr>
      </p:sp>
      <p:sp>
        <p:nvSpPr>
          <p:cNvPr id="5" name="Text 3"/>
          <p:cNvSpPr/>
          <p:nvPr/>
        </p:nvSpPr>
        <p:spPr>
          <a:xfrm>
            <a:off x="379476" y="2743200"/>
            <a:ext cx="1691640" cy="1188720"/>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User enters</a:t>
            </a:r>
            <a:endParaRPr lang="en-US" sz="1250" dirty="0"/>
          </a:p>
          <a:p>
            <a:pPr algn="ctr" indent="0" marL="0">
              <a:buNone/>
            </a:pPr>
            <a:r>
              <a:rPr lang="en-US" sz="1250" b="1" dirty="0">
                <a:solidFill>
                  <a:srgbClr val="FFFFFF"/>
                </a:solidFill>
                <a:latin typeface="Calibri" pitchFamily="34" charset="0"/>
                <a:ea typeface="Calibri" pitchFamily="34" charset="-122"/>
                <a:cs typeface="Calibri" pitchFamily="34" charset="-120"/>
              </a:rPr>
              <a:t>search keyword</a:t>
            </a:r>
            <a:endParaRPr lang="en-US" sz="1250" dirty="0"/>
          </a:p>
        </p:txBody>
      </p:sp>
      <p:sp>
        <p:nvSpPr>
          <p:cNvPr id="6" name="Shape 4"/>
          <p:cNvSpPr/>
          <p:nvPr/>
        </p:nvSpPr>
        <p:spPr>
          <a:xfrm>
            <a:off x="2089404" y="3293669"/>
            <a:ext cx="219456" cy="131674"/>
          </a:xfrm>
          <a:prstGeom prst="rightArrow">
            <a:avLst/>
          </a:prstGeom>
          <a:solidFill>
            <a:srgbClr val="1C7293"/>
          </a:solidFill>
          <a:ln/>
        </p:spPr>
      </p:sp>
      <p:sp>
        <p:nvSpPr>
          <p:cNvPr id="7" name="Shape 5"/>
          <p:cNvSpPr/>
          <p:nvPr/>
        </p:nvSpPr>
        <p:spPr>
          <a:xfrm>
            <a:off x="2327148" y="2743200"/>
            <a:ext cx="1691640" cy="1188720"/>
          </a:xfrm>
          <a:prstGeom prst="roundRect">
            <a:avLst>
              <a:gd name="adj" fmla="val 4615"/>
            </a:avLst>
          </a:prstGeom>
          <a:solidFill>
            <a:srgbClr val="1C7293"/>
          </a:solidFill>
          <a:ln/>
        </p:spPr>
      </p:sp>
      <p:sp>
        <p:nvSpPr>
          <p:cNvPr id="8" name="Text 6"/>
          <p:cNvSpPr/>
          <p:nvPr/>
        </p:nvSpPr>
        <p:spPr>
          <a:xfrm>
            <a:off x="2327148" y="2743200"/>
            <a:ext cx="1691640" cy="1188720"/>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Vue Frontend</a:t>
            </a:r>
            <a:endParaRPr lang="en-US" sz="1250" dirty="0"/>
          </a:p>
          <a:p>
            <a:pPr algn="ctr" indent="0" marL="0">
              <a:buNone/>
            </a:pPr>
            <a:r>
              <a:rPr lang="en-US" sz="1250" b="1" dirty="0">
                <a:solidFill>
                  <a:srgbClr val="FFFFFF"/>
                </a:solidFill>
                <a:latin typeface="Calibri" pitchFamily="34" charset="0"/>
                <a:ea typeface="Calibri" pitchFamily="34" charset="-122"/>
                <a:cs typeface="Calibri" pitchFamily="34" charset="-120"/>
              </a:rPr>
              <a:t>sends HTTP request</a:t>
            </a:r>
            <a:endParaRPr lang="en-US" sz="1250" dirty="0"/>
          </a:p>
        </p:txBody>
      </p:sp>
      <p:sp>
        <p:nvSpPr>
          <p:cNvPr id="9" name="Shape 7"/>
          <p:cNvSpPr/>
          <p:nvPr/>
        </p:nvSpPr>
        <p:spPr>
          <a:xfrm>
            <a:off x="4037076" y="3293669"/>
            <a:ext cx="219456" cy="131674"/>
          </a:xfrm>
          <a:prstGeom prst="rightArrow">
            <a:avLst/>
          </a:prstGeom>
          <a:solidFill>
            <a:srgbClr val="1C7293"/>
          </a:solidFill>
          <a:ln/>
        </p:spPr>
      </p:sp>
      <p:sp>
        <p:nvSpPr>
          <p:cNvPr id="10" name="Shape 8"/>
          <p:cNvSpPr/>
          <p:nvPr/>
        </p:nvSpPr>
        <p:spPr>
          <a:xfrm>
            <a:off x="4274820" y="2743200"/>
            <a:ext cx="1691640" cy="1188720"/>
          </a:xfrm>
          <a:prstGeom prst="roundRect">
            <a:avLst>
              <a:gd name="adj" fmla="val 4615"/>
            </a:avLst>
          </a:prstGeom>
          <a:solidFill>
            <a:srgbClr val="21295C"/>
          </a:solidFill>
          <a:ln/>
        </p:spPr>
      </p:sp>
      <p:sp>
        <p:nvSpPr>
          <p:cNvPr id="11" name="Text 9"/>
          <p:cNvSpPr/>
          <p:nvPr/>
        </p:nvSpPr>
        <p:spPr>
          <a:xfrm>
            <a:off x="4274820" y="2743200"/>
            <a:ext cx="1691640" cy="1188720"/>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Express Backend</a:t>
            </a:r>
            <a:endParaRPr lang="en-US" sz="1250" dirty="0"/>
          </a:p>
          <a:p>
            <a:pPr algn="ctr" indent="0" marL="0">
              <a:buNone/>
            </a:pPr>
            <a:r>
              <a:rPr lang="en-US" sz="1250" b="1" dirty="0">
                <a:solidFill>
                  <a:srgbClr val="FFFFFF"/>
                </a:solidFill>
                <a:latin typeface="Calibri" pitchFamily="34" charset="0"/>
                <a:ea typeface="Calibri" pitchFamily="34" charset="-122"/>
                <a:cs typeface="Calibri" pitchFamily="34" charset="-120"/>
              </a:rPr>
              <a:t>validates request</a:t>
            </a:r>
            <a:endParaRPr lang="en-US" sz="1250" dirty="0"/>
          </a:p>
        </p:txBody>
      </p:sp>
      <p:sp>
        <p:nvSpPr>
          <p:cNvPr id="12" name="Shape 10"/>
          <p:cNvSpPr/>
          <p:nvPr/>
        </p:nvSpPr>
        <p:spPr>
          <a:xfrm>
            <a:off x="5984748" y="3293669"/>
            <a:ext cx="219456" cy="131674"/>
          </a:xfrm>
          <a:prstGeom prst="rightArrow">
            <a:avLst/>
          </a:prstGeom>
          <a:solidFill>
            <a:srgbClr val="1C7293"/>
          </a:solidFill>
          <a:ln/>
        </p:spPr>
      </p:sp>
      <p:sp>
        <p:nvSpPr>
          <p:cNvPr id="13" name="Shape 11"/>
          <p:cNvSpPr/>
          <p:nvPr/>
        </p:nvSpPr>
        <p:spPr>
          <a:xfrm>
            <a:off x="6222492" y="2743200"/>
            <a:ext cx="1691640" cy="1188720"/>
          </a:xfrm>
          <a:prstGeom prst="roundRect">
            <a:avLst>
              <a:gd name="adj" fmla="val 4615"/>
            </a:avLst>
          </a:prstGeom>
          <a:solidFill>
            <a:srgbClr val="1C7293"/>
          </a:solidFill>
          <a:ln/>
        </p:spPr>
      </p:sp>
      <p:sp>
        <p:nvSpPr>
          <p:cNvPr id="14" name="Text 12"/>
          <p:cNvSpPr/>
          <p:nvPr/>
        </p:nvSpPr>
        <p:spPr>
          <a:xfrm>
            <a:off x="6222492" y="2743200"/>
            <a:ext cx="1691640" cy="1188720"/>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External APIs</a:t>
            </a:r>
            <a:endParaRPr lang="en-US" sz="1250" dirty="0"/>
          </a:p>
          <a:p>
            <a:pPr algn="ctr" indent="0" marL="0">
              <a:buNone/>
            </a:pPr>
            <a:r>
              <a:rPr lang="en-US" sz="1250" b="1" dirty="0">
                <a:solidFill>
                  <a:srgbClr val="FFFFFF"/>
                </a:solidFill>
                <a:latin typeface="Calibri" pitchFamily="34" charset="0"/>
                <a:ea typeface="Calibri" pitchFamily="34" charset="-122"/>
                <a:cs typeface="Calibri" pitchFamily="34" charset="-120"/>
              </a:rPr>
              <a:t>(Places + Vector Search)</a:t>
            </a:r>
            <a:endParaRPr lang="en-US" sz="1250" dirty="0"/>
          </a:p>
        </p:txBody>
      </p:sp>
      <p:sp>
        <p:nvSpPr>
          <p:cNvPr id="15" name="Shape 13"/>
          <p:cNvSpPr/>
          <p:nvPr/>
        </p:nvSpPr>
        <p:spPr>
          <a:xfrm>
            <a:off x="7932420" y="3293669"/>
            <a:ext cx="219456" cy="131674"/>
          </a:xfrm>
          <a:prstGeom prst="rightArrow">
            <a:avLst/>
          </a:prstGeom>
          <a:solidFill>
            <a:srgbClr val="1C7293"/>
          </a:solidFill>
          <a:ln/>
        </p:spPr>
      </p:sp>
      <p:sp>
        <p:nvSpPr>
          <p:cNvPr id="16" name="Shape 14"/>
          <p:cNvSpPr/>
          <p:nvPr/>
        </p:nvSpPr>
        <p:spPr>
          <a:xfrm>
            <a:off x="8170164" y="2743200"/>
            <a:ext cx="1691640" cy="1188720"/>
          </a:xfrm>
          <a:prstGeom prst="roundRect">
            <a:avLst>
              <a:gd name="adj" fmla="val 4615"/>
            </a:avLst>
          </a:prstGeom>
          <a:solidFill>
            <a:srgbClr val="21295C"/>
          </a:solidFill>
          <a:ln/>
        </p:spPr>
      </p:sp>
      <p:sp>
        <p:nvSpPr>
          <p:cNvPr id="17" name="Text 15"/>
          <p:cNvSpPr/>
          <p:nvPr/>
        </p:nvSpPr>
        <p:spPr>
          <a:xfrm>
            <a:off x="8170164" y="2743200"/>
            <a:ext cx="1691640" cy="1188720"/>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Backend processes</a:t>
            </a:r>
            <a:endParaRPr lang="en-US" sz="1250" dirty="0"/>
          </a:p>
          <a:p>
            <a:pPr algn="ctr" indent="0" marL="0">
              <a:buNone/>
            </a:pPr>
            <a:r>
              <a:rPr lang="en-US" sz="1250" b="1" dirty="0">
                <a:solidFill>
                  <a:srgbClr val="FFFFFF"/>
                </a:solidFill>
                <a:latin typeface="Calibri" pitchFamily="34" charset="0"/>
                <a:ea typeface="Calibri" pitchFamily="34" charset="-122"/>
                <a:cs typeface="Calibri" pitchFamily="34" charset="-120"/>
              </a:rPr>
              <a:t>&amp; formats data</a:t>
            </a:r>
            <a:endParaRPr lang="en-US" sz="1250" dirty="0"/>
          </a:p>
        </p:txBody>
      </p:sp>
      <p:sp>
        <p:nvSpPr>
          <p:cNvPr id="18" name="Shape 16"/>
          <p:cNvSpPr/>
          <p:nvPr/>
        </p:nvSpPr>
        <p:spPr>
          <a:xfrm>
            <a:off x="9880092" y="3293669"/>
            <a:ext cx="219456" cy="131674"/>
          </a:xfrm>
          <a:prstGeom prst="rightArrow">
            <a:avLst/>
          </a:prstGeom>
          <a:solidFill>
            <a:srgbClr val="1C7293"/>
          </a:solidFill>
          <a:ln/>
        </p:spPr>
      </p:sp>
      <p:sp>
        <p:nvSpPr>
          <p:cNvPr id="19" name="Shape 17"/>
          <p:cNvSpPr/>
          <p:nvPr/>
        </p:nvSpPr>
        <p:spPr>
          <a:xfrm>
            <a:off x="10117836" y="2743200"/>
            <a:ext cx="1691640" cy="1188720"/>
          </a:xfrm>
          <a:prstGeom prst="roundRect">
            <a:avLst>
              <a:gd name="adj" fmla="val 4615"/>
            </a:avLst>
          </a:prstGeom>
          <a:solidFill>
            <a:srgbClr val="065A82"/>
          </a:solidFill>
          <a:ln/>
        </p:spPr>
      </p:sp>
      <p:sp>
        <p:nvSpPr>
          <p:cNvPr id="20" name="Text 18"/>
          <p:cNvSpPr/>
          <p:nvPr/>
        </p:nvSpPr>
        <p:spPr>
          <a:xfrm>
            <a:off x="10117836" y="2743200"/>
            <a:ext cx="1691640" cy="1188720"/>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Frontend displays</a:t>
            </a:r>
            <a:endParaRPr lang="en-US" sz="1250" dirty="0"/>
          </a:p>
          <a:p>
            <a:pPr algn="ctr" indent="0" marL="0">
              <a:buNone/>
            </a:pPr>
            <a:r>
              <a:rPr lang="en-US" sz="1250" b="1" dirty="0">
                <a:solidFill>
                  <a:srgbClr val="FFFFFF"/>
                </a:solidFill>
                <a:latin typeface="Calibri" pitchFamily="34" charset="0"/>
                <a:ea typeface="Calibri" pitchFamily="34" charset="-122"/>
                <a:cs typeface="Calibri" pitchFamily="34" charset="-120"/>
              </a:rPr>
              <a:t>search results</a:t>
            </a:r>
            <a:endParaRPr lang="en-US" sz="1250" dirty="0"/>
          </a:p>
        </p:txBody>
      </p:sp>
      <p:sp>
        <p:nvSpPr>
          <p:cNvPr id="21" name="Text 19"/>
          <p:cNvSpPr/>
          <p:nvPr/>
        </p:nvSpPr>
        <p:spPr>
          <a:xfrm>
            <a:off x="1097280" y="4663440"/>
            <a:ext cx="9966960" cy="457200"/>
          </a:xfrm>
          <a:prstGeom prst="rect">
            <a:avLst/>
          </a:prstGeom>
          <a:noFill/>
          <a:ln/>
        </p:spPr>
        <p:txBody>
          <a:bodyPr wrap="square" rtlCol="0" anchor="ctr"/>
          <a:lstStyle/>
          <a:p>
            <a:pPr algn="ctr" indent="0" marL="0">
              <a:buNone/>
            </a:pPr>
            <a:r>
              <a:rPr lang="en-US" sz="1400" i="1" dirty="0">
                <a:solidFill>
                  <a:srgbClr val="1C7293"/>
                </a:solidFill>
                <a:latin typeface="Calibri" pitchFamily="34" charset="0"/>
                <a:ea typeface="Calibri" pitchFamily="34" charset="-122"/>
                <a:cs typeface="Calibri" pitchFamily="34" charset="-120"/>
              </a:rPr>
              <a:t>Every request is validated and processed in one place — the Backend — before results ever reach the user.</a:t>
            </a:r>
            <a:endParaRPr lang="en-US" sz="1400" dirty="0"/>
          </a:p>
        </p:txBody>
      </p:sp>
      <p:sp>
        <p:nvSpPr>
          <p:cNvPr id="22" name="Text 20"/>
          <p:cNvSpPr/>
          <p:nvPr/>
        </p:nvSpPr>
        <p:spPr>
          <a:xfrm>
            <a:off x="1097280" y="5760720"/>
            <a:ext cx="9966960" cy="548640"/>
          </a:xfrm>
          <a:prstGeom prst="rect">
            <a:avLst/>
          </a:prstGeom>
          <a:noFill/>
          <a:ln/>
        </p:spPr>
        <p:txBody>
          <a:bodyPr wrap="square" rtlCol="0" anchor="ctr"/>
          <a:lstStyle/>
          <a:p>
            <a:pPr algn="ctr" indent="0" marL="0">
              <a:buNone/>
            </a:pPr>
            <a:r>
              <a:rPr lang="en-US" sz="1300" dirty="0">
                <a:solidFill>
                  <a:srgbClr val="5A6472"/>
                </a:solidFill>
                <a:latin typeface="Calibri" pitchFamily="34" charset="0"/>
                <a:ea typeface="Calibri" pitchFamily="34" charset="-122"/>
                <a:cs typeface="Calibri" pitchFamily="34" charset="-120"/>
              </a:rPr>
              <a:t>Key takeaway: the Frontend never talks to external APIs directly — the Backend owns all business logic.</a:t>
            </a:r>
            <a:endParaRPr lang="en-US" sz="1300" dirty="0"/>
          </a:p>
        </p:txBody>
      </p:sp>
      <p:sp>
        <p:nvSpPr>
          <p:cNvPr id="23" name="Text 21"/>
          <p:cNvSpPr/>
          <p:nvPr/>
        </p:nvSpPr>
        <p:spPr>
          <a:xfrm>
            <a:off x="11365992" y="6355080"/>
            <a:ext cx="548640" cy="320040"/>
          </a:xfrm>
          <a:prstGeom prst="rect">
            <a:avLst/>
          </a:prstGeom>
          <a:noFill/>
          <a:ln/>
        </p:spPr>
        <p:txBody>
          <a:bodyPr wrap="square"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9"/>
        </a:solidFill>
      </p:bgPr>
    </p:bg>
    <p:spTree>
      <p:nvGrpSpPr>
        <p:cNvPr id="1" name=""/>
        <p:cNvGrpSpPr/>
        <p:nvPr/>
      </p:nvGrpSpPr>
      <p:grpSpPr>
        <a:xfrm>
          <a:off x="0" y="0"/>
          <a:ext cx="0" cy="0"/>
          <a:chOff x="0" y="0"/>
          <a:chExt cx="0" cy="0"/>
        </a:xfrm>
      </p:grpSpPr>
      <p:sp>
        <p:nvSpPr>
          <p:cNvPr id="2" name="Text 0"/>
          <p:cNvSpPr/>
          <p:nvPr/>
        </p:nvSpPr>
        <p:spPr>
          <a:xfrm>
            <a:off x="548640" y="411480"/>
            <a:ext cx="7315200" cy="36576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SYSTEM ARCHITECTURE</a:t>
            </a:r>
            <a:endParaRPr lang="en-US" sz="1300" dirty="0"/>
          </a:p>
        </p:txBody>
      </p:sp>
      <p:sp>
        <p:nvSpPr>
          <p:cNvPr id="3" name="Text 1"/>
          <p:cNvSpPr/>
          <p:nvPr/>
        </p:nvSpPr>
        <p:spPr>
          <a:xfrm>
            <a:off x="548640" y="731520"/>
            <a:ext cx="10515600" cy="822960"/>
          </a:xfrm>
          <a:prstGeom prst="rect">
            <a:avLst/>
          </a:prstGeom>
          <a:noFill/>
          <a:ln/>
        </p:spPr>
        <p:txBody>
          <a:bodyPr wrap="square" rtlCol="0" anchor="ctr"/>
          <a:lstStyle/>
          <a:p>
            <a:pPr indent="0" marL="0">
              <a:buNone/>
            </a:pPr>
            <a:r>
              <a:rPr lang="en-US" sz="3400" b="1" dirty="0">
                <a:solidFill>
                  <a:srgbClr val="21295C"/>
                </a:solidFill>
                <a:latin typeface="Cambria" pitchFamily="34" charset="0"/>
                <a:ea typeface="Cambria" pitchFamily="34" charset="-122"/>
                <a:cs typeface="Cambria" pitchFamily="34" charset="-120"/>
              </a:rPr>
              <a:t>A Layered Architecture</a:t>
            </a:r>
            <a:endParaRPr lang="en-US" sz="3400" dirty="0"/>
          </a:p>
        </p:txBody>
      </p:sp>
      <p:sp>
        <p:nvSpPr>
          <p:cNvPr id="4" name="Shape 2"/>
          <p:cNvSpPr/>
          <p:nvPr/>
        </p:nvSpPr>
        <p:spPr>
          <a:xfrm>
            <a:off x="2286000" y="1783080"/>
            <a:ext cx="2011680" cy="640080"/>
          </a:xfrm>
          <a:prstGeom prst="roundRect">
            <a:avLst>
              <a:gd name="adj" fmla="val 8571"/>
            </a:avLst>
          </a:prstGeom>
          <a:solidFill>
            <a:srgbClr val="065A82"/>
          </a:solidFill>
          <a:ln/>
        </p:spPr>
      </p:sp>
      <p:sp>
        <p:nvSpPr>
          <p:cNvPr id="5" name="Text 3"/>
          <p:cNvSpPr/>
          <p:nvPr/>
        </p:nvSpPr>
        <p:spPr>
          <a:xfrm>
            <a:off x="2286000" y="1783080"/>
            <a:ext cx="2011680" cy="640080"/>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Vue.js Frontend</a:t>
            </a:r>
            <a:endParaRPr lang="en-US" sz="1250" dirty="0"/>
          </a:p>
        </p:txBody>
      </p:sp>
      <p:sp>
        <p:nvSpPr>
          <p:cNvPr id="6" name="Shape 4"/>
          <p:cNvSpPr/>
          <p:nvPr/>
        </p:nvSpPr>
        <p:spPr>
          <a:xfrm>
            <a:off x="3163824" y="2468880"/>
            <a:ext cx="256032" cy="230429"/>
          </a:xfrm>
          <a:prstGeom prst="downArrow">
            <a:avLst/>
          </a:prstGeom>
          <a:solidFill>
            <a:srgbClr val="1C7293"/>
          </a:solidFill>
          <a:ln/>
        </p:spPr>
      </p:sp>
      <p:sp>
        <p:nvSpPr>
          <p:cNvPr id="7" name="Shape 5"/>
          <p:cNvSpPr/>
          <p:nvPr/>
        </p:nvSpPr>
        <p:spPr>
          <a:xfrm>
            <a:off x="2011680" y="2743200"/>
            <a:ext cx="2560320" cy="640080"/>
          </a:xfrm>
          <a:prstGeom prst="roundRect">
            <a:avLst>
              <a:gd name="adj" fmla="val 8571"/>
            </a:avLst>
          </a:prstGeom>
          <a:solidFill>
            <a:srgbClr val="21295C"/>
          </a:solidFill>
          <a:ln/>
        </p:spPr>
      </p:sp>
      <p:sp>
        <p:nvSpPr>
          <p:cNvPr id="8" name="Text 6"/>
          <p:cNvSpPr/>
          <p:nvPr/>
        </p:nvSpPr>
        <p:spPr>
          <a:xfrm>
            <a:off x="2011680" y="2743200"/>
            <a:ext cx="2560320" cy="640080"/>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Express.js Backend</a:t>
            </a:r>
            <a:endParaRPr lang="en-US" sz="1250" dirty="0"/>
          </a:p>
          <a:p>
            <a:pPr algn="ctr" indent="0" marL="0">
              <a:buNone/>
            </a:pPr>
            <a:r>
              <a:rPr lang="en-US" sz="1250" b="1" dirty="0">
                <a:solidFill>
                  <a:srgbClr val="FFFFFF"/>
                </a:solidFill>
                <a:latin typeface="Calibri" pitchFamily="34" charset="0"/>
                <a:ea typeface="Calibri" pitchFamily="34" charset="-122"/>
                <a:cs typeface="Calibri" pitchFamily="34" charset="-120"/>
              </a:rPr>
              <a:t>(TypeScript)</a:t>
            </a:r>
            <a:endParaRPr lang="en-US" sz="1250" dirty="0"/>
          </a:p>
        </p:txBody>
      </p:sp>
      <p:sp>
        <p:nvSpPr>
          <p:cNvPr id="9" name="Shape 7"/>
          <p:cNvSpPr/>
          <p:nvPr/>
        </p:nvSpPr>
        <p:spPr>
          <a:xfrm>
            <a:off x="2542032" y="3429000"/>
            <a:ext cx="219456" cy="197510"/>
          </a:xfrm>
          <a:prstGeom prst="downArrow">
            <a:avLst/>
          </a:prstGeom>
          <a:solidFill>
            <a:srgbClr val="1C7293"/>
          </a:solidFill>
          <a:ln/>
        </p:spPr>
      </p:sp>
      <p:sp>
        <p:nvSpPr>
          <p:cNvPr id="10" name="Shape 8"/>
          <p:cNvSpPr/>
          <p:nvPr/>
        </p:nvSpPr>
        <p:spPr>
          <a:xfrm>
            <a:off x="3822192" y="3429000"/>
            <a:ext cx="219456" cy="197510"/>
          </a:xfrm>
          <a:prstGeom prst="downArrow">
            <a:avLst/>
          </a:prstGeom>
          <a:solidFill>
            <a:srgbClr val="1C7293"/>
          </a:solidFill>
          <a:ln/>
        </p:spPr>
      </p:sp>
      <p:sp>
        <p:nvSpPr>
          <p:cNvPr id="11" name="Shape 9"/>
          <p:cNvSpPr/>
          <p:nvPr/>
        </p:nvSpPr>
        <p:spPr>
          <a:xfrm>
            <a:off x="1691640" y="3703320"/>
            <a:ext cx="1463040" cy="594360"/>
          </a:xfrm>
          <a:prstGeom prst="roundRect">
            <a:avLst>
              <a:gd name="adj" fmla="val 9231"/>
            </a:avLst>
          </a:prstGeom>
          <a:solidFill>
            <a:srgbClr val="1C7293"/>
          </a:solidFill>
          <a:ln/>
        </p:spPr>
      </p:sp>
      <p:sp>
        <p:nvSpPr>
          <p:cNvPr id="12" name="Text 10"/>
          <p:cNvSpPr/>
          <p:nvPr/>
        </p:nvSpPr>
        <p:spPr>
          <a:xfrm>
            <a:off x="1691640" y="3703320"/>
            <a:ext cx="1463040" cy="594360"/>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Places</a:t>
            </a:r>
            <a:endParaRPr lang="en-US" sz="1250" dirty="0"/>
          </a:p>
          <a:p>
            <a:pPr algn="ctr" indent="0" marL="0">
              <a:buNone/>
            </a:pPr>
            <a:r>
              <a:rPr lang="en-US" sz="1250" b="1" dirty="0">
                <a:solidFill>
                  <a:srgbClr val="FFFFFF"/>
                </a:solidFill>
                <a:latin typeface="Calibri" pitchFamily="34" charset="0"/>
                <a:ea typeface="Calibri" pitchFamily="34" charset="-122"/>
                <a:cs typeface="Calibri" pitchFamily="34" charset="-120"/>
              </a:rPr>
              <a:t>Data API</a:t>
            </a:r>
            <a:endParaRPr lang="en-US" sz="1250" dirty="0"/>
          </a:p>
        </p:txBody>
      </p:sp>
      <p:sp>
        <p:nvSpPr>
          <p:cNvPr id="13" name="Shape 11"/>
          <p:cNvSpPr/>
          <p:nvPr/>
        </p:nvSpPr>
        <p:spPr>
          <a:xfrm>
            <a:off x="3429000" y="3703320"/>
            <a:ext cx="1463040" cy="594360"/>
          </a:xfrm>
          <a:prstGeom prst="roundRect">
            <a:avLst>
              <a:gd name="adj" fmla="val 9231"/>
            </a:avLst>
          </a:prstGeom>
          <a:solidFill>
            <a:srgbClr val="1C7293"/>
          </a:solidFill>
          <a:ln/>
        </p:spPr>
      </p:sp>
      <p:sp>
        <p:nvSpPr>
          <p:cNvPr id="14" name="Text 12"/>
          <p:cNvSpPr/>
          <p:nvPr/>
        </p:nvSpPr>
        <p:spPr>
          <a:xfrm>
            <a:off x="3429000" y="3703320"/>
            <a:ext cx="1463040" cy="594360"/>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Vector</a:t>
            </a:r>
            <a:endParaRPr lang="en-US" sz="1250" dirty="0"/>
          </a:p>
          <a:p>
            <a:pPr algn="ctr" indent="0" marL="0">
              <a:buNone/>
            </a:pPr>
            <a:r>
              <a:rPr lang="en-US" sz="1250" b="1" dirty="0">
                <a:solidFill>
                  <a:srgbClr val="FFFFFF"/>
                </a:solidFill>
                <a:latin typeface="Calibri" pitchFamily="34" charset="0"/>
                <a:ea typeface="Calibri" pitchFamily="34" charset="-122"/>
                <a:cs typeface="Calibri" pitchFamily="34" charset="-120"/>
              </a:rPr>
              <a:t>Search API</a:t>
            </a:r>
            <a:endParaRPr lang="en-US" sz="1250" dirty="0"/>
          </a:p>
        </p:txBody>
      </p:sp>
      <p:sp>
        <p:nvSpPr>
          <p:cNvPr id="15" name="Shape 13"/>
          <p:cNvSpPr/>
          <p:nvPr/>
        </p:nvSpPr>
        <p:spPr>
          <a:xfrm>
            <a:off x="3182112" y="4343400"/>
            <a:ext cx="219456" cy="197510"/>
          </a:xfrm>
          <a:prstGeom prst="downArrow">
            <a:avLst/>
          </a:prstGeom>
          <a:solidFill>
            <a:srgbClr val="1C7293"/>
          </a:solidFill>
          <a:ln/>
        </p:spPr>
      </p:sp>
      <p:sp>
        <p:nvSpPr>
          <p:cNvPr id="16" name="Shape 14"/>
          <p:cNvSpPr/>
          <p:nvPr/>
        </p:nvSpPr>
        <p:spPr>
          <a:xfrm>
            <a:off x="2011680" y="4617720"/>
            <a:ext cx="2560320" cy="548640"/>
          </a:xfrm>
          <a:prstGeom prst="roundRect">
            <a:avLst>
              <a:gd name="adj" fmla="val 10000"/>
            </a:avLst>
          </a:prstGeom>
          <a:solidFill>
            <a:srgbClr val="5FD3C4"/>
          </a:solidFill>
          <a:ln/>
        </p:spPr>
      </p:sp>
      <p:sp>
        <p:nvSpPr>
          <p:cNvPr id="17" name="Text 15"/>
          <p:cNvSpPr/>
          <p:nvPr/>
        </p:nvSpPr>
        <p:spPr>
          <a:xfrm>
            <a:off x="2011680" y="4617720"/>
            <a:ext cx="2560320" cy="548640"/>
          </a:xfrm>
          <a:prstGeom prst="rect">
            <a:avLst/>
          </a:prstGeom>
          <a:noFill/>
          <a:ln/>
        </p:spPr>
        <p:txBody>
          <a:bodyPr wrap="square" rtlCol="0" anchor="ctr"/>
          <a:lstStyle/>
          <a:p>
            <a:pPr algn="ctr" indent="0" marL="0">
              <a:buNone/>
            </a:pPr>
            <a:r>
              <a:rPr lang="en-US" sz="1250" b="1" dirty="0">
                <a:solidFill>
                  <a:srgbClr val="21295C"/>
                </a:solidFill>
                <a:latin typeface="Calibri" pitchFamily="34" charset="0"/>
                <a:ea typeface="Calibri" pitchFamily="34" charset="-122"/>
                <a:cs typeface="Calibri" pitchFamily="34" charset="-120"/>
              </a:rPr>
              <a:t>Response Processing → JSON</a:t>
            </a:r>
            <a:endParaRPr lang="en-US" sz="1250" dirty="0"/>
          </a:p>
        </p:txBody>
      </p:sp>
      <p:sp>
        <p:nvSpPr>
          <p:cNvPr id="18" name="Shape 16"/>
          <p:cNvSpPr/>
          <p:nvPr/>
        </p:nvSpPr>
        <p:spPr>
          <a:xfrm>
            <a:off x="6080760" y="1691640"/>
            <a:ext cx="0" cy="3611880"/>
          </a:xfrm>
          <a:prstGeom prst="line">
            <a:avLst/>
          </a:prstGeom>
          <a:noFill/>
          <a:ln w="12700">
            <a:solidFill>
              <a:srgbClr val="D8DEE6"/>
            </a:solidFill>
            <a:prstDash val="solid"/>
          </a:ln>
        </p:spPr>
      </p:sp>
      <p:sp>
        <p:nvSpPr>
          <p:cNvPr id="19" name="Shape 17"/>
          <p:cNvSpPr/>
          <p:nvPr/>
        </p:nvSpPr>
        <p:spPr>
          <a:xfrm>
            <a:off x="6355080" y="1783080"/>
            <a:ext cx="146304" cy="146304"/>
          </a:xfrm>
          <a:prstGeom prst="roundRect">
            <a:avLst>
              <a:gd name="adj" fmla="val 18750"/>
            </a:avLst>
          </a:prstGeom>
          <a:solidFill>
            <a:srgbClr val="065A82"/>
          </a:solidFill>
          <a:ln/>
        </p:spPr>
      </p:sp>
      <p:sp>
        <p:nvSpPr>
          <p:cNvPr id="20" name="Text 18"/>
          <p:cNvSpPr/>
          <p:nvPr/>
        </p:nvSpPr>
        <p:spPr>
          <a:xfrm>
            <a:off x="6629400" y="1709928"/>
            <a:ext cx="4572000" cy="320040"/>
          </a:xfrm>
          <a:prstGeom prst="rect">
            <a:avLst/>
          </a:prstGeom>
          <a:noFill/>
          <a:ln/>
        </p:spPr>
        <p:txBody>
          <a:bodyPr wrap="square" rtlCol="0" anchor="ctr"/>
          <a:lstStyle/>
          <a:p>
            <a:pPr indent="0" marL="0">
              <a:buNone/>
            </a:pPr>
            <a:r>
              <a:rPr lang="en-US" sz="1600" b="1" dirty="0">
                <a:solidFill>
                  <a:srgbClr val="21295C"/>
                </a:solidFill>
                <a:latin typeface="Cambria" pitchFamily="34" charset="0"/>
                <a:ea typeface="Cambria" pitchFamily="34" charset="-122"/>
                <a:cs typeface="Cambria" pitchFamily="34" charset="-120"/>
              </a:rPr>
              <a:t>Frontend</a:t>
            </a:r>
            <a:endParaRPr lang="en-US" sz="1600" dirty="0"/>
          </a:p>
        </p:txBody>
      </p:sp>
      <p:sp>
        <p:nvSpPr>
          <p:cNvPr id="21" name="Text 19"/>
          <p:cNvSpPr/>
          <p:nvPr/>
        </p:nvSpPr>
        <p:spPr>
          <a:xfrm>
            <a:off x="6629400" y="2103120"/>
            <a:ext cx="4754880" cy="1280160"/>
          </a:xfrm>
          <a:prstGeom prst="rect">
            <a:avLst/>
          </a:prstGeom>
          <a:noFill/>
          <a:ln/>
        </p:spPr>
        <p:txBody>
          <a:bodyPr wrap="square" rtlCol="0" anchor="t"/>
          <a:lstStyle/>
          <a:p>
            <a:pPr marL="177800" indent="-177800">
              <a:spcAft>
                <a:spcPts val="500"/>
              </a:spcAft>
              <a:buSzPct val="100000"/>
              <a:buChar char="▪"/>
            </a:pPr>
            <a:r>
              <a:rPr lang="en-US" sz="1300" dirty="0">
                <a:solidFill>
                  <a:srgbClr val="1A1D29"/>
                </a:solidFill>
                <a:latin typeface="Calibri" pitchFamily="34" charset="0"/>
                <a:ea typeface="Calibri" pitchFamily="34" charset="-122"/>
                <a:cs typeface="Calibri" pitchFamily="34" charset="-120"/>
              </a:rPr>
              <a:t>User Interface</a:t>
            </a:r>
            <a:endParaRPr lang="en-US" sz="1300" dirty="0"/>
          </a:p>
          <a:p>
            <a:pPr marL="177800" indent="-177800">
              <a:spcAft>
                <a:spcPts val="500"/>
              </a:spcAft>
              <a:buSzPct val="100000"/>
              <a:buChar char="▪"/>
            </a:pPr>
            <a:r>
              <a:rPr lang="en-US" sz="1300" dirty="0">
                <a:solidFill>
                  <a:srgbClr val="1A1D29"/>
                </a:solidFill>
                <a:latin typeface="Calibri" pitchFamily="34" charset="0"/>
                <a:ea typeface="Calibri" pitchFamily="34" charset="-122"/>
                <a:cs typeface="Calibri" pitchFamily="34" charset="-120"/>
              </a:rPr>
              <a:t>Search Input</a:t>
            </a:r>
            <a:endParaRPr lang="en-US" sz="1300" dirty="0"/>
          </a:p>
          <a:p>
            <a:pPr marL="177800" indent="-177800">
              <a:spcAft>
                <a:spcPts val="500"/>
              </a:spcAft>
              <a:buSzPct val="100000"/>
              <a:buChar char="▪"/>
            </a:pPr>
            <a:r>
              <a:rPr lang="en-US" sz="1300" dirty="0">
                <a:solidFill>
                  <a:srgbClr val="1A1D29"/>
                </a:solidFill>
                <a:latin typeface="Calibri" pitchFamily="34" charset="0"/>
                <a:ea typeface="Calibri" pitchFamily="34" charset="-122"/>
                <a:cs typeface="Calibri" pitchFamily="34" charset="-120"/>
              </a:rPr>
              <a:t>Display Results</a:t>
            </a:r>
            <a:endParaRPr lang="en-US" sz="1300" dirty="0"/>
          </a:p>
        </p:txBody>
      </p:sp>
      <p:sp>
        <p:nvSpPr>
          <p:cNvPr id="22" name="Shape 20"/>
          <p:cNvSpPr/>
          <p:nvPr/>
        </p:nvSpPr>
        <p:spPr>
          <a:xfrm>
            <a:off x="6355080" y="3566160"/>
            <a:ext cx="146304" cy="146304"/>
          </a:xfrm>
          <a:prstGeom prst="roundRect">
            <a:avLst>
              <a:gd name="adj" fmla="val 18750"/>
            </a:avLst>
          </a:prstGeom>
          <a:solidFill>
            <a:srgbClr val="21295C"/>
          </a:solidFill>
          <a:ln/>
        </p:spPr>
      </p:sp>
      <p:sp>
        <p:nvSpPr>
          <p:cNvPr id="23" name="Text 21"/>
          <p:cNvSpPr/>
          <p:nvPr/>
        </p:nvSpPr>
        <p:spPr>
          <a:xfrm>
            <a:off x="6629400" y="3493008"/>
            <a:ext cx="4572000" cy="320040"/>
          </a:xfrm>
          <a:prstGeom prst="rect">
            <a:avLst/>
          </a:prstGeom>
          <a:noFill/>
          <a:ln/>
        </p:spPr>
        <p:txBody>
          <a:bodyPr wrap="square" rtlCol="0" anchor="ctr"/>
          <a:lstStyle/>
          <a:p>
            <a:pPr indent="0" marL="0">
              <a:buNone/>
            </a:pPr>
            <a:r>
              <a:rPr lang="en-US" sz="1600" b="1" dirty="0">
                <a:solidFill>
                  <a:srgbClr val="21295C"/>
                </a:solidFill>
                <a:latin typeface="Cambria" pitchFamily="34" charset="0"/>
                <a:ea typeface="Cambria" pitchFamily="34" charset="-122"/>
                <a:cs typeface="Cambria" pitchFamily="34" charset="-120"/>
              </a:rPr>
              <a:t>Backend</a:t>
            </a:r>
            <a:endParaRPr lang="en-US" sz="1600" dirty="0"/>
          </a:p>
        </p:txBody>
      </p:sp>
      <p:sp>
        <p:nvSpPr>
          <p:cNvPr id="24" name="Text 22"/>
          <p:cNvSpPr/>
          <p:nvPr/>
        </p:nvSpPr>
        <p:spPr>
          <a:xfrm>
            <a:off x="6629400" y="3886200"/>
            <a:ext cx="4754880" cy="1645920"/>
          </a:xfrm>
          <a:prstGeom prst="rect">
            <a:avLst/>
          </a:prstGeom>
          <a:noFill/>
          <a:ln/>
        </p:spPr>
        <p:txBody>
          <a:bodyPr wrap="square" rtlCol="0" anchor="t"/>
          <a:lstStyle/>
          <a:p>
            <a:pPr marL="177800" indent="-177800">
              <a:spcAft>
                <a:spcPts val="500"/>
              </a:spcAft>
              <a:buSzPct val="100000"/>
              <a:buChar char="▪"/>
            </a:pPr>
            <a:r>
              <a:rPr lang="en-US" sz="1300" dirty="0">
                <a:solidFill>
                  <a:srgbClr val="1A1D29"/>
                </a:solidFill>
                <a:latin typeface="Calibri" pitchFamily="34" charset="0"/>
                <a:ea typeface="Calibri" pitchFamily="34" charset="-122"/>
                <a:cs typeface="Calibri" pitchFamily="34" charset="-120"/>
              </a:rPr>
              <a:t>API Routing</a:t>
            </a:r>
            <a:endParaRPr lang="en-US" sz="1300" dirty="0"/>
          </a:p>
          <a:p>
            <a:pPr marL="177800" indent="-177800">
              <a:spcAft>
                <a:spcPts val="500"/>
              </a:spcAft>
              <a:buSzPct val="100000"/>
              <a:buChar char="▪"/>
            </a:pPr>
            <a:r>
              <a:rPr lang="en-US" sz="1300" dirty="0">
                <a:solidFill>
                  <a:srgbClr val="1A1D29"/>
                </a:solidFill>
                <a:latin typeface="Calibri" pitchFamily="34" charset="0"/>
                <a:ea typeface="Calibri" pitchFamily="34" charset="-122"/>
                <a:cs typeface="Calibri" pitchFamily="34" charset="-120"/>
              </a:rPr>
              <a:t>Business Logic</a:t>
            </a:r>
            <a:endParaRPr lang="en-US" sz="1300" dirty="0"/>
          </a:p>
          <a:p>
            <a:pPr marL="177800" indent="-177800">
              <a:spcAft>
                <a:spcPts val="500"/>
              </a:spcAft>
              <a:buSzPct val="100000"/>
              <a:buChar char="▪"/>
            </a:pPr>
            <a:r>
              <a:rPr lang="en-US" sz="1300" dirty="0">
                <a:solidFill>
                  <a:srgbClr val="1A1D29"/>
                </a:solidFill>
                <a:latin typeface="Calibri" pitchFamily="34" charset="0"/>
                <a:ea typeface="Calibri" pitchFamily="34" charset="-122"/>
                <a:cs typeface="Calibri" pitchFamily="34" charset="-120"/>
              </a:rPr>
              <a:t>Request Validation</a:t>
            </a:r>
            <a:endParaRPr lang="en-US" sz="1300" dirty="0"/>
          </a:p>
          <a:p>
            <a:pPr marL="177800" indent="-177800">
              <a:spcAft>
                <a:spcPts val="500"/>
              </a:spcAft>
              <a:buSzPct val="100000"/>
              <a:buChar char="▪"/>
            </a:pPr>
            <a:r>
              <a:rPr lang="en-US" sz="1300" dirty="0">
                <a:solidFill>
                  <a:srgbClr val="1A1D29"/>
                </a:solidFill>
                <a:latin typeface="Calibri" pitchFamily="34" charset="0"/>
                <a:ea typeface="Calibri" pitchFamily="34" charset="-122"/>
                <a:cs typeface="Calibri" pitchFamily="34" charset="-120"/>
              </a:rPr>
              <a:t>Data Processing</a:t>
            </a:r>
            <a:endParaRPr lang="en-US" sz="1300" dirty="0"/>
          </a:p>
        </p:txBody>
      </p:sp>
      <p:sp>
        <p:nvSpPr>
          <p:cNvPr id="25" name="Shape 23"/>
          <p:cNvSpPr/>
          <p:nvPr/>
        </p:nvSpPr>
        <p:spPr>
          <a:xfrm>
            <a:off x="6355080" y="5715000"/>
            <a:ext cx="146304" cy="146304"/>
          </a:xfrm>
          <a:prstGeom prst="roundRect">
            <a:avLst>
              <a:gd name="adj" fmla="val 18750"/>
            </a:avLst>
          </a:prstGeom>
          <a:solidFill>
            <a:srgbClr val="1C7293"/>
          </a:solidFill>
          <a:ln/>
        </p:spPr>
      </p:sp>
      <p:sp>
        <p:nvSpPr>
          <p:cNvPr id="26" name="Text 24"/>
          <p:cNvSpPr/>
          <p:nvPr/>
        </p:nvSpPr>
        <p:spPr>
          <a:xfrm>
            <a:off x="6629400" y="5641848"/>
            <a:ext cx="4572000" cy="320040"/>
          </a:xfrm>
          <a:prstGeom prst="rect">
            <a:avLst/>
          </a:prstGeom>
          <a:noFill/>
          <a:ln/>
        </p:spPr>
        <p:txBody>
          <a:bodyPr wrap="square" rtlCol="0" anchor="ctr"/>
          <a:lstStyle/>
          <a:p>
            <a:pPr indent="0" marL="0">
              <a:buNone/>
            </a:pPr>
            <a:r>
              <a:rPr lang="en-US" sz="1600" b="1" dirty="0">
                <a:solidFill>
                  <a:srgbClr val="21295C"/>
                </a:solidFill>
                <a:latin typeface="Cambria" pitchFamily="34" charset="0"/>
                <a:ea typeface="Cambria" pitchFamily="34" charset="-122"/>
                <a:cs typeface="Cambria" pitchFamily="34" charset="-120"/>
              </a:rPr>
              <a:t>External Services</a:t>
            </a:r>
            <a:endParaRPr lang="en-US" sz="1600" dirty="0"/>
          </a:p>
        </p:txBody>
      </p:sp>
      <p:sp>
        <p:nvSpPr>
          <p:cNvPr id="27" name="Text 25"/>
          <p:cNvSpPr/>
          <p:nvPr/>
        </p:nvSpPr>
        <p:spPr>
          <a:xfrm>
            <a:off x="6629400" y="6035040"/>
            <a:ext cx="4754880" cy="914400"/>
          </a:xfrm>
          <a:prstGeom prst="rect">
            <a:avLst/>
          </a:prstGeom>
          <a:noFill/>
          <a:ln/>
        </p:spPr>
        <p:txBody>
          <a:bodyPr wrap="square" rtlCol="0" anchor="t"/>
          <a:lstStyle/>
          <a:p>
            <a:pPr marL="177800" indent="-177800">
              <a:spcAft>
                <a:spcPts val="500"/>
              </a:spcAft>
              <a:buSzPct val="100000"/>
              <a:buChar char="▪"/>
            </a:pPr>
            <a:r>
              <a:rPr lang="en-US" sz="1300" dirty="0">
                <a:solidFill>
                  <a:srgbClr val="1A1D29"/>
                </a:solidFill>
                <a:latin typeface="Calibri" pitchFamily="34" charset="0"/>
                <a:ea typeface="Calibri" pitchFamily="34" charset="-122"/>
                <a:cs typeface="Calibri" pitchFamily="34" charset="-120"/>
              </a:rPr>
              <a:t>Places Information</a:t>
            </a:r>
            <a:endParaRPr lang="en-US" sz="1300" dirty="0"/>
          </a:p>
          <a:p>
            <a:pPr marL="177800" indent="-177800">
              <a:spcAft>
                <a:spcPts val="500"/>
              </a:spcAft>
              <a:buSzPct val="100000"/>
              <a:buChar char="▪"/>
            </a:pPr>
            <a:r>
              <a:rPr lang="en-US" sz="1300" dirty="0">
                <a:solidFill>
                  <a:srgbClr val="1A1D29"/>
                </a:solidFill>
                <a:latin typeface="Calibri" pitchFamily="34" charset="0"/>
                <a:ea typeface="Calibri" pitchFamily="34" charset="-122"/>
                <a:cs typeface="Calibri" pitchFamily="34" charset="-120"/>
              </a:rPr>
              <a:t>Vector Search Engine</a:t>
            </a:r>
            <a:endParaRPr lang="en-US" sz="1300" dirty="0"/>
          </a:p>
        </p:txBody>
      </p:sp>
      <p:sp>
        <p:nvSpPr>
          <p:cNvPr id="28" name="Text 26"/>
          <p:cNvSpPr/>
          <p:nvPr/>
        </p:nvSpPr>
        <p:spPr>
          <a:xfrm>
            <a:off x="11365992" y="6355080"/>
            <a:ext cx="548640" cy="320040"/>
          </a:xfrm>
          <a:prstGeom prst="rect">
            <a:avLst/>
          </a:prstGeom>
          <a:noFill/>
          <a:ln/>
        </p:spPr>
        <p:txBody>
          <a:bodyPr wrap="square"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9"/>
        </a:solidFill>
      </p:bgPr>
    </p:bg>
    <p:spTree>
      <p:nvGrpSpPr>
        <p:cNvPr id="1" name=""/>
        <p:cNvGrpSpPr/>
        <p:nvPr/>
      </p:nvGrpSpPr>
      <p:grpSpPr>
        <a:xfrm>
          <a:off x="0" y="0"/>
          <a:ext cx="0" cy="0"/>
          <a:chOff x="0" y="0"/>
          <a:chExt cx="0" cy="0"/>
        </a:xfrm>
      </p:grpSpPr>
      <p:sp>
        <p:nvSpPr>
          <p:cNvPr id="2" name="Text 0"/>
          <p:cNvSpPr/>
          <p:nvPr/>
        </p:nvSpPr>
        <p:spPr>
          <a:xfrm>
            <a:off x="548640" y="411480"/>
            <a:ext cx="7315200" cy="36576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TECHNOLOGY STACK</a:t>
            </a:r>
            <a:endParaRPr lang="en-US" sz="1300" dirty="0"/>
          </a:p>
        </p:txBody>
      </p:sp>
      <p:sp>
        <p:nvSpPr>
          <p:cNvPr id="3" name="Text 1"/>
          <p:cNvSpPr/>
          <p:nvPr/>
        </p:nvSpPr>
        <p:spPr>
          <a:xfrm>
            <a:off x="548640" y="731520"/>
            <a:ext cx="10515600" cy="822960"/>
          </a:xfrm>
          <a:prstGeom prst="rect">
            <a:avLst/>
          </a:prstGeom>
          <a:noFill/>
          <a:ln/>
        </p:spPr>
        <p:txBody>
          <a:bodyPr wrap="square" rtlCol="0" anchor="ctr"/>
          <a:lstStyle/>
          <a:p>
            <a:pPr indent="0" marL="0">
              <a:buNone/>
            </a:pPr>
            <a:r>
              <a:rPr lang="en-US" sz="3400" b="1" dirty="0">
                <a:solidFill>
                  <a:srgbClr val="21295C"/>
                </a:solidFill>
                <a:latin typeface="Cambria" pitchFamily="34" charset="0"/>
                <a:ea typeface="Cambria" pitchFamily="34" charset="-122"/>
                <a:cs typeface="Cambria" pitchFamily="34" charset="-120"/>
              </a:rPr>
              <a:t>Tools Chosen for This Project</a:t>
            </a:r>
            <a:endParaRPr lang="en-US" sz="3400" dirty="0"/>
          </a:p>
        </p:txBody>
      </p:sp>
      <p:sp>
        <p:nvSpPr>
          <p:cNvPr id="4" name="Shape 2"/>
          <p:cNvSpPr/>
          <p:nvPr/>
        </p:nvSpPr>
        <p:spPr>
          <a:xfrm>
            <a:off x="548640" y="1874520"/>
            <a:ext cx="2606040" cy="3749040"/>
          </a:xfrm>
          <a:prstGeom prst="roundRect">
            <a:avLst>
              <a:gd name="adj" fmla="val 2807"/>
            </a:avLst>
          </a:prstGeom>
          <a:solidFill>
            <a:srgbClr val="FFFFFF"/>
          </a:solidFill>
          <a:ln/>
          <a:effectLst>
            <a:outerShdw sx="100000" sy="100000" kx="0" ky="0" algn="bl" rotWithShape="0" blurRad="101600" dist="25400" dir="5400000">
              <a:srgbClr val="1A1D29">
                <a:alpha val="12000"/>
              </a:srgbClr>
            </a:outerShdw>
          </a:effectLst>
        </p:spPr>
      </p:sp>
      <p:sp>
        <p:nvSpPr>
          <p:cNvPr id="5" name="Shape 3"/>
          <p:cNvSpPr/>
          <p:nvPr/>
        </p:nvSpPr>
        <p:spPr>
          <a:xfrm>
            <a:off x="822960" y="2148840"/>
            <a:ext cx="2057400" cy="73152"/>
          </a:xfrm>
          <a:prstGeom prst="roundRect">
            <a:avLst/>
          </a:prstGeom>
          <a:solidFill>
            <a:srgbClr val="065A82"/>
          </a:solidFill>
          <a:ln/>
        </p:spPr>
      </p:sp>
      <p:sp>
        <p:nvSpPr>
          <p:cNvPr id="6" name="Text 4"/>
          <p:cNvSpPr/>
          <p:nvPr/>
        </p:nvSpPr>
        <p:spPr>
          <a:xfrm>
            <a:off x="822960" y="2331720"/>
            <a:ext cx="2057400" cy="457200"/>
          </a:xfrm>
          <a:prstGeom prst="rect">
            <a:avLst/>
          </a:prstGeom>
          <a:noFill/>
          <a:ln/>
        </p:spPr>
        <p:txBody>
          <a:bodyPr wrap="square" rtlCol="0" anchor="ctr"/>
          <a:lstStyle/>
          <a:p>
            <a:pPr indent="0" marL="0">
              <a:buNone/>
            </a:pPr>
            <a:r>
              <a:rPr lang="en-US" sz="1600" b="1" dirty="0">
                <a:solidFill>
                  <a:srgbClr val="21295C"/>
                </a:solidFill>
                <a:latin typeface="Cambria" pitchFamily="34" charset="0"/>
                <a:ea typeface="Cambria" pitchFamily="34" charset="-122"/>
                <a:cs typeface="Cambria" pitchFamily="34" charset="-120"/>
              </a:rPr>
              <a:t>Frontend</a:t>
            </a:r>
            <a:endParaRPr lang="en-US" sz="1600" dirty="0"/>
          </a:p>
        </p:txBody>
      </p:sp>
      <p:sp>
        <p:nvSpPr>
          <p:cNvPr id="7" name="Text 5"/>
          <p:cNvSpPr/>
          <p:nvPr/>
        </p:nvSpPr>
        <p:spPr>
          <a:xfrm>
            <a:off x="822960" y="2834640"/>
            <a:ext cx="2148840" cy="2651760"/>
          </a:xfrm>
          <a:prstGeom prst="rect">
            <a:avLst/>
          </a:prstGeom>
          <a:noFill/>
          <a:ln/>
        </p:spPr>
        <p:txBody>
          <a:bodyPr wrap="square" rtlCol="0" anchor="t"/>
          <a:lstStyle/>
          <a:p>
            <a:pPr marL="177800" indent="-177800">
              <a:spcAft>
                <a:spcPts val="1000"/>
              </a:spcAft>
              <a:buSzPct val="100000"/>
              <a:buChar char="▪"/>
            </a:pPr>
            <a:r>
              <a:rPr lang="en-US" sz="1350" dirty="0">
                <a:solidFill>
                  <a:srgbClr val="1A1D29"/>
                </a:solidFill>
                <a:latin typeface="Calibri" pitchFamily="34" charset="0"/>
                <a:ea typeface="Calibri" pitchFamily="34" charset="-122"/>
                <a:cs typeface="Calibri" pitchFamily="34" charset="-120"/>
              </a:rPr>
              <a:t>Vue.js</a:t>
            </a:r>
            <a:endParaRPr lang="en-US" sz="1350" dirty="0"/>
          </a:p>
          <a:p>
            <a:pPr marL="177800" indent="-177800">
              <a:spcAft>
                <a:spcPts val="1000"/>
              </a:spcAft>
              <a:buSzPct val="100000"/>
              <a:buChar char="▪"/>
            </a:pPr>
            <a:r>
              <a:rPr lang="en-US" sz="1350" dirty="0">
                <a:solidFill>
                  <a:srgbClr val="1A1D29"/>
                </a:solidFill>
                <a:latin typeface="Calibri" pitchFamily="34" charset="0"/>
                <a:ea typeface="Calibri" pitchFamily="34" charset="-122"/>
                <a:cs typeface="Calibri" pitchFamily="34" charset="-120"/>
              </a:rPr>
              <a:t>TypeScript</a:t>
            </a:r>
            <a:endParaRPr lang="en-US" sz="1350" dirty="0"/>
          </a:p>
          <a:p>
            <a:pPr marL="177800" indent="-177800">
              <a:spcAft>
                <a:spcPts val="1000"/>
              </a:spcAft>
              <a:buSzPct val="100000"/>
              <a:buChar char="▪"/>
            </a:pPr>
            <a:r>
              <a:rPr lang="en-US" sz="1350" dirty="0">
                <a:solidFill>
                  <a:srgbClr val="1A1D29"/>
                </a:solidFill>
                <a:latin typeface="Calibri" pitchFamily="34" charset="0"/>
                <a:ea typeface="Calibri" pitchFamily="34" charset="-122"/>
                <a:cs typeface="Calibri" pitchFamily="34" charset="-120"/>
              </a:rPr>
              <a:t>Vite</a:t>
            </a:r>
            <a:endParaRPr lang="en-US" sz="1350" dirty="0"/>
          </a:p>
          <a:p>
            <a:pPr marL="177800" indent="-177800">
              <a:spcAft>
                <a:spcPts val="1000"/>
              </a:spcAft>
              <a:buSzPct val="100000"/>
              <a:buChar char="▪"/>
            </a:pPr>
            <a:r>
              <a:rPr lang="en-US" sz="1350" dirty="0">
                <a:solidFill>
                  <a:srgbClr val="1A1D29"/>
                </a:solidFill>
                <a:latin typeface="Calibri" pitchFamily="34" charset="0"/>
                <a:ea typeface="Calibri" pitchFamily="34" charset="-122"/>
                <a:cs typeface="Calibri" pitchFamily="34" charset="-120"/>
              </a:rPr>
              <a:t>Tailwind CSS</a:t>
            </a:r>
            <a:endParaRPr lang="en-US" sz="1350" dirty="0"/>
          </a:p>
        </p:txBody>
      </p:sp>
      <p:sp>
        <p:nvSpPr>
          <p:cNvPr id="8" name="Shape 6"/>
          <p:cNvSpPr/>
          <p:nvPr/>
        </p:nvSpPr>
        <p:spPr>
          <a:xfrm>
            <a:off x="3383280" y="1874520"/>
            <a:ext cx="2606040" cy="3749040"/>
          </a:xfrm>
          <a:prstGeom prst="roundRect">
            <a:avLst>
              <a:gd name="adj" fmla="val 2807"/>
            </a:avLst>
          </a:prstGeom>
          <a:solidFill>
            <a:srgbClr val="FFFFFF"/>
          </a:solidFill>
          <a:ln/>
          <a:effectLst>
            <a:outerShdw sx="100000" sy="100000" kx="0" ky="0" algn="bl" rotWithShape="0" blurRad="101600" dist="25400" dir="5400000">
              <a:srgbClr val="1A1D29">
                <a:alpha val="12000"/>
              </a:srgbClr>
            </a:outerShdw>
          </a:effectLst>
        </p:spPr>
      </p:sp>
      <p:sp>
        <p:nvSpPr>
          <p:cNvPr id="9" name="Shape 7"/>
          <p:cNvSpPr/>
          <p:nvPr/>
        </p:nvSpPr>
        <p:spPr>
          <a:xfrm>
            <a:off x="3657600" y="2148840"/>
            <a:ext cx="2057400" cy="73152"/>
          </a:xfrm>
          <a:prstGeom prst="roundRect">
            <a:avLst/>
          </a:prstGeom>
          <a:solidFill>
            <a:srgbClr val="21295C"/>
          </a:solidFill>
          <a:ln/>
        </p:spPr>
      </p:sp>
      <p:sp>
        <p:nvSpPr>
          <p:cNvPr id="10" name="Text 8"/>
          <p:cNvSpPr/>
          <p:nvPr/>
        </p:nvSpPr>
        <p:spPr>
          <a:xfrm>
            <a:off x="3657600" y="2331720"/>
            <a:ext cx="2057400" cy="457200"/>
          </a:xfrm>
          <a:prstGeom prst="rect">
            <a:avLst/>
          </a:prstGeom>
          <a:noFill/>
          <a:ln/>
        </p:spPr>
        <p:txBody>
          <a:bodyPr wrap="square" rtlCol="0" anchor="ctr"/>
          <a:lstStyle/>
          <a:p>
            <a:pPr indent="0" marL="0">
              <a:buNone/>
            </a:pPr>
            <a:r>
              <a:rPr lang="en-US" sz="1600" b="1" dirty="0">
                <a:solidFill>
                  <a:srgbClr val="21295C"/>
                </a:solidFill>
                <a:latin typeface="Cambria" pitchFamily="34" charset="0"/>
                <a:ea typeface="Cambria" pitchFamily="34" charset="-122"/>
                <a:cs typeface="Cambria" pitchFamily="34" charset="-120"/>
              </a:rPr>
              <a:t>Backend</a:t>
            </a:r>
            <a:endParaRPr lang="en-US" sz="1600" dirty="0"/>
          </a:p>
        </p:txBody>
      </p:sp>
      <p:sp>
        <p:nvSpPr>
          <p:cNvPr id="11" name="Text 9"/>
          <p:cNvSpPr/>
          <p:nvPr/>
        </p:nvSpPr>
        <p:spPr>
          <a:xfrm>
            <a:off x="3657600" y="2834640"/>
            <a:ext cx="2148840" cy="2651760"/>
          </a:xfrm>
          <a:prstGeom prst="rect">
            <a:avLst/>
          </a:prstGeom>
          <a:noFill/>
          <a:ln/>
        </p:spPr>
        <p:txBody>
          <a:bodyPr wrap="square" rtlCol="0" anchor="t"/>
          <a:lstStyle/>
          <a:p>
            <a:pPr marL="177800" indent="-177800">
              <a:spcAft>
                <a:spcPts val="1000"/>
              </a:spcAft>
              <a:buSzPct val="100000"/>
              <a:buChar char="▪"/>
            </a:pPr>
            <a:r>
              <a:rPr lang="en-US" sz="1350" dirty="0">
                <a:solidFill>
                  <a:srgbClr val="1A1D29"/>
                </a:solidFill>
                <a:latin typeface="Calibri" pitchFamily="34" charset="0"/>
                <a:ea typeface="Calibri" pitchFamily="34" charset="-122"/>
                <a:cs typeface="Calibri" pitchFamily="34" charset="-120"/>
              </a:rPr>
              <a:t>Express.js</a:t>
            </a:r>
            <a:endParaRPr lang="en-US" sz="1350" dirty="0"/>
          </a:p>
          <a:p>
            <a:pPr marL="177800" indent="-177800">
              <a:spcAft>
                <a:spcPts val="1000"/>
              </a:spcAft>
              <a:buSzPct val="100000"/>
              <a:buChar char="▪"/>
            </a:pPr>
            <a:r>
              <a:rPr lang="en-US" sz="1350" dirty="0">
                <a:solidFill>
                  <a:srgbClr val="1A1D29"/>
                </a:solidFill>
                <a:latin typeface="Calibri" pitchFamily="34" charset="0"/>
                <a:ea typeface="Calibri" pitchFamily="34" charset="-122"/>
                <a:cs typeface="Calibri" pitchFamily="34" charset="-120"/>
              </a:rPr>
              <a:t>TypeScript</a:t>
            </a:r>
            <a:endParaRPr lang="en-US" sz="1350" dirty="0"/>
          </a:p>
          <a:p>
            <a:pPr marL="177800" indent="-177800">
              <a:spcAft>
                <a:spcPts val="1000"/>
              </a:spcAft>
              <a:buSzPct val="100000"/>
              <a:buChar char="▪"/>
            </a:pPr>
            <a:r>
              <a:rPr lang="en-US" sz="1350" dirty="0">
                <a:solidFill>
                  <a:srgbClr val="1A1D29"/>
                </a:solidFill>
                <a:latin typeface="Calibri" pitchFamily="34" charset="0"/>
                <a:ea typeface="Calibri" pitchFamily="34" charset="-122"/>
                <a:cs typeface="Calibri" pitchFamily="34" charset="-120"/>
              </a:rPr>
              <a:t>Node.js</a:t>
            </a:r>
            <a:endParaRPr lang="en-US" sz="1350" dirty="0"/>
          </a:p>
        </p:txBody>
      </p:sp>
      <p:sp>
        <p:nvSpPr>
          <p:cNvPr id="12" name="Shape 10"/>
          <p:cNvSpPr/>
          <p:nvPr/>
        </p:nvSpPr>
        <p:spPr>
          <a:xfrm>
            <a:off x="6217920" y="1874520"/>
            <a:ext cx="2606040" cy="3749040"/>
          </a:xfrm>
          <a:prstGeom prst="roundRect">
            <a:avLst>
              <a:gd name="adj" fmla="val 2807"/>
            </a:avLst>
          </a:prstGeom>
          <a:solidFill>
            <a:srgbClr val="FFFFFF"/>
          </a:solidFill>
          <a:ln/>
          <a:effectLst>
            <a:outerShdw sx="100000" sy="100000" kx="0" ky="0" algn="bl" rotWithShape="0" blurRad="101600" dist="25400" dir="5400000">
              <a:srgbClr val="1A1D29">
                <a:alpha val="12000"/>
              </a:srgbClr>
            </a:outerShdw>
          </a:effectLst>
        </p:spPr>
      </p:sp>
      <p:sp>
        <p:nvSpPr>
          <p:cNvPr id="13" name="Shape 11"/>
          <p:cNvSpPr/>
          <p:nvPr/>
        </p:nvSpPr>
        <p:spPr>
          <a:xfrm>
            <a:off x="6492240" y="2148840"/>
            <a:ext cx="2057400" cy="73152"/>
          </a:xfrm>
          <a:prstGeom prst="roundRect">
            <a:avLst/>
          </a:prstGeom>
          <a:solidFill>
            <a:srgbClr val="1C7293"/>
          </a:solidFill>
          <a:ln/>
        </p:spPr>
      </p:sp>
      <p:sp>
        <p:nvSpPr>
          <p:cNvPr id="14" name="Text 12"/>
          <p:cNvSpPr/>
          <p:nvPr/>
        </p:nvSpPr>
        <p:spPr>
          <a:xfrm>
            <a:off x="6492240" y="2331720"/>
            <a:ext cx="2057400" cy="457200"/>
          </a:xfrm>
          <a:prstGeom prst="rect">
            <a:avLst/>
          </a:prstGeom>
          <a:noFill/>
          <a:ln/>
        </p:spPr>
        <p:txBody>
          <a:bodyPr wrap="square" rtlCol="0" anchor="ctr"/>
          <a:lstStyle/>
          <a:p>
            <a:pPr indent="0" marL="0">
              <a:buNone/>
            </a:pPr>
            <a:r>
              <a:rPr lang="en-US" sz="1600" b="1" dirty="0">
                <a:solidFill>
                  <a:srgbClr val="21295C"/>
                </a:solidFill>
                <a:latin typeface="Cambria" pitchFamily="34" charset="0"/>
                <a:ea typeface="Cambria" pitchFamily="34" charset="-122"/>
                <a:cs typeface="Cambria" pitchFamily="34" charset="-120"/>
              </a:rPr>
              <a:t>External Services</a:t>
            </a:r>
            <a:endParaRPr lang="en-US" sz="1600" dirty="0"/>
          </a:p>
        </p:txBody>
      </p:sp>
      <p:sp>
        <p:nvSpPr>
          <p:cNvPr id="15" name="Text 13"/>
          <p:cNvSpPr/>
          <p:nvPr/>
        </p:nvSpPr>
        <p:spPr>
          <a:xfrm>
            <a:off x="6492240" y="2834640"/>
            <a:ext cx="2148840" cy="2651760"/>
          </a:xfrm>
          <a:prstGeom prst="rect">
            <a:avLst/>
          </a:prstGeom>
          <a:noFill/>
          <a:ln/>
        </p:spPr>
        <p:txBody>
          <a:bodyPr wrap="square" rtlCol="0" anchor="t"/>
          <a:lstStyle/>
          <a:p>
            <a:pPr marL="177800" indent="-177800">
              <a:spcAft>
                <a:spcPts val="1000"/>
              </a:spcAft>
              <a:buSzPct val="100000"/>
              <a:buChar char="▪"/>
            </a:pPr>
            <a:r>
              <a:rPr lang="en-US" sz="1350" dirty="0">
                <a:solidFill>
                  <a:srgbClr val="1A1D29"/>
                </a:solidFill>
                <a:latin typeface="Calibri" pitchFamily="34" charset="0"/>
                <a:ea typeface="Calibri" pitchFamily="34" charset="-122"/>
                <a:cs typeface="Calibri" pitchFamily="34" charset="-120"/>
              </a:rPr>
              <a:t>Places Data API</a:t>
            </a:r>
            <a:endParaRPr lang="en-US" sz="1350" dirty="0"/>
          </a:p>
          <a:p>
            <a:pPr marL="177800" indent="-177800">
              <a:spcAft>
                <a:spcPts val="1000"/>
              </a:spcAft>
              <a:buSzPct val="100000"/>
              <a:buChar char="▪"/>
            </a:pPr>
            <a:r>
              <a:rPr lang="en-US" sz="1350" dirty="0">
                <a:solidFill>
                  <a:srgbClr val="1A1D29"/>
                </a:solidFill>
                <a:latin typeface="Calibri" pitchFamily="34" charset="0"/>
                <a:ea typeface="Calibri" pitchFamily="34" charset="-122"/>
                <a:cs typeface="Calibri" pitchFamily="34" charset="-120"/>
              </a:rPr>
              <a:t>Vector Search API</a:t>
            </a:r>
            <a:endParaRPr lang="en-US" sz="1350" dirty="0"/>
          </a:p>
        </p:txBody>
      </p:sp>
      <p:sp>
        <p:nvSpPr>
          <p:cNvPr id="16" name="Shape 14"/>
          <p:cNvSpPr/>
          <p:nvPr/>
        </p:nvSpPr>
        <p:spPr>
          <a:xfrm>
            <a:off x="9052560" y="1874520"/>
            <a:ext cx="2606040" cy="3749040"/>
          </a:xfrm>
          <a:prstGeom prst="roundRect">
            <a:avLst>
              <a:gd name="adj" fmla="val 2807"/>
            </a:avLst>
          </a:prstGeom>
          <a:solidFill>
            <a:srgbClr val="FFFFFF"/>
          </a:solidFill>
          <a:ln/>
          <a:effectLst>
            <a:outerShdw sx="100000" sy="100000" kx="0" ky="0" algn="bl" rotWithShape="0" blurRad="101600" dist="25400" dir="5400000">
              <a:srgbClr val="1A1D29">
                <a:alpha val="12000"/>
              </a:srgbClr>
            </a:outerShdw>
          </a:effectLst>
        </p:spPr>
      </p:sp>
      <p:sp>
        <p:nvSpPr>
          <p:cNvPr id="17" name="Shape 15"/>
          <p:cNvSpPr/>
          <p:nvPr/>
        </p:nvSpPr>
        <p:spPr>
          <a:xfrm>
            <a:off x="9326880" y="2148840"/>
            <a:ext cx="2057400" cy="73152"/>
          </a:xfrm>
          <a:prstGeom prst="roundRect">
            <a:avLst/>
          </a:prstGeom>
          <a:solidFill>
            <a:srgbClr val="3F7CAC"/>
          </a:solidFill>
          <a:ln/>
        </p:spPr>
      </p:sp>
      <p:sp>
        <p:nvSpPr>
          <p:cNvPr id="18" name="Text 16"/>
          <p:cNvSpPr/>
          <p:nvPr/>
        </p:nvSpPr>
        <p:spPr>
          <a:xfrm>
            <a:off x="9326880" y="2331720"/>
            <a:ext cx="2057400" cy="457200"/>
          </a:xfrm>
          <a:prstGeom prst="rect">
            <a:avLst/>
          </a:prstGeom>
          <a:noFill/>
          <a:ln/>
        </p:spPr>
        <p:txBody>
          <a:bodyPr wrap="square" rtlCol="0" anchor="ctr"/>
          <a:lstStyle/>
          <a:p>
            <a:pPr indent="0" marL="0">
              <a:buNone/>
            </a:pPr>
            <a:r>
              <a:rPr lang="en-US" sz="1600" b="1" dirty="0">
                <a:solidFill>
                  <a:srgbClr val="21295C"/>
                </a:solidFill>
                <a:latin typeface="Cambria" pitchFamily="34" charset="0"/>
                <a:ea typeface="Cambria" pitchFamily="34" charset="-122"/>
                <a:cs typeface="Cambria" pitchFamily="34" charset="-120"/>
              </a:rPr>
              <a:t>Dev Tools</a:t>
            </a:r>
            <a:endParaRPr lang="en-US" sz="1600" dirty="0"/>
          </a:p>
        </p:txBody>
      </p:sp>
      <p:sp>
        <p:nvSpPr>
          <p:cNvPr id="19" name="Text 17"/>
          <p:cNvSpPr/>
          <p:nvPr/>
        </p:nvSpPr>
        <p:spPr>
          <a:xfrm>
            <a:off x="9326880" y="2834640"/>
            <a:ext cx="2148840" cy="2651760"/>
          </a:xfrm>
          <a:prstGeom prst="rect">
            <a:avLst/>
          </a:prstGeom>
          <a:noFill/>
          <a:ln/>
        </p:spPr>
        <p:txBody>
          <a:bodyPr wrap="square" rtlCol="0" anchor="t"/>
          <a:lstStyle/>
          <a:p>
            <a:pPr marL="177800" indent="-177800">
              <a:spcAft>
                <a:spcPts val="1000"/>
              </a:spcAft>
              <a:buSzPct val="100000"/>
              <a:buChar char="▪"/>
            </a:pPr>
            <a:r>
              <a:rPr lang="en-US" sz="1350" dirty="0">
                <a:solidFill>
                  <a:srgbClr val="1A1D29"/>
                </a:solidFill>
                <a:latin typeface="Calibri" pitchFamily="34" charset="0"/>
                <a:ea typeface="Calibri" pitchFamily="34" charset="-122"/>
                <a:cs typeface="Calibri" pitchFamily="34" charset="-120"/>
              </a:rPr>
              <a:t>Git</a:t>
            </a:r>
            <a:endParaRPr lang="en-US" sz="1350" dirty="0"/>
          </a:p>
          <a:p>
            <a:pPr marL="177800" indent="-177800">
              <a:spcAft>
                <a:spcPts val="1000"/>
              </a:spcAft>
              <a:buSzPct val="100000"/>
              <a:buChar char="▪"/>
            </a:pPr>
            <a:r>
              <a:rPr lang="en-US" sz="1350" dirty="0">
                <a:solidFill>
                  <a:srgbClr val="1A1D29"/>
                </a:solidFill>
                <a:latin typeface="Calibri" pitchFamily="34" charset="0"/>
                <a:ea typeface="Calibri" pitchFamily="34" charset="-122"/>
                <a:cs typeface="Calibri" pitchFamily="34" charset="-120"/>
              </a:rPr>
              <a:t>GitHub</a:t>
            </a:r>
            <a:endParaRPr lang="en-US" sz="1350" dirty="0"/>
          </a:p>
          <a:p>
            <a:pPr marL="177800" indent="-177800">
              <a:spcAft>
                <a:spcPts val="1000"/>
              </a:spcAft>
              <a:buSzPct val="100000"/>
              <a:buChar char="▪"/>
            </a:pPr>
            <a:r>
              <a:rPr lang="en-US" sz="1350" dirty="0">
                <a:solidFill>
                  <a:srgbClr val="1A1D29"/>
                </a:solidFill>
                <a:latin typeface="Calibri" pitchFamily="34" charset="0"/>
                <a:ea typeface="Calibri" pitchFamily="34" charset="-122"/>
                <a:cs typeface="Calibri" pitchFamily="34" charset="-120"/>
              </a:rPr>
              <a:t>VS Code</a:t>
            </a:r>
            <a:endParaRPr lang="en-US" sz="1350" dirty="0"/>
          </a:p>
          <a:p>
            <a:pPr marL="177800" indent="-177800">
              <a:spcAft>
                <a:spcPts val="1000"/>
              </a:spcAft>
              <a:buSzPct val="100000"/>
              <a:buChar char="▪"/>
            </a:pPr>
            <a:r>
              <a:rPr lang="en-US" sz="1350" dirty="0">
                <a:solidFill>
                  <a:srgbClr val="1A1D29"/>
                </a:solidFill>
                <a:latin typeface="Calibri" pitchFamily="34" charset="0"/>
                <a:ea typeface="Calibri" pitchFamily="34" charset="-122"/>
                <a:cs typeface="Calibri" pitchFamily="34" charset="-120"/>
              </a:rPr>
              <a:t>npm</a:t>
            </a:r>
            <a:endParaRPr lang="en-US" sz="1350" dirty="0"/>
          </a:p>
        </p:txBody>
      </p:sp>
      <p:sp>
        <p:nvSpPr>
          <p:cNvPr id="20" name="Text 18"/>
          <p:cNvSpPr/>
          <p:nvPr/>
        </p:nvSpPr>
        <p:spPr>
          <a:xfrm>
            <a:off x="11365992" y="6355080"/>
            <a:ext cx="548640" cy="320040"/>
          </a:xfrm>
          <a:prstGeom prst="rect">
            <a:avLst/>
          </a:prstGeom>
          <a:noFill/>
          <a:ln/>
        </p:spPr>
        <p:txBody>
          <a:bodyPr wrap="square"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9"/>
        </a:solidFill>
      </p:bgPr>
    </p:bg>
    <p:spTree>
      <p:nvGrpSpPr>
        <p:cNvPr id="1" name=""/>
        <p:cNvGrpSpPr/>
        <p:nvPr/>
      </p:nvGrpSpPr>
      <p:grpSpPr>
        <a:xfrm>
          <a:off x="0" y="0"/>
          <a:ext cx="0" cy="0"/>
          <a:chOff x="0" y="0"/>
          <a:chExt cx="0" cy="0"/>
        </a:xfrm>
      </p:grpSpPr>
      <p:sp>
        <p:nvSpPr>
          <p:cNvPr id="2" name="Text 0"/>
          <p:cNvSpPr/>
          <p:nvPr/>
        </p:nvSpPr>
        <p:spPr>
          <a:xfrm>
            <a:off x="548640" y="411480"/>
            <a:ext cx="7315200" cy="36576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FRONTEND ARCHITECTURE</a:t>
            </a:r>
            <a:endParaRPr lang="en-US" sz="1300" dirty="0"/>
          </a:p>
        </p:txBody>
      </p:sp>
      <p:sp>
        <p:nvSpPr>
          <p:cNvPr id="3" name="Text 1"/>
          <p:cNvSpPr/>
          <p:nvPr/>
        </p:nvSpPr>
        <p:spPr>
          <a:xfrm>
            <a:off x="548640" y="731520"/>
            <a:ext cx="10515600" cy="822960"/>
          </a:xfrm>
          <a:prstGeom prst="rect">
            <a:avLst/>
          </a:prstGeom>
          <a:noFill/>
          <a:ln/>
        </p:spPr>
        <p:txBody>
          <a:bodyPr wrap="square" rtlCol="0" anchor="ctr"/>
          <a:lstStyle/>
          <a:p>
            <a:pPr indent="0" marL="0">
              <a:buNone/>
            </a:pPr>
            <a:r>
              <a:rPr lang="en-US" sz="3400" b="1" dirty="0">
                <a:solidFill>
                  <a:srgbClr val="21295C"/>
                </a:solidFill>
                <a:latin typeface="Cambria" pitchFamily="34" charset="0"/>
                <a:ea typeface="Cambria" pitchFamily="34" charset="-122"/>
                <a:cs typeface="Cambria" pitchFamily="34" charset="-120"/>
              </a:rPr>
              <a:t>Vue Component Flow</a:t>
            </a:r>
            <a:endParaRPr lang="en-US" sz="3400" dirty="0"/>
          </a:p>
        </p:txBody>
      </p:sp>
      <p:sp>
        <p:nvSpPr>
          <p:cNvPr id="4" name="Shape 2"/>
          <p:cNvSpPr/>
          <p:nvPr/>
        </p:nvSpPr>
        <p:spPr>
          <a:xfrm>
            <a:off x="-1623060" y="2011680"/>
            <a:ext cx="1691640" cy="822960"/>
          </a:xfrm>
          <a:prstGeom prst="roundRect">
            <a:avLst>
              <a:gd name="adj" fmla="val 6667"/>
            </a:avLst>
          </a:prstGeom>
          <a:solidFill>
            <a:srgbClr val="5A6472"/>
          </a:solidFill>
          <a:ln/>
        </p:spPr>
      </p:sp>
      <p:sp>
        <p:nvSpPr>
          <p:cNvPr id="5" name="Text 3"/>
          <p:cNvSpPr/>
          <p:nvPr/>
        </p:nvSpPr>
        <p:spPr>
          <a:xfrm>
            <a:off x="-1623060" y="2011680"/>
            <a:ext cx="1691640" cy="822960"/>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User</a:t>
            </a:r>
            <a:endParaRPr lang="en-US" sz="1250" dirty="0"/>
          </a:p>
        </p:txBody>
      </p:sp>
      <p:sp>
        <p:nvSpPr>
          <p:cNvPr id="6" name="Shape 4"/>
          <p:cNvSpPr/>
          <p:nvPr/>
        </p:nvSpPr>
        <p:spPr>
          <a:xfrm>
            <a:off x="86868" y="2384755"/>
            <a:ext cx="192024" cy="115214"/>
          </a:xfrm>
          <a:prstGeom prst="rightArrow">
            <a:avLst/>
          </a:prstGeom>
          <a:solidFill>
            <a:srgbClr val="1C7293"/>
          </a:solidFill>
          <a:ln/>
        </p:spPr>
      </p:sp>
      <p:sp>
        <p:nvSpPr>
          <p:cNvPr id="7" name="Shape 5"/>
          <p:cNvSpPr/>
          <p:nvPr/>
        </p:nvSpPr>
        <p:spPr>
          <a:xfrm>
            <a:off x="297180" y="2011680"/>
            <a:ext cx="1691640" cy="822960"/>
          </a:xfrm>
          <a:prstGeom prst="roundRect">
            <a:avLst>
              <a:gd name="adj" fmla="val 6667"/>
            </a:avLst>
          </a:prstGeom>
          <a:solidFill>
            <a:srgbClr val="065A82"/>
          </a:solidFill>
          <a:ln/>
        </p:spPr>
      </p:sp>
      <p:sp>
        <p:nvSpPr>
          <p:cNvPr id="8" name="Text 6"/>
          <p:cNvSpPr/>
          <p:nvPr/>
        </p:nvSpPr>
        <p:spPr>
          <a:xfrm>
            <a:off x="297180" y="2011680"/>
            <a:ext cx="1691640" cy="822960"/>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Vue Components</a:t>
            </a:r>
            <a:endParaRPr lang="en-US" sz="1250" dirty="0"/>
          </a:p>
        </p:txBody>
      </p:sp>
      <p:sp>
        <p:nvSpPr>
          <p:cNvPr id="9" name="Shape 7"/>
          <p:cNvSpPr/>
          <p:nvPr/>
        </p:nvSpPr>
        <p:spPr>
          <a:xfrm>
            <a:off x="2007108" y="2384755"/>
            <a:ext cx="192024" cy="115214"/>
          </a:xfrm>
          <a:prstGeom prst="rightArrow">
            <a:avLst/>
          </a:prstGeom>
          <a:solidFill>
            <a:srgbClr val="1C7293"/>
          </a:solidFill>
          <a:ln/>
        </p:spPr>
      </p:sp>
      <p:sp>
        <p:nvSpPr>
          <p:cNvPr id="10" name="Shape 8"/>
          <p:cNvSpPr/>
          <p:nvPr/>
        </p:nvSpPr>
        <p:spPr>
          <a:xfrm>
            <a:off x="2217420" y="2011680"/>
            <a:ext cx="1691640" cy="822960"/>
          </a:xfrm>
          <a:prstGeom prst="roundRect">
            <a:avLst>
              <a:gd name="adj" fmla="val 6667"/>
            </a:avLst>
          </a:prstGeom>
          <a:solidFill>
            <a:srgbClr val="1C7293"/>
          </a:solidFill>
          <a:ln/>
        </p:spPr>
      </p:sp>
      <p:sp>
        <p:nvSpPr>
          <p:cNvPr id="11" name="Text 9"/>
          <p:cNvSpPr/>
          <p:nvPr/>
        </p:nvSpPr>
        <p:spPr>
          <a:xfrm>
            <a:off x="2217420" y="2011680"/>
            <a:ext cx="1691640" cy="822960"/>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Router</a:t>
            </a:r>
            <a:endParaRPr lang="en-US" sz="1250" dirty="0"/>
          </a:p>
        </p:txBody>
      </p:sp>
      <p:sp>
        <p:nvSpPr>
          <p:cNvPr id="12" name="Shape 10"/>
          <p:cNvSpPr/>
          <p:nvPr/>
        </p:nvSpPr>
        <p:spPr>
          <a:xfrm>
            <a:off x="3927348" y="2384755"/>
            <a:ext cx="192024" cy="115214"/>
          </a:xfrm>
          <a:prstGeom prst="rightArrow">
            <a:avLst/>
          </a:prstGeom>
          <a:solidFill>
            <a:srgbClr val="1C7293"/>
          </a:solidFill>
          <a:ln/>
        </p:spPr>
      </p:sp>
      <p:sp>
        <p:nvSpPr>
          <p:cNvPr id="13" name="Shape 11"/>
          <p:cNvSpPr/>
          <p:nvPr/>
        </p:nvSpPr>
        <p:spPr>
          <a:xfrm>
            <a:off x="4137660" y="2011680"/>
            <a:ext cx="1691640" cy="822960"/>
          </a:xfrm>
          <a:prstGeom prst="roundRect">
            <a:avLst>
              <a:gd name="adj" fmla="val 6667"/>
            </a:avLst>
          </a:prstGeom>
          <a:solidFill>
            <a:srgbClr val="1C7293"/>
          </a:solidFill>
          <a:ln/>
        </p:spPr>
      </p:sp>
      <p:sp>
        <p:nvSpPr>
          <p:cNvPr id="14" name="Text 12"/>
          <p:cNvSpPr/>
          <p:nvPr/>
        </p:nvSpPr>
        <p:spPr>
          <a:xfrm>
            <a:off x="4137660" y="2011680"/>
            <a:ext cx="1691640" cy="822960"/>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Pages</a:t>
            </a:r>
            <a:endParaRPr lang="en-US" sz="1250" dirty="0"/>
          </a:p>
        </p:txBody>
      </p:sp>
      <p:sp>
        <p:nvSpPr>
          <p:cNvPr id="15" name="Shape 13"/>
          <p:cNvSpPr/>
          <p:nvPr/>
        </p:nvSpPr>
        <p:spPr>
          <a:xfrm>
            <a:off x="5847588" y="2384755"/>
            <a:ext cx="192024" cy="115214"/>
          </a:xfrm>
          <a:prstGeom prst="rightArrow">
            <a:avLst/>
          </a:prstGeom>
          <a:solidFill>
            <a:srgbClr val="1C7293"/>
          </a:solidFill>
          <a:ln/>
        </p:spPr>
      </p:sp>
      <p:sp>
        <p:nvSpPr>
          <p:cNvPr id="16" name="Shape 14"/>
          <p:cNvSpPr/>
          <p:nvPr/>
        </p:nvSpPr>
        <p:spPr>
          <a:xfrm>
            <a:off x="6057900" y="2011680"/>
            <a:ext cx="1691640" cy="822960"/>
          </a:xfrm>
          <a:prstGeom prst="roundRect">
            <a:avLst>
              <a:gd name="adj" fmla="val 6667"/>
            </a:avLst>
          </a:prstGeom>
          <a:solidFill>
            <a:srgbClr val="21295C"/>
          </a:solidFill>
          <a:ln/>
        </p:spPr>
      </p:sp>
      <p:sp>
        <p:nvSpPr>
          <p:cNvPr id="17" name="Text 15"/>
          <p:cNvSpPr/>
          <p:nvPr/>
        </p:nvSpPr>
        <p:spPr>
          <a:xfrm>
            <a:off x="6057900" y="2011680"/>
            <a:ext cx="1691640" cy="822960"/>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API Service</a:t>
            </a:r>
            <a:endParaRPr lang="en-US" sz="1250" dirty="0"/>
          </a:p>
        </p:txBody>
      </p:sp>
      <p:sp>
        <p:nvSpPr>
          <p:cNvPr id="18" name="Shape 16"/>
          <p:cNvSpPr/>
          <p:nvPr/>
        </p:nvSpPr>
        <p:spPr>
          <a:xfrm>
            <a:off x="7767828" y="2384755"/>
            <a:ext cx="192024" cy="115214"/>
          </a:xfrm>
          <a:prstGeom prst="rightArrow">
            <a:avLst/>
          </a:prstGeom>
          <a:solidFill>
            <a:srgbClr val="1C7293"/>
          </a:solidFill>
          <a:ln/>
        </p:spPr>
      </p:sp>
      <p:sp>
        <p:nvSpPr>
          <p:cNvPr id="19" name="Shape 17"/>
          <p:cNvSpPr/>
          <p:nvPr/>
        </p:nvSpPr>
        <p:spPr>
          <a:xfrm>
            <a:off x="7978140" y="2011680"/>
            <a:ext cx="1691640" cy="822960"/>
          </a:xfrm>
          <a:prstGeom prst="roundRect">
            <a:avLst>
              <a:gd name="adj" fmla="val 6667"/>
            </a:avLst>
          </a:prstGeom>
          <a:solidFill>
            <a:srgbClr val="065A82"/>
          </a:solidFill>
          <a:ln/>
        </p:spPr>
      </p:sp>
      <p:sp>
        <p:nvSpPr>
          <p:cNvPr id="20" name="Text 18"/>
          <p:cNvSpPr/>
          <p:nvPr/>
        </p:nvSpPr>
        <p:spPr>
          <a:xfrm>
            <a:off x="7978140" y="2011680"/>
            <a:ext cx="1691640" cy="822960"/>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Backend API</a:t>
            </a:r>
            <a:endParaRPr lang="en-US" sz="1250" dirty="0"/>
          </a:p>
        </p:txBody>
      </p:sp>
      <p:sp>
        <p:nvSpPr>
          <p:cNvPr id="21" name="Shape 19"/>
          <p:cNvSpPr/>
          <p:nvPr/>
        </p:nvSpPr>
        <p:spPr>
          <a:xfrm>
            <a:off x="548640" y="3291840"/>
            <a:ext cx="11064240" cy="2651760"/>
          </a:xfrm>
          <a:prstGeom prst="roundRect">
            <a:avLst>
              <a:gd name="adj" fmla="val 2759"/>
            </a:avLst>
          </a:prstGeom>
          <a:solidFill>
            <a:srgbClr val="FFFFFF"/>
          </a:solidFill>
          <a:ln/>
          <a:effectLst>
            <a:outerShdw sx="100000" sy="100000" kx="0" ky="0" algn="bl" rotWithShape="0" blurRad="101600" dist="25400" dir="5400000">
              <a:srgbClr val="1A1D29">
                <a:alpha val="12000"/>
              </a:srgbClr>
            </a:outerShdw>
          </a:effectLst>
        </p:spPr>
      </p:sp>
      <p:sp>
        <p:nvSpPr>
          <p:cNvPr id="22" name="Text 20"/>
          <p:cNvSpPr/>
          <p:nvPr/>
        </p:nvSpPr>
        <p:spPr>
          <a:xfrm>
            <a:off x="914400" y="3520440"/>
            <a:ext cx="5486400" cy="411480"/>
          </a:xfrm>
          <a:prstGeom prst="rect">
            <a:avLst/>
          </a:prstGeom>
          <a:noFill/>
          <a:ln/>
        </p:spPr>
        <p:txBody>
          <a:bodyPr wrap="square" rtlCol="0" anchor="ctr"/>
          <a:lstStyle/>
          <a:p>
            <a:pPr indent="0" marL="0">
              <a:buNone/>
            </a:pPr>
            <a:r>
              <a:rPr lang="en-US" sz="1800" b="1" dirty="0">
                <a:solidFill>
                  <a:srgbClr val="21295C"/>
                </a:solidFill>
                <a:latin typeface="Cambria" pitchFamily="34" charset="0"/>
                <a:ea typeface="Cambria" pitchFamily="34" charset="-122"/>
                <a:cs typeface="Cambria" pitchFamily="34" charset="-120"/>
              </a:rPr>
              <a:t>Frontend Responsibilities</a:t>
            </a:r>
            <a:endParaRPr lang="en-US" sz="1800" dirty="0"/>
          </a:p>
        </p:txBody>
      </p:sp>
      <p:sp>
        <p:nvSpPr>
          <p:cNvPr id="23" name="Text 21"/>
          <p:cNvSpPr/>
          <p:nvPr/>
        </p:nvSpPr>
        <p:spPr>
          <a:xfrm>
            <a:off x="914400" y="4023360"/>
            <a:ext cx="4937760" cy="1463040"/>
          </a:xfrm>
          <a:prstGeom prst="rect">
            <a:avLst/>
          </a:prstGeom>
          <a:noFill/>
          <a:ln/>
        </p:spPr>
        <p:txBody>
          <a:bodyPr wrap="square" rtlCol="0" anchor="t"/>
          <a:lstStyle/>
          <a:p>
            <a:pPr marL="177800" indent="-177800">
              <a:spcAft>
                <a:spcPts val="1200"/>
              </a:spcAft>
              <a:buSzPct val="100000"/>
              <a:buChar char="▪"/>
            </a:pPr>
            <a:r>
              <a:rPr lang="en-US" sz="1450" dirty="0">
                <a:solidFill>
                  <a:srgbClr val="1A1D29"/>
                </a:solidFill>
                <a:latin typeface="Calibri" pitchFamily="34" charset="0"/>
                <a:ea typeface="Calibri" pitchFamily="34" charset="-122"/>
                <a:cs typeface="Calibri" pitchFamily="34" charset="-120"/>
              </a:rPr>
              <a:t>User Interface (UI) &amp; User Experience (UX)</a:t>
            </a:r>
            <a:endParaRPr lang="en-US" sz="1450" dirty="0"/>
          </a:p>
          <a:p>
            <a:pPr marL="177800" indent="-177800">
              <a:spcAft>
                <a:spcPts val="1200"/>
              </a:spcAft>
              <a:buSzPct val="100000"/>
              <a:buChar char="▪"/>
            </a:pPr>
            <a:r>
              <a:rPr lang="en-US" sz="1450" dirty="0">
                <a:solidFill>
                  <a:srgbClr val="1A1D29"/>
                </a:solidFill>
                <a:latin typeface="Calibri" pitchFamily="34" charset="0"/>
                <a:ea typeface="Calibri" pitchFamily="34" charset="-122"/>
                <a:cs typeface="Calibri" pitchFamily="34" charset="-120"/>
              </a:rPr>
              <a:t>Search input handling</a:t>
            </a:r>
            <a:endParaRPr lang="en-US" sz="1450" dirty="0"/>
          </a:p>
        </p:txBody>
      </p:sp>
      <p:sp>
        <p:nvSpPr>
          <p:cNvPr id="24" name="Text 22"/>
          <p:cNvSpPr/>
          <p:nvPr/>
        </p:nvSpPr>
        <p:spPr>
          <a:xfrm>
            <a:off x="6217920" y="4023360"/>
            <a:ext cx="4937760" cy="1737360"/>
          </a:xfrm>
          <a:prstGeom prst="rect">
            <a:avLst/>
          </a:prstGeom>
          <a:noFill/>
          <a:ln/>
        </p:spPr>
        <p:txBody>
          <a:bodyPr wrap="square" rtlCol="0" anchor="t"/>
          <a:lstStyle/>
          <a:p>
            <a:pPr marL="177800" indent="-177800">
              <a:spcAft>
                <a:spcPts val="1200"/>
              </a:spcAft>
              <a:buSzPct val="100000"/>
              <a:buChar char="▪"/>
            </a:pPr>
            <a:r>
              <a:rPr lang="en-US" sz="1450" dirty="0">
                <a:solidFill>
                  <a:srgbClr val="1A1D29"/>
                </a:solidFill>
                <a:latin typeface="Calibri" pitchFamily="34" charset="0"/>
                <a:ea typeface="Calibri" pitchFamily="34" charset="-122"/>
                <a:cs typeface="Calibri" pitchFamily="34" charset="-120"/>
              </a:rPr>
              <a:t>Displaying search results</a:t>
            </a:r>
            <a:endParaRPr lang="en-US" sz="1450" dirty="0"/>
          </a:p>
          <a:p>
            <a:pPr marL="177800" indent="-177800">
              <a:spcAft>
                <a:spcPts val="1200"/>
              </a:spcAft>
              <a:buSzPct val="100000"/>
              <a:buChar char="▪"/>
            </a:pPr>
            <a:r>
              <a:rPr lang="en-US" sz="1450" dirty="0">
                <a:solidFill>
                  <a:srgbClr val="1A1D29"/>
                </a:solidFill>
                <a:latin typeface="Calibri" pitchFamily="34" charset="0"/>
                <a:ea typeface="Calibri" pitchFamily="34" charset="-122"/>
                <a:cs typeface="Calibri" pitchFamily="34" charset="-120"/>
              </a:rPr>
              <a:t>API communication</a:t>
            </a:r>
            <a:endParaRPr lang="en-US" sz="1450" dirty="0"/>
          </a:p>
          <a:p>
            <a:pPr marL="177800" indent="-177800">
              <a:spcAft>
                <a:spcPts val="1200"/>
              </a:spcAft>
              <a:buSzPct val="100000"/>
              <a:buChar char="▪"/>
            </a:pPr>
            <a:r>
              <a:rPr lang="en-US" sz="1450" dirty="0">
                <a:solidFill>
                  <a:srgbClr val="1A1D29"/>
                </a:solidFill>
                <a:latin typeface="Calibri" pitchFamily="34" charset="0"/>
                <a:ea typeface="Calibri" pitchFamily="34" charset="-122"/>
                <a:cs typeface="Calibri" pitchFamily="34" charset="-120"/>
              </a:rPr>
              <a:t>State management</a:t>
            </a:r>
            <a:endParaRPr lang="en-US" sz="1450" dirty="0"/>
          </a:p>
        </p:txBody>
      </p:sp>
      <p:sp>
        <p:nvSpPr>
          <p:cNvPr id="25" name="Text 23"/>
          <p:cNvSpPr/>
          <p:nvPr/>
        </p:nvSpPr>
        <p:spPr>
          <a:xfrm>
            <a:off x="914400" y="5532120"/>
            <a:ext cx="10332720" cy="365760"/>
          </a:xfrm>
          <a:prstGeom prst="rect">
            <a:avLst/>
          </a:prstGeom>
          <a:noFill/>
          <a:ln/>
        </p:spPr>
        <p:txBody>
          <a:bodyPr wrap="square" rtlCol="0" anchor="ctr"/>
          <a:lstStyle/>
          <a:p>
            <a:pPr indent="0" marL="0">
              <a:buNone/>
            </a:pPr>
            <a:r>
              <a:rPr lang="en-US" sz="1250" i="1" dirty="0">
                <a:solidFill>
                  <a:srgbClr val="1C7293"/>
                </a:solidFill>
                <a:latin typeface="Calibri" pitchFamily="34" charset="0"/>
                <a:ea typeface="Calibri" pitchFamily="34" charset="-122"/>
                <a:cs typeface="Calibri" pitchFamily="34" charset="-120"/>
              </a:rPr>
              <a:t>The Frontend focuses purely on UI and interaction — business logic stays out of it, keeping the code simple to maintain.</a:t>
            </a:r>
            <a:endParaRPr lang="en-US" sz="1250" dirty="0"/>
          </a:p>
        </p:txBody>
      </p:sp>
      <p:sp>
        <p:nvSpPr>
          <p:cNvPr id="26" name="Text 24"/>
          <p:cNvSpPr/>
          <p:nvPr/>
        </p:nvSpPr>
        <p:spPr>
          <a:xfrm>
            <a:off x="11365992" y="6355080"/>
            <a:ext cx="548640" cy="320040"/>
          </a:xfrm>
          <a:prstGeom prst="rect">
            <a:avLst/>
          </a:prstGeom>
          <a:noFill/>
          <a:ln/>
        </p:spPr>
        <p:txBody>
          <a:bodyPr wrap="square"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08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7F9"/>
        </a:solidFill>
      </p:bgPr>
    </p:bg>
    <p:spTree>
      <p:nvGrpSpPr>
        <p:cNvPr id="1" name=""/>
        <p:cNvGrpSpPr/>
        <p:nvPr/>
      </p:nvGrpSpPr>
      <p:grpSpPr>
        <a:xfrm>
          <a:off x="0" y="0"/>
          <a:ext cx="0" cy="0"/>
          <a:chOff x="0" y="0"/>
          <a:chExt cx="0" cy="0"/>
        </a:xfrm>
      </p:grpSpPr>
      <p:sp>
        <p:nvSpPr>
          <p:cNvPr id="2" name="Text 0"/>
          <p:cNvSpPr/>
          <p:nvPr/>
        </p:nvSpPr>
        <p:spPr>
          <a:xfrm>
            <a:off x="548640" y="411480"/>
            <a:ext cx="7315200" cy="36576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BACKEND ARCHITECTURE</a:t>
            </a:r>
            <a:endParaRPr lang="en-US" sz="1300" dirty="0"/>
          </a:p>
        </p:txBody>
      </p:sp>
      <p:sp>
        <p:nvSpPr>
          <p:cNvPr id="3" name="Text 1"/>
          <p:cNvSpPr/>
          <p:nvPr/>
        </p:nvSpPr>
        <p:spPr>
          <a:xfrm>
            <a:off x="548640" y="731520"/>
            <a:ext cx="10515600" cy="822960"/>
          </a:xfrm>
          <a:prstGeom prst="rect">
            <a:avLst/>
          </a:prstGeom>
          <a:noFill/>
          <a:ln/>
        </p:spPr>
        <p:txBody>
          <a:bodyPr wrap="square" rtlCol="0" anchor="ctr"/>
          <a:lstStyle/>
          <a:p>
            <a:pPr indent="0" marL="0">
              <a:buNone/>
            </a:pPr>
            <a:r>
              <a:rPr lang="en-US" sz="3400" b="1" dirty="0">
                <a:solidFill>
                  <a:srgbClr val="21295C"/>
                </a:solidFill>
                <a:latin typeface="Cambria" pitchFamily="34" charset="0"/>
                <a:ea typeface="Cambria" pitchFamily="34" charset="-122"/>
                <a:cs typeface="Cambria" pitchFamily="34" charset="-120"/>
              </a:rPr>
              <a:t>Where the Real Work Happens</a:t>
            </a:r>
            <a:endParaRPr lang="en-US" sz="3400" dirty="0"/>
          </a:p>
        </p:txBody>
      </p:sp>
      <p:sp>
        <p:nvSpPr>
          <p:cNvPr id="4" name="Shape 2"/>
          <p:cNvSpPr/>
          <p:nvPr/>
        </p:nvSpPr>
        <p:spPr>
          <a:xfrm>
            <a:off x="452628" y="1828800"/>
            <a:ext cx="1298448" cy="960120"/>
          </a:xfrm>
          <a:prstGeom prst="roundRect">
            <a:avLst>
              <a:gd name="adj" fmla="val 5714"/>
            </a:avLst>
          </a:prstGeom>
          <a:solidFill>
            <a:srgbClr val="5A6472"/>
          </a:solidFill>
          <a:ln/>
        </p:spPr>
      </p:sp>
      <p:sp>
        <p:nvSpPr>
          <p:cNvPr id="5" name="Text 3"/>
          <p:cNvSpPr/>
          <p:nvPr/>
        </p:nvSpPr>
        <p:spPr>
          <a:xfrm>
            <a:off x="452628" y="1828800"/>
            <a:ext cx="1298448" cy="960120"/>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Client</a:t>
            </a:r>
            <a:endParaRPr lang="en-US" sz="1250" dirty="0"/>
          </a:p>
          <a:p>
            <a:pPr algn="ctr" indent="0" marL="0">
              <a:buNone/>
            </a:pPr>
            <a:r>
              <a:rPr lang="en-US" sz="1250" b="1" dirty="0">
                <a:solidFill>
                  <a:srgbClr val="FFFFFF"/>
                </a:solidFill>
                <a:latin typeface="Calibri" pitchFamily="34" charset="0"/>
                <a:ea typeface="Calibri" pitchFamily="34" charset="-122"/>
                <a:cs typeface="Calibri" pitchFamily="34" charset="-120"/>
              </a:rPr>
              <a:t>Request</a:t>
            </a:r>
            <a:endParaRPr lang="en-US" sz="1250" dirty="0"/>
          </a:p>
        </p:txBody>
      </p:sp>
      <p:sp>
        <p:nvSpPr>
          <p:cNvPr id="6" name="Shape 4"/>
          <p:cNvSpPr/>
          <p:nvPr/>
        </p:nvSpPr>
        <p:spPr>
          <a:xfrm>
            <a:off x="1755648" y="2288743"/>
            <a:ext cx="100584" cy="60350"/>
          </a:xfrm>
          <a:prstGeom prst="rightArrow">
            <a:avLst/>
          </a:prstGeom>
          <a:solidFill>
            <a:srgbClr val="1C7293"/>
          </a:solidFill>
          <a:ln/>
        </p:spPr>
      </p:sp>
      <p:sp>
        <p:nvSpPr>
          <p:cNvPr id="7" name="Shape 5"/>
          <p:cNvSpPr/>
          <p:nvPr/>
        </p:nvSpPr>
        <p:spPr>
          <a:xfrm>
            <a:off x="1879092" y="1828800"/>
            <a:ext cx="1298448" cy="960120"/>
          </a:xfrm>
          <a:prstGeom prst="roundRect">
            <a:avLst>
              <a:gd name="adj" fmla="val 5714"/>
            </a:avLst>
          </a:prstGeom>
          <a:solidFill>
            <a:srgbClr val="065A82"/>
          </a:solidFill>
          <a:ln/>
        </p:spPr>
      </p:sp>
      <p:sp>
        <p:nvSpPr>
          <p:cNvPr id="8" name="Text 6"/>
          <p:cNvSpPr/>
          <p:nvPr/>
        </p:nvSpPr>
        <p:spPr>
          <a:xfrm>
            <a:off x="1879092" y="1828800"/>
            <a:ext cx="1298448" cy="960120"/>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Express</a:t>
            </a:r>
            <a:endParaRPr lang="en-US" sz="1250" dirty="0"/>
          </a:p>
          <a:p>
            <a:pPr algn="ctr" indent="0" marL="0">
              <a:buNone/>
            </a:pPr>
            <a:r>
              <a:rPr lang="en-US" sz="1250" b="1" dirty="0">
                <a:solidFill>
                  <a:srgbClr val="FFFFFF"/>
                </a:solidFill>
                <a:latin typeface="Calibri" pitchFamily="34" charset="0"/>
                <a:ea typeface="Calibri" pitchFamily="34" charset="-122"/>
                <a:cs typeface="Calibri" pitchFamily="34" charset="-120"/>
              </a:rPr>
              <a:t>Server</a:t>
            </a:r>
            <a:endParaRPr lang="en-US" sz="1250" dirty="0"/>
          </a:p>
        </p:txBody>
      </p:sp>
      <p:sp>
        <p:nvSpPr>
          <p:cNvPr id="9" name="Shape 7"/>
          <p:cNvSpPr/>
          <p:nvPr/>
        </p:nvSpPr>
        <p:spPr>
          <a:xfrm>
            <a:off x="3182112" y="2288743"/>
            <a:ext cx="100584" cy="60350"/>
          </a:xfrm>
          <a:prstGeom prst="rightArrow">
            <a:avLst/>
          </a:prstGeom>
          <a:solidFill>
            <a:srgbClr val="1C7293"/>
          </a:solidFill>
          <a:ln/>
        </p:spPr>
      </p:sp>
      <p:sp>
        <p:nvSpPr>
          <p:cNvPr id="10" name="Shape 8"/>
          <p:cNvSpPr/>
          <p:nvPr/>
        </p:nvSpPr>
        <p:spPr>
          <a:xfrm>
            <a:off x="3305556" y="1828800"/>
            <a:ext cx="1298448" cy="960120"/>
          </a:xfrm>
          <a:prstGeom prst="roundRect">
            <a:avLst>
              <a:gd name="adj" fmla="val 5714"/>
            </a:avLst>
          </a:prstGeom>
          <a:solidFill>
            <a:srgbClr val="1C7293"/>
          </a:solidFill>
          <a:ln/>
        </p:spPr>
      </p:sp>
      <p:sp>
        <p:nvSpPr>
          <p:cNvPr id="11" name="Text 9"/>
          <p:cNvSpPr/>
          <p:nvPr/>
        </p:nvSpPr>
        <p:spPr>
          <a:xfrm>
            <a:off x="3305556" y="1828800"/>
            <a:ext cx="1298448" cy="960120"/>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API</a:t>
            </a:r>
            <a:endParaRPr lang="en-US" sz="1250" dirty="0"/>
          </a:p>
          <a:p>
            <a:pPr algn="ctr" indent="0" marL="0">
              <a:buNone/>
            </a:pPr>
            <a:r>
              <a:rPr lang="en-US" sz="1250" b="1" dirty="0">
                <a:solidFill>
                  <a:srgbClr val="FFFFFF"/>
                </a:solidFill>
                <a:latin typeface="Calibri" pitchFamily="34" charset="0"/>
                <a:ea typeface="Calibri" pitchFamily="34" charset="-122"/>
                <a:cs typeface="Calibri" pitchFamily="34" charset="-120"/>
              </a:rPr>
              <a:t>Routes</a:t>
            </a:r>
            <a:endParaRPr lang="en-US" sz="1250" dirty="0"/>
          </a:p>
        </p:txBody>
      </p:sp>
      <p:sp>
        <p:nvSpPr>
          <p:cNvPr id="12" name="Shape 10"/>
          <p:cNvSpPr/>
          <p:nvPr/>
        </p:nvSpPr>
        <p:spPr>
          <a:xfrm>
            <a:off x="4608576" y="2288743"/>
            <a:ext cx="100584" cy="60350"/>
          </a:xfrm>
          <a:prstGeom prst="rightArrow">
            <a:avLst/>
          </a:prstGeom>
          <a:solidFill>
            <a:srgbClr val="1C7293"/>
          </a:solidFill>
          <a:ln/>
        </p:spPr>
      </p:sp>
      <p:sp>
        <p:nvSpPr>
          <p:cNvPr id="13" name="Shape 11"/>
          <p:cNvSpPr/>
          <p:nvPr/>
        </p:nvSpPr>
        <p:spPr>
          <a:xfrm>
            <a:off x="4732020" y="1828800"/>
            <a:ext cx="1298448" cy="960120"/>
          </a:xfrm>
          <a:prstGeom prst="roundRect">
            <a:avLst>
              <a:gd name="adj" fmla="val 5714"/>
            </a:avLst>
          </a:prstGeom>
          <a:solidFill>
            <a:srgbClr val="1C7293"/>
          </a:solidFill>
          <a:ln/>
        </p:spPr>
      </p:sp>
      <p:sp>
        <p:nvSpPr>
          <p:cNvPr id="14" name="Text 12"/>
          <p:cNvSpPr/>
          <p:nvPr/>
        </p:nvSpPr>
        <p:spPr>
          <a:xfrm>
            <a:off x="4732020" y="1828800"/>
            <a:ext cx="1298448" cy="960120"/>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Request</a:t>
            </a:r>
            <a:endParaRPr lang="en-US" sz="1250" dirty="0"/>
          </a:p>
          <a:p>
            <a:pPr algn="ctr" indent="0" marL="0">
              <a:buNone/>
            </a:pPr>
            <a:r>
              <a:rPr lang="en-US" sz="1250" b="1" dirty="0">
                <a:solidFill>
                  <a:srgbClr val="FFFFFF"/>
                </a:solidFill>
                <a:latin typeface="Calibri" pitchFamily="34" charset="0"/>
                <a:ea typeface="Calibri" pitchFamily="34" charset="-122"/>
                <a:cs typeface="Calibri" pitchFamily="34" charset="-120"/>
              </a:rPr>
              <a:t>Validation</a:t>
            </a:r>
            <a:endParaRPr lang="en-US" sz="1250" dirty="0"/>
          </a:p>
        </p:txBody>
      </p:sp>
      <p:sp>
        <p:nvSpPr>
          <p:cNvPr id="15" name="Shape 13"/>
          <p:cNvSpPr/>
          <p:nvPr/>
        </p:nvSpPr>
        <p:spPr>
          <a:xfrm>
            <a:off x="6035040" y="2288743"/>
            <a:ext cx="100584" cy="60350"/>
          </a:xfrm>
          <a:prstGeom prst="rightArrow">
            <a:avLst/>
          </a:prstGeom>
          <a:solidFill>
            <a:srgbClr val="1C7293"/>
          </a:solidFill>
          <a:ln/>
        </p:spPr>
      </p:sp>
      <p:sp>
        <p:nvSpPr>
          <p:cNvPr id="16" name="Shape 14"/>
          <p:cNvSpPr/>
          <p:nvPr/>
        </p:nvSpPr>
        <p:spPr>
          <a:xfrm>
            <a:off x="6158484" y="1828800"/>
            <a:ext cx="1298448" cy="960120"/>
          </a:xfrm>
          <a:prstGeom prst="roundRect">
            <a:avLst>
              <a:gd name="adj" fmla="val 5714"/>
            </a:avLst>
          </a:prstGeom>
          <a:solidFill>
            <a:srgbClr val="21295C"/>
          </a:solidFill>
          <a:ln/>
        </p:spPr>
      </p:sp>
      <p:sp>
        <p:nvSpPr>
          <p:cNvPr id="17" name="Text 15"/>
          <p:cNvSpPr/>
          <p:nvPr/>
        </p:nvSpPr>
        <p:spPr>
          <a:xfrm>
            <a:off x="6158484" y="1828800"/>
            <a:ext cx="1298448" cy="960120"/>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Business</a:t>
            </a:r>
            <a:endParaRPr lang="en-US" sz="1250" dirty="0"/>
          </a:p>
          <a:p>
            <a:pPr algn="ctr" indent="0" marL="0">
              <a:buNone/>
            </a:pPr>
            <a:r>
              <a:rPr lang="en-US" sz="1250" b="1" dirty="0">
                <a:solidFill>
                  <a:srgbClr val="FFFFFF"/>
                </a:solidFill>
                <a:latin typeface="Calibri" pitchFamily="34" charset="0"/>
                <a:ea typeface="Calibri" pitchFamily="34" charset="-122"/>
                <a:cs typeface="Calibri" pitchFamily="34" charset="-120"/>
              </a:rPr>
              <a:t>Logic</a:t>
            </a:r>
            <a:endParaRPr lang="en-US" sz="1250" dirty="0"/>
          </a:p>
        </p:txBody>
      </p:sp>
      <p:sp>
        <p:nvSpPr>
          <p:cNvPr id="18" name="Shape 16"/>
          <p:cNvSpPr/>
          <p:nvPr/>
        </p:nvSpPr>
        <p:spPr>
          <a:xfrm>
            <a:off x="7461504" y="2288743"/>
            <a:ext cx="100584" cy="60350"/>
          </a:xfrm>
          <a:prstGeom prst="rightArrow">
            <a:avLst/>
          </a:prstGeom>
          <a:solidFill>
            <a:srgbClr val="1C7293"/>
          </a:solidFill>
          <a:ln/>
        </p:spPr>
      </p:sp>
      <p:sp>
        <p:nvSpPr>
          <p:cNvPr id="19" name="Shape 17"/>
          <p:cNvSpPr/>
          <p:nvPr/>
        </p:nvSpPr>
        <p:spPr>
          <a:xfrm>
            <a:off x="7584948" y="1828800"/>
            <a:ext cx="1298448" cy="960120"/>
          </a:xfrm>
          <a:prstGeom prst="roundRect">
            <a:avLst>
              <a:gd name="adj" fmla="val 5714"/>
            </a:avLst>
          </a:prstGeom>
          <a:solidFill>
            <a:srgbClr val="1C7293"/>
          </a:solidFill>
          <a:ln/>
        </p:spPr>
      </p:sp>
      <p:sp>
        <p:nvSpPr>
          <p:cNvPr id="20" name="Text 18"/>
          <p:cNvSpPr/>
          <p:nvPr/>
        </p:nvSpPr>
        <p:spPr>
          <a:xfrm>
            <a:off x="7584948" y="1828800"/>
            <a:ext cx="1298448" cy="960120"/>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External</a:t>
            </a:r>
            <a:endParaRPr lang="en-US" sz="1250" dirty="0"/>
          </a:p>
          <a:p>
            <a:pPr algn="ctr" indent="0" marL="0">
              <a:buNone/>
            </a:pPr>
            <a:r>
              <a:rPr lang="en-US" sz="1250" b="1" dirty="0">
                <a:solidFill>
                  <a:srgbClr val="FFFFFF"/>
                </a:solidFill>
                <a:latin typeface="Calibri" pitchFamily="34" charset="0"/>
                <a:ea typeface="Calibri" pitchFamily="34" charset="-122"/>
                <a:cs typeface="Calibri" pitchFamily="34" charset="-120"/>
              </a:rPr>
              <a:t>APIs</a:t>
            </a:r>
            <a:endParaRPr lang="en-US" sz="1250" dirty="0"/>
          </a:p>
        </p:txBody>
      </p:sp>
      <p:sp>
        <p:nvSpPr>
          <p:cNvPr id="21" name="Shape 19"/>
          <p:cNvSpPr/>
          <p:nvPr/>
        </p:nvSpPr>
        <p:spPr>
          <a:xfrm>
            <a:off x="8887968" y="2288743"/>
            <a:ext cx="100584" cy="60350"/>
          </a:xfrm>
          <a:prstGeom prst="rightArrow">
            <a:avLst/>
          </a:prstGeom>
          <a:solidFill>
            <a:srgbClr val="1C7293"/>
          </a:solidFill>
          <a:ln/>
        </p:spPr>
      </p:sp>
      <p:sp>
        <p:nvSpPr>
          <p:cNvPr id="22" name="Shape 20"/>
          <p:cNvSpPr/>
          <p:nvPr/>
        </p:nvSpPr>
        <p:spPr>
          <a:xfrm>
            <a:off x="9011412" y="1828800"/>
            <a:ext cx="1298448" cy="960120"/>
          </a:xfrm>
          <a:prstGeom prst="roundRect">
            <a:avLst>
              <a:gd name="adj" fmla="val 5714"/>
            </a:avLst>
          </a:prstGeom>
          <a:solidFill>
            <a:srgbClr val="21295C"/>
          </a:solidFill>
          <a:ln/>
        </p:spPr>
      </p:sp>
      <p:sp>
        <p:nvSpPr>
          <p:cNvPr id="23" name="Text 21"/>
          <p:cNvSpPr/>
          <p:nvPr/>
        </p:nvSpPr>
        <p:spPr>
          <a:xfrm>
            <a:off x="9011412" y="1828800"/>
            <a:ext cx="1298448" cy="960120"/>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Data</a:t>
            </a:r>
            <a:endParaRPr lang="en-US" sz="1250" dirty="0"/>
          </a:p>
          <a:p>
            <a:pPr algn="ctr" indent="0" marL="0">
              <a:buNone/>
            </a:pPr>
            <a:r>
              <a:rPr lang="en-US" sz="1250" b="1" dirty="0">
                <a:solidFill>
                  <a:srgbClr val="FFFFFF"/>
                </a:solidFill>
                <a:latin typeface="Calibri" pitchFamily="34" charset="0"/>
                <a:ea typeface="Calibri" pitchFamily="34" charset="-122"/>
                <a:cs typeface="Calibri" pitchFamily="34" charset="-120"/>
              </a:rPr>
              <a:t>Processing</a:t>
            </a:r>
            <a:endParaRPr lang="en-US" sz="1250" dirty="0"/>
          </a:p>
        </p:txBody>
      </p:sp>
      <p:sp>
        <p:nvSpPr>
          <p:cNvPr id="24" name="Shape 22"/>
          <p:cNvSpPr/>
          <p:nvPr/>
        </p:nvSpPr>
        <p:spPr>
          <a:xfrm>
            <a:off x="10314432" y="2288743"/>
            <a:ext cx="100584" cy="60350"/>
          </a:xfrm>
          <a:prstGeom prst="rightArrow">
            <a:avLst/>
          </a:prstGeom>
          <a:solidFill>
            <a:srgbClr val="1C7293"/>
          </a:solidFill>
          <a:ln/>
        </p:spPr>
      </p:sp>
      <p:sp>
        <p:nvSpPr>
          <p:cNvPr id="25" name="Shape 23"/>
          <p:cNvSpPr/>
          <p:nvPr/>
        </p:nvSpPr>
        <p:spPr>
          <a:xfrm>
            <a:off x="10437876" y="1828800"/>
            <a:ext cx="1298448" cy="960120"/>
          </a:xfrm>
          <a:prstGeom prst="roundRect">
            <a:avLst>
              <a:gd name="adj" fmla="val 5714"/>
            </a:avLst>
          </a:prstGeom>
          <a:solidFill>
            <a:srgbClr val="065A82"/>
          </a:solidFill>
          <a:ln/>
        </p:spPr>
      </p:sp>
      <p:sp>
        <p:nvSpPr>
          <p:cNvPr id="26" name="Text 24"/>
          <p:cNvSpPr/>
          <p:nvPr/>
        </p:nvSpPr>
        <p:spPr>
          <a:xfrm>
            <a:off x="10437876" y="1828800"/>
            <a:ext cx="1298448" cy="960120"/>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JSON</a:t>
            </a:r>
            <a:endParaRPr lang="en-US" sz="1250" dirty="0"/>
          </a:p>
          <a:p>
            <a:pPr algn="ctr" indent="0" marL="0">
              <a:buNone/>
            </a:pPr>
            <a:r>
              <a:rPr lang="en-US" sz="1250" b="1" dirty="0">
                <a:solidFill>
                  <a:srgbClr val="FFFFFF"/>
                </a:solidFill>
                <a:latin typeface="Calibri" pitchFamily="34" charset="0"/>
                <a:ea typeface="Calibri" pitchFamily="34" charset="-122"/>
                <a:cs typeface="Calibri" pitchFamily="34" charset="-120"/>
              </a:rPr>
              <a:t>Response</a:t>
            </a:r>
            <a:endParaRPr lang="en-US" sz="1250" dirty="0"/>
          </a:p>
        </p:txBody>
      </p:sp>
      <p:sp>
        <p:nvSpPr>
          <p:cNvPr id="27" name="Shape 25"/>
          <p:cNvSpPr/>
          <p:nvPr/>
        </p:nvSpPr>
        <p:spPr>
          <a:xfrm>
            <a:off x="548640" y="3154680"/>
            <a:ext cx="11064240" cy="2788920"/>
          </a:xfrm>
          <a:prstGeom prst="roundRect">
            <a:avLst>
              <a:gd name="adj" fmla="val 2623"/>
            </a:avLst>
          </a:prstGeom>
          <a:solidFill>
            <a:srgbClr val="FFFFFF"/>
          </a:solidFill>
          <a:ln/>
          <a:effectLst>
            <a:outerShdw sx="100000" sy="100000" kx="0" ky="0" algn="bl" rotWithShape="0" blurRad="101600" dist="25400" dir="5400000">
              <a:srgbClr val="1A1D29">
                <a:alpha val="12000"/>
              </a:srgbClr>
            </a:outerShdw>
          </a:effectLst>
        </p:spPr>
      </p:sp>
      <p:sp>
        <p:nvSpPr>
          <p:cNvPr id="28" name="Text 26"/>
          <p:cNvSpPr/>
          <p:nvPr/>
        </p:nvSpPr>
        <p:spPr>
          <a:xfrm>
            <a:off x="914400" y="3337560"/>
            <a:ext cx="5486400" cy="411480"/>
          </a:xfrm>
          <a:prstGeom prst="rect">
            <a:avLst/>
          </a:prstGeom>
          <a:noFill/>
          <a:ln/>
        </p:spPr>
        <p:txBody>
          <a:bodyPr wrap="square" rtlCol="0" anchor="ctr"/>
          <a:lstStyle/>
          <a:p>
            <a:pPr indent="0" marL="0">
              <a:buNone/>
            </a:pPr>
            <a:r>
              <a:rPr lang="en-US" sz="1800" b="1" dirty="0">
                <a:solidFill>
                  <a:srgbClr val="21295C"/>
                </a:solidFill>
                <a:latin typeface="Cambria" pitchFamily="34" charset="0"/>
                <a:ea typeface="Cambria" pitchFamily="34" charset="-122"/>
                <a:cs typeface="Cambria" pitchFamily="34" charset="-120"/>
              </a:rPr>
              <a:t>Backend Responsibilities</a:t>
            </a:r>
            <a:endParaRPr lang="en-US" sz="1800" dirty="0"/>
          </a:p>
        </p:txBody>
      </p:sp>
      <p:sp>
        <p:nvSpPr>
          <p:cNvPr id="29" name="Text 27"/>
          <p:cNvSpPr/>
          <p:nvPr/>
        </p:nvSpPr>
        <p:spPr>
          <a:xfrm>
            <a:off x="914400" y="3840480"/>
            <a:ext cx="4937760" cy="1737360"/>
          </a:xfrm>
          <a:prstGeom prst="rect">
            <a:avLst/>
          </a:prstGeom>
          <a:noFill/>
          <a:ln/>
        </p:spPr>
        <p:txBody>
          <a:bodyPr wrap="square" rtlCol="0" anchor="t"/>
          <a:lstStyle/>
          <a:p>
            <a:pPr marL="177800" indent="-177800">
              <a:spcAft>
                <a:spcPts val="1200"/>
              </a:spcAft>
              <a:buSzPct val="100000"/>
              <a:buChar char="▪"/>
            </a:pPr>
            <a:r>
              <a:rPr lang="en-US" sz="1450" dirty="0">
                <a:solidFill>
                  <a:srgbClr val="1A1D29"/>
                </a:solidFill>
                <a:latin typeface="Calibri" pitchFamily="34" charset="0"/>
                <a:ea typeface="Calibri" pitchFamily="34" charset="-122"/>
                <a:cs typeface="Calibri" pitchFamily="34" charset="-120"/>
              </a:rPr>
              <a:t>API routing</a:t>
            </a:r>
            <a:endParaRPr lang="en-US" sz="1450" dirty="0"/>
          </a:p>
          <a:p>
            <a:pPr marL="177800" indent="-177800">
              <a:spcAft>
                <a:spcPts val="1200"/>
              </a:spcAft>
              <a:buSzPct val="100000"/>
              <a:buChar char="▪"/>
            </a:pPr>
            <a:r>
              <a:rPr lang="en-US" sz="1450" dirty="0">
                <a:solidFill>
                  <a:srgbClr val="1A1D29"/>
                </a:solidFill>
                <a:latin typeface="Calibri" pitchFamily="34" charset="0"/>
                <a:ea typeface="Calibri" pitchFamily="34" charset="-122"/>
                <a:cs typeface="Calibri" pitchFamily="34" charset="-120"/>
              </a:rPr>
              <a:t>Request validation</a:t>
            </a:r>
            <a:endParaRPr lang="en-US" sz="1450" dirty="0"/>
          </a:p>
          <a:p>
            <a:pPr marL="177800" indent="-177800">
              <a:spcAft>
                <a:spcPts val="1200"/>
              </a:spcAft>
              <a:buSzPct val="100000"/>
              <a:buChar char="▪"/>
            </a:pPr>
            <a:r>
              <a:rPr lang="en-US" sz="1450" dirty="0">
                <a:solidFill>
                  <a:srgbClr val="1A1D29"/>
                </a:solidFill>
                <a:latin typeface="Calibri" pitchFamily="34" charset="0"/>
                <a:ea typeface="Calibri" pitchFamily="34" charset="-122"/>
                <a:cs typeface="Calibri" pitchFamily="34" charset="-120"/>
              </a:rPr>
              <a:t>Business logic</a:t>
            </a:r>
            <a:endParaRPr lang="en-US" sz="1450" dirty="0"/>
          </a:p>
        </p:txBody>
      </p:sp>
      <p:sp>
        <p:nvSpPr>
          <p:cNvPr id="30" name="Text 28"/>
          <p:cNvSpPr/>
          <p:nvPr/>
        </p:nvSpPr>
        <p:spPr>
          <a:xfrm>
            <a:off x="6217920" y="3840480"/>
            <a:ext cx="4937760" cy="1737360"/>
          </a:xfrm>
          <a:prstGeom prst="rect">
            <a:avLst/>
          </a:prstGeom>
          <a:noFill/>
          <a:ln/>
        </p:spPr>
        <p:txBody>
          <a:bodyPr wrap="square" rtlCol="0" anchor="t"/>
          <a:lstStyle/>
          <a:p>
            <a:pPr marL="177800" indent="-177800">
              <a:spcAft>
                <a:spcPts val="1200"/>
              </a:spcAft>
              <a:buSzPct val="100000"/>
              <a:buChar char="▪"/>
            </a:pPr>
            <a:r>
              <a:rPr lang="en-US" sz="1450" dirty="0">
                <a:solidFill>
                  <a:srgbClr val="1A1D29"/>
                </a:solidFill>
                <a:latin typeface="Calibri" pitchFamily="34" charset="0"/>
                <a:ea typeface="Calibri" pitchFamily="34" charset="-122"/>
                <a:cs typeface="Calibri" pitchFamily="34" charset="-120"/>
              </a:rPr>
              <a:t>External API integration</a:t>
            </a:r>
            <a:endParaRPr lang="en-US" sz="1450" dirty="0"/>
          </a:p>
          <a:p>
            <a:pPr marL="177800" indent="-177800">
              <a:spcAft>
                <a:spcPts val="1200"/>
              </a:spcAft>
              <a:buSzPct val="100000"/>
              <a:buChar char="▪"/>
            </a:pPr>
            <a:r>
              <a:rPr lang="en-US" sz="1450" dirty="0">
                <a:solidFill>
                  <a:srgbClr val="1A1D29"/>
                </a:solidFill>
                <a:latin typeface="Calibri" pitchFamily="34" charset="0"/>
                <a:ea typeface="Calibri" pitchFamily="34" charset="-122"/>
                <a:cs typeface="Calibri" pitchFamily="34" charset="-120"/>
              </a:rPr>
              <a:t>Response formatting</a:t>
            </a:r>
            <a:endParaRPr lang="en-US" sz="1450" dirty="0"/>
          </a:p>
          <a:p>
            <a:pPr marL="177800" indent="-177800">
              <a:spcAft>
                <a:spcPts val="1200"/>
              </a:spcAft>
              <a:buSzPct val="100000"/>
              <a:buChar char="▪"/>
            </a:pPr>
            <a:r>
              <a:rPr lang="en-US" sz="1450" dirty="0">
                <a:solidFill>
                  <a:srgbClr val="1A1D29"/>
                </a:solidFill>
                <a:latin typeface="Calibri" pitchFamily="34" charset="0"/>
                <a:ea typeface="Calibri" pitchFamily="34" charset="-122"/>
                <a:cs typeface="Calibri" pitchFamily="34" charset="-120"/>
              </a:rPr>
              <a:t>Error handling</a:t>
            </a:r>
            <a:endParaRPr lang="en-US" sz="1450" dirty="0"/>
          </a:p>
        </p:txBody>
      </p:sp>
      <p:sp>
        <p:nvSpPr>
          <p:cNvPr id="31" name="Text 29"/>
          <p:cNvSpPr/>
          <p:nvPr/>
        </p:nvSpPr>
        <p:spPr>
          <a:xfrm>
            <a:off x="914400" y="5623560"/>
            <a:ext cx="10332720" cy="320040"/>
          </a:xfrm>
          <a:prstGeom prst="rect">
            <a:avLst/>
          </a:prstGeom>
          <a:noFill/>
          <a:ln/>
        </p:spPr>
        <p:txBody>
          <a:bodyPr wrap="square" rtlCol="0" anchor="ctr"/>
          <a:lstStyle/>
          <a:p>
            <a:pPr indent="0" marL="0">
              <a:buNone/>
            </a:pPr>
            <a:r>
              <a:rPr lang="en-US" sz="1250" i="1" dirty="0">
                <a:solidFill>
                  <a:srgbClr val="1C7293"/>
                </a:solidFill>
                <a:latin typeface="Calibri" pitchFamily="34" charset="0"/>
                <a:ea typeface="Calibri" pitchFamily="34" charset="-122"/>
                <a:cs typeface="Calibri" pitchFamily="34" charset="-120"/>
              </a:rPr>
              <a:t>The Backend acts as a proxy server — the Frontend never calls external APIs directly, only through the Backend.</a:t>
            </a:r>
            <a:endParaRPr lang="en-US" sz="1250" dirty="0"/>
          </a:p>
        </p:txBody>
      </p:sp>
      <p:sp>
        <p:nvSpPr>
          <p:cNvPr id="32" name="Text 30"/>
          <p:cNvSpPr/>
          <p:nvPr/>
        </p:nvSpPr>
        <p:spPr>
          <a:xfrm>
            <a:off x="11365992" y="6355080"/>
            <a:ext cx="548640" cy="320040"/>
          </a:xfrm>
          <a:prstGeom prst="rect">
            <a:avLst/>
          </a:prstGeom>
          <a:noFill/>
          <a:ln/>
        </p:spPr>
        <p:txBody>
          <a:bodyPr wrap="square"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09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7F9"/>
        </a:solidFill>
      </p:bgPr>
    </p:bg>
    <p:spTree>
      <p:nvGrpSpPr>
        <p:cNvPr id="1" name=""/>
        <p:cNvGrpSpPr/>
        <p:nvPr/>
      </p:nvGrpSpPr>
      <p:grpSpPr>
        <a:xfrm>
          <a:off x="0" y="0"/>
          <a:ext cx="0" cy="0"/>
          <a:chOff x="0" y="0"/>
          <a:chExt cx="0" cy="0"/>
        </a:xfrm>
      </p:grpSpPr>
      <p:sp>
        <p:nvSpPr>
          <p:cNvPr id="2" name="Text 0"/>
          <p:cNvSpPr/>
          <p:nvPr/>
        </p:nvSpPr>
        <p:spPr>
          <a:xfrm>
            <a:off x="548640" y="411480"/>
            <a:ext cx="7315200" cy="36576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AI VECTOR SEARCH</a:t>
            </a:r>
            <a:endParaRPr lang="en-US" sz="1300" dirty="0"/>
          </a:p>
        </p:txBody>
      </p:sp>
      <p:sp>
        <p:nvSpPr>
          <p:cNvPr id="3" name="Text 1"/>
          <p:cNvSpPr/>
          <p:nvPr/>
        </p:nvSpPr>
        <p:spPr>
          <a:xfrm>
            <a:off x="548640" y="731520"/>
            <a:ext cx="10515600" cy="822960"/>
          </a:xfrm>
          <a:prstGeom prst="rect">
            <a:avLst/>
          </a:prstGeom>
          <a:noFill/>
          <a:ln/>
        </p:spPr>
        <p:txBody>
          <a:bodyPr wrap="square" rtlCol="0" anchor="ctr"/>
          <a:lstStyle/>
          <a:p>
            <a:pPr indent="0" marL="0">
              <a:buNone/>
            </a:pPr>
            <a:r>
              <a:rPr lang="en-US" sz="3400" b="1" dirty="0">
                <a:solidFill>
                  <a:srgbClr val="21295C"/>
                </a:solidFill>
                <a:latin typeface="Cambria" pitchFamily="34" charset="0"/>
                <a:ea typeface="Cambria" pitchFamily="34" charset="-122"/>
                <a:cs typeface="Cambria" pitchFamily="34" charset="-120"/>
              </a:rPr>
              <a:t>Meaning Beats Matching</a:t>
            </a:r>
            <a:endParaRPr lang="en-US" sz="3400" dirty="0"/>
          </a:p>
        </p:txBody>
      </p:sp>
      <p:sp>
        <p:nvSpPr>
          <p:cNvPr id="4" name="Shape 2"/>
          <p:cNvSpPr/>
          <p:nvPr/>
        </p:nvSpPr>
        <p:spPr>
          <a:xfrm>
            <a:off x="548640" y="1737360"/>
            <a:ext cx="5212080" cy="4023360"/>
          </a:xfrm>
          <a:prstGeom prst="roundRect">
            <a:avLst>
              <a:gd name="adj" fmla="val 1818"/>
            </a:avLst>
          </a:prstGeom>
          <a:solidFill>
            <a:srgbClr val="FFFFFF"/>
          </a:solidFill>
          <a:ln/>
          <a:effectLst>
            <a:outerShdw sx="100000" sy="100000" kx="0" ky="0" algn="bl" rotWithShape="0" blurRad="101600" dist="25400" dir="5400000">
              <a:srgbClr val="1A1D29">
                <a:alpha val="12000"/>
              </a:srgbClr>
            </a:outerShdw>
          </a:effectLst>
        </p:spPr>
      </p:sp>
      <p:sp>
        <p:nvSpPr>
          <p:cNvPr id="5" name="Shape 3"/>
          <p:cNvSpPr/>
          <p:nvPr/>
        </p:nvSpPr>
        <p:spPr>
          <a:xfrm>
            <a:off x="914400" y="2011680"/>
            <a:ext cx="502920" cy="502920"/>
          </a:xfrm>
          <a:prstGeom prst="ellipse">
            <a:avLst/>
          </a:prstGeom>
          <a:solidFill>
            <a:srgbClr val="5A6472"/>
          </a:solidFill>
          <a:ln/>
        </p:spPr>
      </p:sp>
      <p:sp>
        <p:nvSpPr>
          <p:cNvPr id="6" name="Text 4"/>
          <p:cNvSpPr/>
          <p:nvPr/>
        </p:nvSpPr>
        <p:spPr>
          <a:xfrm>
            <a:off x="914400" y="2011680"/>
            <a:ext cx="502920" cy="502920"/>
          </a:xfrm>
          <a:prstGeom prst="rect">
            <a:avLst/>
          </a:prstGeom>
          <a:noFill/>
          <a:ln/>
        </p:spPr>
        <p:txBody>
          <a:bodyPr wrap="square" rtlCol="0" anchor="ctr"/>
          <a:lstStyle/>
          <a:p>
            <a:pPr algn="ctr" indent="0" marL="0">
              <a:buNone/>
            </a:pPr>
            <a:r>
              <a:rPr lang="en-US" sz="1870" dirty="0">
                <a:solidFill>
                  <a:srgbClr val="FFFFFF"/>
                </a:solidFill>
                <a:latin typeface="Calibri" pitchFamily="34" charset="0"/>
                <a:ea typeface="Calibri" pitchFamily="34" charset="-122"/>
                <a:cs typeface="Calibri" pitchFamily="34" charset="-120"/>
              </a:rPr>
              <a:t>🔤</a:t>
            </a:r>
            <a:endParaRPr lang="en-US" sz="1870" dirty="0"/>
          </a:p>
        </p:txBody>
      </p:sp>
      <p:sp>
        <p:nvSpPr>
          <p:cNvPr id="7" name="Text 5"/>
          <p:cNvSpPr/>
          <p:nvPr/>
        </p:nvSpPr>
        <p:spPr>
          <a:xfrm>
            <a:off x="1600200" y="2057400"/>
            <a:ext cx="4023360" cy="548640"/>
          </a:xfrm>
          <a:prstGeom prst="rect">
            <a:avLst/>
          </a:prstGeom>
          <a:noFill/>
          <a:ln/>
        </p:spPr>
        <p:txBody>
          <a:bodyPr wrap="square" rtlCol="0" anchor="ctr"/>
          <a:lstStyle/>
          <a:p>
            <a:pPr indent="0" marL="0">
              <a:buNone/>
            </a:pPr>
            <a:r>
              <a:rPr lang="en-US" sz="1600" b="1" dirty="0">
                <a:solidFill>
                  <a:srgbClr val="21295C"/>
                </a:solidFill>
                <a:latin typeface="Cambria" pitchFamily="34" charset="0"/>
                <a:ea typeface="Cambria" pitchFamily="34" charset="-122"/>
                <a:cs typeface="Cambria" pitchFamily="34" charset="-120"/>
              </a:rPr>
              <a:t>Traditional Keyword Search</a:t>
            </a:r>
            <a:endParaRPr lang="en-US" sz="1600" dirty="0"/>
          </a:p>
        </p:txBody>
      </p:sp>
      <p:sp>
        <p:nvSpPr>
          <p:cNvPr id="8" name="Text 6"/>
          <p:cNvSpPr/>
          <p:nvPr/>
        </p:nvSpPr>
        <p:spPr>
          <a:xfrm>
            <a:off x="914400" y="2743200"/>
            <a:ext cx="4572000" cy="1463040"/>
          </a:xfrm>
          <a:prstGeom prst="rect">
            <a:avLst/>
          </a:prstGeom>
          <a:noFill/>
          <a:ln/>
        </p:spPr>
        <p:txBody>
          <a:bodyPr wrap="square" rtlCol="0" anchor="t"/>
          <a:lstStyle/>
          <a:p>
            <a:pPr marL="177800" indent="-177800">
              <a:spcAft>
                <a:spcPts val="1000"/>
              </a:spcAft>
              <a:buSzPct val="100000"/>
              <a:buChar char="▪"/>
            </a:pPr>
            <a:r>
              <a:rPr lang="en-US" sz="1350" dirty="0">
                <a:solidFill>
                  <a:srgbClr val="1A1D29"/>
                </a:solidFill>
                <a:latin typeface="Calibri" pitchFamily="34" charset="0"/>
                <a:ea typeface="Calibri" pitchFamily="34" charset="-122"/>
                <a:cs typeface="Calibri" pitchFamily="34" charset="-120"/>
              </a:rPr>
              <a:t>Returns results only on exact word match</a:t>
            </a:r>
            <a:endParaRPr lang="en-US" sz="1350" dirty="0"/>
          </a:p>
          <a:p>
            <a:pPr marL="177800" indent="-177800">
              <a:spcAft>
                <a:spcPts val="1000"/>
              </a:spcAft>
              <a:buSzPct val="100000"/>
              <a:buChar char="▪"/>
            </a:pPr>
            <a:r>
              <a:rPr lang="en-US" sz="1350" dirty="0">
                <a:solidFill>
                  <a:srgbClr val="1A1D29"/>
                </a:solidFill>
                <a:latin typeface="Calibri" pitchFamily="34" charset="0"/>
                <a:ea typeface="Calibri" pitchFamily="34" charset="-122"/>
                <a:cs typeface="Calibri" pitchFamily="34" charset="-120"/>
              </a:rPr>
              <a:t>Cannot understand user intent</a:t>
            </a:r>
            <a:endParaRPr lang="en-US" sz="1350" dirty="0"/>
          </a:p>
          <a:p>
            <a:pPr marL="177800" indent="-177800">
              <a:spcAft>
                <a:spcPts val="1000"/>
              </a:spcAft>
              <a:buSzPct val="100000"/>
              <a:buChar char="▪"/>
            </a:pPr>
            <a:r>
              <a:rPr lang="en-US" sz="1350" dirty="0">
                <a:solidFill>
                  <a:srgbClr val="1A1D29"/>
                </a:solidFill>
                <a:latin typeface="Calibri" pitchFamily="34" charset="0"/>
                <a:ea typeface="Calibri" pitchFamily="34" charset="-122"/>
                <a:cs typeface="Calibri" pitchFamily="34" charset="-120"/>
              </a:rPr>
              <a:t>Cannot connect words with similar meaning</a:t>
            </a:r>
            <a:endParaRPr lang="en-US" sz="1350" dirty="0"/>
          </a:p>
        </p:txBody>
      </p:sp>
      <p:sp>
        <p:nvSpPr>
          <p:cNvPr id="9" name="Shape 7"/>
          <p:cNvSpPr/>
          <p:nvPr/>
        </p:nvSpPr>
        <p:spPr>
          <a:xfrm>
            <a:off x="914400" y="4251960"/>
            <a:ext cx="4480560" cy="0"/>
          </a:xfrm>
          <a:prstGeom prst="line">
            <a:avLst/>
          </a:prstGeom>
          <a:noFill/>
          <a:ln w="19050">
            <a:solidFill>
              <a:srgbClr val="F4F7F9"/>
            </a:solidFill>
            <a:prstDash val="solid"/>
          </a:ln>
        </p:spPr>
      </p:sp>
      <p:sp>
        <p:nvSpPr>
          <p:cNvPr id="10" name="Text 8"/>
          <p:cNvSpPr/>
          <p:nvPr/>
        </p:nvSpPr>
        <p:spPr>
          <a:xfrm>
            <a:off x="914400" y="4434840"/>
            <a:ext cx="4572000" cy="1097280"/>
          </a:xfrm>
          <a:prstGeom prst="rect">
            <a:avLst/>
          </a:prstGeom>
          <a:noFill/>
          <a:ln/>
        </p:spPr>
        <p:txBody>
          <a:bodyPr wrap="square" rtlCol="0" anchor="t"/>
          <a:lstStyle/>
          <a:p>
            <a:pPr indent="0" marL="0">
              <a:buNone/>
            </a:pPr>
            <a:r>
              <a:rPr lang="en-US" sz="1350" i="1" dirty="0">
                <a:solidFill>
                  <a:srgbClr val="5A6472"/>
                </a:solidFill>
                <a:latin typeface="Calibri" pitchFamily="34" charset="0"/>
                <a:ea typeface="Calibri" pitchFamily="34" charset="-122"/>
                <a:cs typeface="Calibri" pitchFamily="34" charset="-120"/>
              </a:rPr>
              <a:t>Search: "Coffee"  →  Result: "Coffee House" only</a:t>
            </a:r>
            <a:endParaRPr lang="en-US" sz="1350" dirty="0"/>
          </a:p>
        </p:txBody>
      </p:sp>
      <p:sp>
        <p:nvSpPr>
          <p:cNvPr id="11" name="Shape 9"/>
          <p:cNvSpPr/>
          <p:nvPr/>
        </p:nvSpPr>
        <p:spPr>
          <a:xfrm>
            <a:off x="6035040" y="1737360"/>
            <a:ext cx="5577840" cy="4023360"/>
          </a:xfrm>
          <a:prstGeom prst="roundRect">
            <a:avLst>
              <a:gd name="adj" fmla="val 1818"/>
            </a:avLst>
          </a:prstGeom>
          <a:solidFill>
            <a:srgbClr val="21295C"/>
          </a:solidFill>
          <a:ln/>
          <a:effectLst>
            <a:outerShdw sx="100000" sy="100000" kx="0" ky="0" algn="bl" rotWithShape="0" blurRad="101600" dist="25400" dir="5400000">
              <a:srgbClr val="1A1D29">
                <a:alpha val="12000"/>
              </a:srgbClr>
            </a:outerShdw>
          </a:effectLst>
        </p:spPr>
      </p:sp>
      <p:sp>
        <p:nvSpPr>
          <p:cNvPr id="12" name="Shape 10"/>
          <p:cNvSpPr/>
          <p:nvPr/>
        </p:nvSpPr>
        <p:spPr>
          <a:xfrm>
            <a:off x="6400800" y="2011680"/>
            <a:ext cx="502920" cy="502920"/>
          </a:xfrm>
          <a:prstGeom prst="ellipse">
            <a:avLst/>
          </a:prstGeom>
          <a:solidFill>
            <a:srgbClr val="5FD3C4"/>
          </a:solidFill>
          <a:ln/>
        </p:spPr>
      </p:sp>
      <p:sp>
        <p:nvSpPr>
          <p:cNvPr id="13" name="Text 11"/>
          <p:cNvSpPr/>
          <p:nvPr/>
        </p:nvSpPr>
        <p:spPr>
          <a:xfrm>
            <a:off x="6400800" y="2011680"/>
            <a:ext cx="502920" cy="502920"/>
          </a:xfrm>
          <a:prstGeom prst="rect">
            <a:avLst/>
          </a:prstGeom>
          <a:noFill/>
          <a:ln/>
        </p:spPr>
        <p:txBody>
          <a:bodyPr wrap="square" rtlCol="0" anchor="ctr"/>
          <a:lstStyle/>
          <a:p>
            <a:pPr algn="ctr" indent="0" marL="0">
              <a:buNone/>
            </a:pPr>
            <a:r>
              <a:rPr lang="en-US" sz="1870" dirty="0">
                <a:solidFill>
                  <a:srgbClr val="21295C"/>
                </a:solidFill>
                <a:latin typeface="Calibri" pitchFamily="34" charset="0"/>
                <a:ea typeface="Calibri" pitchFamily="34" charset="-122"/>
                <a:cs typeface="Calibri" pitchFamily="34" charset="-120"/>
              </a:rPr>
              <a:t>✦</a:t>
            </a:r>
            <a:endParaRPr lang="en-US" sz="1870" dirty="0"/>
          </a:p>
        </p:txBody>
      </p:sp>
      <p:sp>
        <p:nvSpPr>
          <p:cNvPr id="14" name="Text 12"/>
          <p:cNvSpPr/>
          <p:nvPr/>
        </p:nvSpPr>
        <p:spPr>
          <a:xfrm>
            <a:off x="7086600" y="2057400"/>
            <a:ext cx="4206240" cy="548640"/>
          </a:xfrm>
          <a:prstGeom prst="rect">
            <a:avLst/>
          </a:prstGeom>
          <a:noFill/>
          <a:ln/>
        </p:spPr>
        <p:txBody>
          <a:bodyPr wrap="square"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AI Vector Search</a:t>
            </a:r>
            <a:endParaRPr lang="en-US" sz="1600" dirty="0"/>
          </a:p>
        </p:txBody>
      </p:sp>
      <p:sp>
        <p:nvSpPr>
          <p:cNvPr id="15" name="Text 13"/>
          <p:cNvSpPr/>
          <p:nvPr/>
        </p:nvSpPr>
        <p:spPr>
          <a:xfrm>
            <a:off x="6400800" y="2743200"/>
            <a:ext cx="4937760" cy="1463040"/>
          </a:xfrm>
          <a:prstGeom prst="rect">
            <a:avLst/>
          </a:prstGeom>
          <a:noFill/>
          <a:ln/>
        </p:spPr>
        <p:txBody>
          <a:bodyPr wrap="square" rtlCol="0" anchor="t"/>
          <a:lstStyle/>
          <a:p>
            <a:pPr marL="177800" indent="-177800">
              <a:spcAft>
                <a:spcPts val="1000"/>
              </a:spcAft>
              <a:buSzPct val="100000"/>
              <a:buChar char="▪"/>
            </a:pPr>
            <a:r>
              <a:rPr lang="en-US" sz="1350" dirty="0">
                <a:solidFill>
                  <a:srgbClr val="E4ECF5"/>
                </a:solidFill>
                <a:latin typeface="Calibri" pitchFamily="34" charset="0"/>
                <a:ea typeface="Calibri" pitchFamily="34" charset="-122"/>
                <a:cs typeface="Calibri" pitchFamily="34" charset="-120"/>
              </a:rPr>
              <a:t>Understands the meaning of a query</a:t>
            </a:r>
            <a:endParaRPr lang="en-US" sz="1350" dirty="0"/>
          </a:p>
          <a:p>
            <a:pPr marL="177800" indent="-177800">
              <a:spcAft>
                <a:spcPts val="1000"/>
              </a:spcAft>
              <a:buSzPct val="100000"/>
              <a:buChar char="▪"/>
            </a:pPr>
            <a:r>
              <a:rPr lang="en-US" sz="1350" dirty="0">
                <a:solidFill>
                  <a:srgbClr val="E4ECF5"/>
                </a:solidFill>
                <a:latin typeface="Calibri" pitchFamily="34" charset="0"/>
                <a:ea typeface="Calibri" pitchFamily="34" charset="-122"/>
                <a:cs typeface="Calibri" pitchFamily="34" charset="-120"/>
              </a:rPr>
              <a:t>Returns results based on semantic similarity</a:t>
            </a:r>
            <a:endParaRPr lang="en-US" sz="1350" dirty="0"/>
          </a:p>
          <a:p>
            <a:pPr marL="177800" indent="-177800">
              <a:spcAft>
                <a:spcPts val="1000"/>
              </a:spcAft>
              <a:buSzPct val="100000"/>
              <a:buChar char="▪"/>
            </a:pPr>
            <a:r>
              <a:rPr lang="en-US" sz="1350" dirty="0">
                <a:solidFill>
                  <a:srgbClr val="E4ECF5"/>
                </a:solidFill>
                <a:latin typeface="Calibri" pitchFamily="34" charset="0"/>
                <a:ea typeface="Calibri" pitchFamily="34" charset="-122"/>
                <a:cs typeface="Calibri" pitchFamily="34" charset="-120"/>
              </a:rPr>
              <a:t>Delivers a noticeably better user experience</a:t>
            </a:r>
            <a:endParaRPr lang="en-US" sz="1350" dirty="0"/>
          </a:p>
        </p:txBody>
      </p:sp>
      <p:sp>
        <p:nvSpPr>
          <p:cNvPr id="16" name="Shape 14"/>
          <p:cNvSpPr/>
          <p:nvPr/>
        </p:nvSpPr>
        <p:spPr>
          <a:xfrm>
            <a:off x="6400800" y="4251960"/>
            <a:ext cx="4846320" cy="0"/>
          </a:xfrm>
          <a:prstGeom prst="line">
            <a:avLst/>
          </a:prstGeom>
          <a:noFill/>
          <a:ln w="19050">
            <a:solidFill>
              <a:srgbClr val="3A4570"/>
            </a:solidFill>
            <a:prstDash val="solid"/>
          </a:ln>
        </p:spPr>
      </p:sp>
      <p:sp>
        <p:nvSpPr>
          <p:cNvPr id="17" name="Text 15"/>
          <p:cNvSpPr/>
          <p:nvPr/>
        </p:nvSpPr>
        <p:spPr>
          <a:xfrm>
            <a:off x="6400800" y="4434840"/>
            <a:ext cx="4937760" cy="365760"/>
          </a:xfrm>
          <a:prstGeom prst="rect">
            <a:avLst/>
          </a:prstGeom>
          <a:noFill/>
          <a:ln/>
        </p:spPr>
        <p:txBody>
          <a:bodyPr wrap="square" rtlCol="0" anchor="ctr"/>
          <a:lstStyle/>
          <a:p>
            <a:pPr indent="0" marL="0">
              <a:buNone/>
            </a:pPr>
            <a:r>
              <a:rPr lang="en-US" sz="1350" i="1" dirty="0">
                <a:solidFill>
                  <a:srgbClr val="CADCFC"/>
                </a:solidFill>
                <a:latin typeface="Calibri" pitchFamily="34" charset="0"/>
                <a:ea typeface="Calibri" pitchFamily="34" charset="-122"/>
                <a:cs typeface="Calibri" pitchFamily="34" charset="-120"/>
              </a:rPr>
              <a:t>Search: "Good place for studying"</a:t>
            </a:r>
            <a:endParaRPr lang="en-US" sz="1350" dirty="0"/>
          </a:p>
        </p:txBody>
      </p:sp>
      <p:sp>
        <p:nvSpPr>
          <p:cNvPr id="18" name="Text 16"/>
          <p:cNvSpPr/>
          <p:nvPr/>
        </p:nvSpPr>
        <p:spPr>
          <a:xfrm>
            <a:off x="6400800" y="4846320"/>
            <a:ext cx="4937760" cy="914400"/>
          </a:xfrm>
          <a:prstGeom prst="rect">
            <a:avLst/>
          </a:prstGeom>
          <a:noFill/>
          <a:ln/>
        </p:spPr>
        <p:txBody>
          <a:bodyPr wrap="square" rtlCol="0" anchor="t"/>
          <a:lstStyle/>
          <a:p>
            <a:pPr marL="177800" indent="-177800">
              <a:spcAft>
                <a:spcPts val="300"/>
              </a:spcAft>
              <a:buSzPct val="100000"/>
              <a:buChar char="▪"/>
            </a:pPr>
            <a:r>
              <a:rPr lang="en-US" sz="1250" dirty="0">
                <a:solidFill>
                  <a:srgbClr val="5FD3C4"/>
                </a:solidFill>
                <a:latin typeface="Calibri" pitchFamily="34" charset="0"/>
                <a:ea typeface="Calibri" pitchFamily="34" charset="-122"/>
                <a:cs typeface="Calibri" pitchFamily="34" charset="-120"/>
              </a:rPr>
              <a:t>Coffee Shop</a:t>
            </a:r>
            <a:endParaRPr lang="en-US" sz="1250" dirty="0"/>
          </a:p>
          <a:p>
            <a:pPr marL="177800" indent="-177800">
              <a:spcAft>
                <a:spcPts val="300"/>
              </a:spcAft>
              <a:buSzPct val="100000"/>
              <a:buChar char="▪"/>
            </a:pPr>
            <a:r>
              <a:rPr lang="en-US" sz="1250" dirty="0">
                <a:solidFill>
                  <a:srgbClr val="5FD3C4"/>
                </a:solidFill>
                <a:latin typeface="Calibri" pitchFamily="34" charset="0"/>
                <a:ea typeface="Calibri" pitchFamily="34" charset="-122"/>
                <a:cs typeface="Calibri" pitchFamily="34" charset="-120"/>
              </a:rPr>
              <a:t>Quiet Cafe</a:t>
            </a:r>
            <a:endParaRPr lang="en-US" sz="1250" dirty="0"/>
          </a:p>
          <a:p>
            <a:pPr marL="177800" indent="-177800">
              <a:spcAft>
                <a:spcPts val="300"/>
              </a:spcAft>
              <a:buSzPct val="100000"/>
              <a:buChar char="▪"/>
            </a:pPr>
            <a:r>
              <a:rPr lang="en-US" sz="1250" dirty="0">
                <a:solidFill>
                  <a:srgbClr val="5FD3C4"/>
                </a:solidFill>
                <a:latin typeface="Calibri" pitchFamily="34" charset="0"/>
                <a:ea typeface="Calibri" pitchFamily="34" charset="-122"/>
                <a:cs typeface="Calibri" pitchFamily="34" charset="-120"/>
              </a:rPr>
              <a:t>Library Cafe</a:t>
            </a:r>
            <a:endParaRPr lang="en-US" sz="1250" dirty="0"/>
          </a:p>
          <a:p>
            <a:pPr marL="177800" indent="-177800">
              <a:spcAft>
                <a:spcPts val="300"/>
              </a:spcAft>
              <a:buSzPct val="100000"/>
              <a:buChar char="▪"/>
            </a:pPr>
            <a:r>
              <a:rPr lang="en-US" sz="1250" dirty="0">
                <a:solidFill>
                  <a:srgbClr val="5FD3C4"/>
                </a:solidFill>
                <a:latin typeface="Calibri" pitchFamily="34" charset="0"/>
                <a:ea typeface="Calibri" pitchFamily="34" charset="-122"/>
                <a:cs typeface="Calibri" pitchFamily="34" charset="-120"/>
              </a:rPr>
              <a:t>Workspace Cafe</a:t>
            </a:r>
            <a:endParaRPr lang="en-US" sz="1250" dirty="0"/>
          </a:p>
        </p:txBody>
      </p:sp>
      <p:sp>
        <p:nvSpPr>
          <p:cNvPr id="19" name="Text 17"/>
          <p:cNvSpPr/>
          <p:nvPr/>
        </p:nvSpPr>
        <p:spPr>
          <a:xfrm>
            <a:off x="11365992" y="6355080"/>
            <a:ext cx="548640" cy="320040"/>
          </a:xfrm>
          <a:prstGeom prst="rect">
            <a:avLst/>
          </a:prstGeom>
          <a:noFill/>
          <a:ln/>
        </p:spPr>
        <p:txBody>
          <a:bodyPr wrap="square"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7F9"/>
        </a:solidFill>
      </p:bgPr>
    </p:bg>
    <p:spTree>
      <p:nvGrpSpPr>
        <p:cNvPr id="1" name=""/>
        <p:cNvGrpSpPr/>
        <p:nvPr/>
      </p:nvGrpSpPr>
      <p:grpSpPr>
        <a:xfrm>
          <a:off x="0" y="0"/>
          <a:ext cx="0" cy="0"/>
          <a:chOff x="0" y="0"/>
          <a:chExt cx="0" cy="0"/>
        </a:xfrm>
      </p:grpSpPr>
      <p:sp>
        <p:nvSpPr>
          <p:cNvPr id="2" name="Text 0"/>
          <p:cNvSpPr/>
          <p:nvPr/>
        </p:nvSpPr>
        <p:spPr>
          <a:xfrm>
            <a:off x="548640" y="411480"/>
            <a:ext cx="7315200" cy="36576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API FLOW</a:t>
            </a:r>
            <a:endParaRPr lang="en-US" sz="1300" dirty="0"/>
          </a:p>
        </p:txBody>
      </p:sp>
      <p:sp>
        <p:nvSpPr>
          <p:cNvPr id="3" name="Text 1"/>
          <p:cNvSpPr/>
          <p:nvPr/>
        </p:nvSpPr>
        <p:spPr>
          <a:xfrm>
            <a:off x="548640" y="731520"/>
            <a:ext cx="10515600" cy="822960"/>
          </a:xfrm>
          <a:prstGeom prst="rect">
            <a:avLst/>
          </a:prstGeom>
          <a:noFill/>
          <a:ln/>
        </p:spPr>
        <p:txBody>
          <a:bodyPr wrap="square" rtlCol="0" anchor="ctr"/>
          <a:lstStyle/>
          <a:p>
            <a:pPr indent="0" marL="0">
              <a:buNone/>
            </a:pPr>
            <a:r>
              <a:rPr lang="en-US" sz="3400" b="1" dirty="0">
                <a:solidFill>
                  <a:srgbClr val="21295C"/>
                </a:solidFill>
                <a:latin typeface="Cambria" pitchFamily="34" charset="0"/>
                <a:ea typeface="Cambria" pitchFamily="34" charset="-122"/>
                <a:cs typeface="Cambria" pitchFamily="34" charset="-120"/>
              </a:rPr>
              <a:t>Request &amp; Response Lifecycle</a:t>
            </a:r>
            <a:endParaRPr lang="en-US" sz="3400" dirty="0"/>
          </a:p>
        </p:txBody>
      </p:sp>
      <p:sp>
        <p:nvSpPr>
          <p:cNvPr id="4" name="Shape 2"/>
          <p:cNvSpPr/>
          <p:nvPr/>
        </p:nvSpPr>
        <p:spPr>
          <a:xfrm>
            <a:off x="425196" y="1920240"/>
            <a:ext cx="1463040" cy="914400"/>
          </a:xfrm>
          <a:prstGeom prst="roundRect">
            <a:avLst>
              <a:gd name="adj" fmla="val 6000"/>
            </a:avLst>
          </a:prstGeom>
          <a:solidFill>
            <a:srgbClr val="5A6472"/>
          </a:solidFill>
          <a:ln/>
        </p:spPr>
      </p:sp>
      <p:sp>
        <p:nvSpPr>
          <p:cNvPr id="5" name="Text 3"/>
          <p:cNvSpPr/>
          <p:nvPr/>
        </p:nvSpPr>
        <p:spPr>
          <a:xfrm>
            <a:off x="425196" y="1920240"/>
            <a:ext cx="1463040" cy="914400"/>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User</a:t>
            </a:r>
            <a:endParaRPr lang="en-US" sz="1250" dirty="0"/>
          </a:p>
        </p:txBody>
      </p:sp>
      <p:sp>
        <p:nvSpPr>
          <p:cNvPr id="6" name="Shape 4"/>
          <p:cNvSpPr/>
          <p:nvPr/>
        </p:nvSpPr>
        <p:spPr>
          <a:xfrm>
            <a:off x="1897380" y="2348179"/>
            <a:ext cx="146304" cy="87782"/>
          </a:xfrm>
          <a:prstGeom prst="rightArrow">
            <a:avLst/>
          </a:prstGeom>
          <a:solidFill>
            <a:srgbClr val="1C7293"/>
          </a:solidFill>
          <a:ln/>
        </p:spPr>
      </p:sp>
      <p:sp>
        <p:nvSpPr>
          <p:cNvPr id="7" name="Shape 5"/>
          <p:cNvSpPr/>
          <p:nvPr/>
        </p:nvSpPr>
        <p:spPr>
          <a:xfrm>
            <a:off x="2071116" y="1920240"/>
            <a:ext cx="1463040" cy="914400"/>
          </a:xfrm>
          <a:prstGeom prst="roundRect">
            <a:avLst>
              <a:gd name="adj" fmla="val 6000"/>
            </a:avLst>
          </a:prstGeom>
          <a:solidFill>
            <a:srgbClr val="065A82"/>
          </a:solidFill>
          <a:ln/>
        </p:spPr>
      </p:sp>
      <p:sp>
        <p:nvSpPr>
          <p:cNvPr id="8" name="Text 6"/>
          <p:cNvSpPr/>
          <p:nvPr/>
        </p:nvSpPr>
        <p:spPr>
          <a:xfrm>
            <a:off x="2071116" y="1920240"/>
            <a:ext cx="1463040" cy="914400"/>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Frontend</a:t>
            </a:r>
            <a:endParaRPr lang="en-US" sz="1250" dirty="0"/>
          </a:p>
        </p:txBody>
      </p:sp>
      <p:sp>
        <p:nvSpPr>
          <p:cNvPr id="9" name="Shape 7"/>
          <p:cNvSpPr/>
          <p:nvPr/>
        </p:nvSpPr>
        <p:spPr>
          <a:xfrm>
            <a:off x="3543300" y="2348179"/>
            <a:ext cx="146304" cy="87782"/>
          </a:xfrm>
          <a:prstGeom prst="rightArrow">
            <a:avLst/>
          </a:prstGeom>
          <a:solidFill>
            <a:srgbClr val="1C7293"/>
          </a:solidFill>
          <a:ln/>
        </p:spPr>
      </p:sp>
      <p:sp>
        <p:nvSpPr>
          <p:cNvPr id="10" name="Shape 8"/>
          <p:cNvSpPr/>
          <p:nvPr/>
        </p:nvSpPr>
        <p:spPr>
          <a:xfrm>
            <a:off x="3717036" y="1920240"/>
            <a:ext cx="1463040" cy="914400"/>
          </a:xfrm>
          <a:prstGeom prst="roundRect">
            <a:avLst>
              <a:gd name="adj" fmla="val 6000"/>
            </a:avLst>
          </a:prstGeom>
          <a:solidFill>
            <a:srgbClr val="21295C"/>
          </a:solidFill>
          <a:ln/>
        </p:spPr>
      </p:sp>
      <p:sp>
        <p:nvSpPr>
          <p:cNvPr id="11" name="Text 9"/>
          <p:cNvSpPr/>
          <p:nvPr/>
        </p:nvSpPr>
        <p:spPr>
          <a:xfrm>
            <a:off x="3717036" y="1920240"/>
            <a:ext cx="1463040" cy="914400"/>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Backend</a:t>
            </a:r>
            <a:endParaRPr lang="en-US" sz="1250" dirty="0"/>
          </a:p>
          <a:p>
            <a:pPr algn="ctr" indent="0" marL="0">
              <a:buNone/>
            </a:pPr>
            <a:r>
              <a:rPr lang="en-US" sz="1250" b="1" dirty="0">
                <a:solidFill>
                  <a:srgbClr val="FFFFFF"/>
                </a:solidFill>
                <a:latin typeface="Calibri" pitchFamily="34" charset="0"/>
                <a:ea typeface="Calibri" pitchFamily="34" charset="-122"/>
                <a:cs typeface="Calibri" pitchFamily="34" charset="-120"/>
              </a:rPr>
              <a:t>(validate)</a:t>
            </a:r>
            <a:endParaRPr lang="en-US" sz="1250" dirty="0"/>
          </a:p>
        </p:txBody>
      </p:sp>
      <p:sp>
        <p:nvSpPr>
          <p:cNvPr id="12" name="Shape 10"/>
          <p:cNvSpPr/>
          <p:nvPr/>
        </p:nvSpPr>
        <p:spPr>
          <a:xfrm>
            <a:off x="5189220" y="2348179"/>
            <a:ext cx="146304" cy="87782"/>
          </a:xfrm>
          <a:prstGeom prst="rightArrow">
            <a:avLst/>
          </a:prstGeom>
          <a:solidFill>
            <a:srgbClr val="1C7293"/>
          </a:solidFill>
          <a:ln/>
        </p:spPr>
      </p:sp>
      <p:sp>
        <p:nvSpPr>
          <p:cNvPr id="13" name="Shape 11"/>
          <p:cNvSpPr/>
          <p:nvPr/>
        </p:nvSpPr>
        <p:spPr>
          <a:xfrm>
            <a:off x="5362956" y="1920240"/>
            <a:ext cx="1463040" cy="914400"/>
          </a:xfrm>
          <a:prstGeom prst="roundRect">
            <a:avLst>
              <a:gd name="adj" fmla="val 6000"/>
            </a:avLst>
          </a:prstGeom>
          <a:solidFill>
            <a:srgbClr val="1C7293"/>
          </a:solidFill>
          <a:ln/>
        </p:spPr>
      </p:sp>
      <p:sp>
        <p:nvSpPr>
          <p:cNvPr id="14" name="Text 12"/>
          <p:cNvSpPr/>
          <p:nvPr/>
        </p:nvSpPr>
        <p:spPr>
          <a:xfrm>
            <a:off x="5362956" y="1920240"/>
            <a:ext cx="1463040" cy="914400"/>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Places API</a:t>
            </a:r>
            <a:endParaRPr lang="en-US" sz="1250" dirty="0"/>
          </a:p>
        </p:txBody>
      </p:sp>
      <p:sp>
        <p:nvSpPr>
          <p:cNvPr id="15" name="Shape 13"/>
          <p:cNvSpPr/>
          <p:nvPr/>
        </p:nvSpPr>
        <p:spPr>
          <a:xfrm>
            <a:off x="6835140" y="2348179"/>
            <a:ext cx="146304" cy="87782"/>
          </a:xfrm>
          <a:prstGeom prst="rightArrow">
            <a:avLst/>
          </a:prstGeom>
          <a:solidFill>
            <a:srgbClr val="1C7293"/>
          </a:solidFill>
          <a:ln/>
        </p:spPr>
      </p:sp>
      <p:sp>
        <p:nvSpPr>
          <p:cNvPr id="16" name="Shape 14"/>
          <p:cNvSpPr/>
          <p:nvPr/>
        </p:nvSpPr>
        <p:spPr>
          <a:xfrm>
            <a:off x="7008876" y="1920240"/>
            <a:ext cx="1463040" cy="914400"/>
          </a:xfrm>
          <a:prstGeom prst="roundRect">
            <a:avLst>
              <a:gd name="adj" fmla="val 6000"/>
            </a:avLst>
          </a:prstGeom>
          <a:solidFill>
            <a:srgbClr val="1C7293"/>
          </a:solidFill>
          <a:ln/>
        </p:spPr>
      </p:sp>
      <p:sp>
        <p:nvSpPr>
          <p:cNvPr id="17" name="Text 15"/>
          <p:cNvSpPr/>
          <p:nvPr/>
        </p:nvSpPr>
        <p:spPr>
          <a:xfrm>
            <a:off x="7008876" y="1920240"/>
            <a:ext cx="1463040" cy="914400"/>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Vector</a:t>
            </a:r>
            <a:endParaRPr lang="en-US" sz="1250" dirty="0"/>
          </a:p>
          <a:p>
            <a:pPr algn="ctr" indent="0" marL="0">
              <a:buNone/>
            </a:pPr>
            <a:r>
              <a:rPr lang="en-US" sz="1250" b="1" dirty="0">
                <a:solidFill>
                  <a:srgbClr val="FFFFFF"/>
                </a:solidFill>
                <a:latin typeface="Calibri" pitchFamily="34" charset="0"/>
                <a:ea typeface="Calibri" pitchFamily="34" charset="-122"/>
                <a:cs typeface="Calibri" pitchFamily="34" charset="-120"/>
              </a:rPr>
              <a:t>Search API</a:t>
            </a:r>
            <a:endParaRPr lang="en-US" sz="1250" dirty="0"/>
          </a:p>
        </p:txBody>
      </p:sp>
      <p:sp>
        <p:nvSpPr>
          <p:cNvPr id="18" name="Shape 16"/>
          <p:cNvSpPr/>
          <p:nvPr/>
        </p:nvSpPr>
        <p:spPr>
          <a:xfrm>
            <a:off x="8481060" y="2348179"/>
            <a:ext cx="146304" cy="87782"/>
          </a:xfrm>
          <a:prstGeom prst="rightArrow">
            <a:avLst/>
          </a:prstGeom>
          <a:solidFill>
            <a:srgbClr val="1C7293"/>
          </a:solidFill>
          <a:ln/>
        </p:spPr>
      </p:sp>
      <p:sp>
        <p:nvSpPr>
          <p:cNvPr id="19" name="Shape 17"/>
          <p:cNvSpPr/>
          <p:nvPr/>
        </p:nvSpPr>
        <p:spPr>
          <a:xfrm>
            <a:off x="8654796" y="1920240"/>
            <a:ext cx="1463040" cy="914400"/>
          </a:xfrm>
          <a:prstGeom prst="roundRect">
            <a:avLst>
              <a:gd name="adj" fmla="val 6000"/>
            </a:avLst>
          </a:prstGeom>
          <a:solidFill>
            <a:srgbClr val="21295C"/>
          </a:solidFill>
          <a:ln/>
        </p:spPr>
      </p:sp>
      <p:sp>
        <p:nvSpPr>
          <p:cNvPr id="20" name="Text 18"/>
          <p:cNvSpPr/>
          <p:nvPr/>
        </p:nvSpPr>
        <p:spPr>
          <a:xfrm>
            <a:off x="8654796" y="1920240"/>
            <a:ext cx="1463040" cy="914400"/>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Data</a:t>
            </a:r>
            <a:endParaRPr lang="en-US" sz="1250" dirty="0"/>
          </a:p>
          <a:p>
            <a:pPr algn="ctr" indent="0" marL="0">
              <a:buNone/>
            </a:pPr>
            <a:r>
              <a:rPr lang="en-US" sz="1250" b="1" dirty="0">
                <a:solidFill>
                  <a:srgbClr val="FFFFFF"/>
                </a:solidFill>
                <a:latin typeface="Calibri" pitchFamily="34" charset="0"/>
                <a:ea typeface="Calibri" pitchFamily="34" charset="-122"/>
                <a:cs typeface="Calibri" pitchFamily="34" charset="-120"/>
              </a:rPr>
              <a:t>Processing</a:t>
            </a:r>
            <a:endParaRPr lang="en-US" sz="1250" dirty="0"/>
          </a:p>
        </p:txBody>
      </p:sp>
      <p:sp>
        <p:nvSpPr>
          <p:cNvPr id="21" name="Shape 19"/>
          <p:cNvSpPr/>
          <p:nvPr/>
        </p:nvSpPr>
        <p:spPr>
          <a:xfrm>
            <a:off x="10126980" y="2348179"/>
            <a:ext cx="146304" cy="87782"/>
          </a:xfrm>
          <a:prstGeom prst="rightArrow">
            <a:avLst/>
          </a:prstGeom>
          <a:solidFill>
            <a:srgbClr val="1C7293"/>
          </a:solidFill>
          <a:ln/>
        </p:spPr>
      </p:sp>
      <p:sp>
        <p:nvSpPr>
          <p:cNvPr id="22" name="Shape 20"/>
          <p:cNvSpPr/>
          <p:nvPr/>
        </p:nvSpPr>
        <p:spPr>
          <a:xfrm>
            <a:off x="10300716" y="1920240"/>
            <a:ext cx="1463040" cy="914400"/>
          </a:xfrm>
          <a:prstGeom prst="roundRect">
            <a:avLst>
              <a:gd name="adj" fmla="val 6000"/>
            </a:avLst>
          </a:prstGeom>
          <a:solidFill>
            <a:srgbClr val="065A82"/>
          </a:solidFill>
          <a:ln/>
        </p:spPr>
      </p:sp>
      <p:sp>
        <p:nvSpPr>
          <p:cNvPr id="23" name="Text 21"/>
          <p:cNvSpPr/>
          <p:nvPr/>
        </p:nvSpPr>
        <p:spPr>
          <a:xfrm>
            <a:off x="10300716" y="1920240"/>
            <a:ext cx="1463040" cy="914400"/>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Frontend</a:t>
            </a:r>
            <a:endParaRPr lang="en-US" sz="1250" dirty="0"/>
          </a:p>
          <a:p>
            <a:pPr algn="ctr" indent="0" marL="0">
              <a:buNone/>
            </a:pPr>
            <a:r>
              <a:rPr lang="en-US" sz="1250" b="1" dirty="0">
                <a:solidFill>
                  <a:srgbClr val="FFFFFF"/>
                </a:solidFill>
                <a:latin typeface="Calibri" pitchFamily="34" charset="0"/>
                <a:ea typeface="Calibri" pitchFamily="34" charset="-122"/>
                <a:cs typeface="Calibri" pitchFamily="34" charset="-120"/>
              </a:rPr>
              <a:t>(display)</a:t>
            </a:r>
            <a:endParaRPr lang="en-US" sz="1250" dirty="0"/>
          </a:p>
        </p:txBody>
      </p:sp>
      <p:sp>
        <p:nvSpPr>
          <p:cNvPr id="24" name="Shape 22"/>
          <p:cNvSpPr/>
          <p:nvPr/>
        </p:nvSpPr>
        <p:spPr>
          <a:xfrm>
            <a:off x="548640" y="3200400"/>
            <a:ext cx="3520440" cy="2834640"/>
          </a:xfrm>
          <a:prstGeom prst="roundRect">
            <a:avLst>
              <a:gd name="adj" fmla="val 2581"/>
            </a:avLst>
          </a:prstGeom>
          <a:solidFill>
            <a:srgbClr val="FFFFFF"/>
          </a:solidFill>
          <a:ln/>
          <a:effectLst>
            <a:outerShdw sx="100000" sy="100000" kx="0" ky="0" algn="bl" rotWithShape="0" blurRad="101600" dist="25400" dir="5400000">
              <a:srgbClr val="1A1D29">
                <a:alpha val="12000"/>
              </a:srgbClr>
            </a:outerShdw>
          </a:effectLst>
        </p:spPr>
      </p:sp>
      <p:sp>
        <p:nvSpPr>
          <p:cNvPr id="25" name="Shape 23"/>
          <p:cNvSpPr/>
          <p:nvPr/>
        </p:nvSpPr>
        <p:spPr>
          <a:xfrm>
            <a:off x="777240" y="3401568"/>
            <a:ext cx="128016" cy="128016"/>
          </a:xfrm>
          <a:prstGeom prst="roundRect">
            <a:avLst/>
          </a:prstGeom>
          <a:solidFill>
            <a:srgbClr val="065A82"/>
          </a:solidFill>
          <a:ln/>
        </p:spPr>
      </p:sp>
      <p:sp>
        <p:nvSpPr>
          <p:cNvPr id="26" name="Text 24"/>
          <p:cNvSpPr/>
          <p:nvPr/>
        </p:nvSpPr>
        <p:spPr>
          <a:xfrm>
            <a:off x="1005840" y="3291840"/>
            <a:ext cx="2926080" cy="365760"/>
          </a:xfrm>
          <a:prstGeom prst="rect">
            <a:avLst/>
          </a:prstGeom>
          <a:noFill/>
          <a:ln/>
        </p:spPr>
        <p:txBody>
          <a:bodyPr wrap="square" rtlCol="0" anchor="ctr"/>
          <a:lstStyle/>
          <a:p>
            <a:pPr indent="0" marL="0">
              <a:buNone/>
            </a:pPr>
            <a:r>
              <a:rPr lang="en-US" sz="1500" b="1" dirty="0">
                <a:solidFill>
                  <a:srgbClr val="21295C"/>
                </a:solidFill>
                <a:latin typeface="Cambria" pitchFamily="34" charset="0"/>
                <a:ea typeface="Cambria" pitchFamily="34" charset="-122"/>
                <a:cs typeface="Cambria" pitchFamily="34" charset="-120"/>
              </a:rPr>
              <a:t>Frontend</a:t>
            </a:r>
            <a:endParaRPr lang="en-US" sz="1500" dirty="0"/>
          </a:p>
        </p:txBody>
      </p:sp>
      <p:sp>
        <p:nvSpPr>
          <p:cNvPr id="27" name="Text 25"/>
          <p:cNvSpPr/>
          <p:nvPr/>
        </p:nvSpPr>
        <p:spPr>
          <a:xfrm>
            <a:off x="822960" y="3794760"/>
            <a:ext cx="3108960" cy="2103120"/>
          </a:xfrm>
          <a:prstGeom prst="rect">
            <a:avLst/>
          </a:prstGeom>
          <a:noFill/>
          <a:ln/>
        </p:spPr>
        <p:txBody>
          <a:bodyPr wrap="square" rtlCol="0" anchor="t"/>
          <a:lstStyle/>
          <a:p>
            <a:pPr marL="177800" indent="-177800">
              <a:spcAft>
                <a:spcPts val="800"/>
              </a:spcAft>
              <a:buSzPct val="100000"/>
              <a:buChar char="▪"/>
            </a:pPr>
            <a:r>
              <a:rPr lang="en-US" sz="1250" dirty="0">
                <a:solidFill>
                  <a:srgbClr val="1A1D29"/>
                </a:solidFill>
                <a:latin typeface="Calibri" pitchFamily="34" charset="0"/>
                <a:ea typeface="Calibri" pitchFamily="34" charset="-122"/>
                <a:cs typeface="Calibri" pitchFamily="34" charset="-120"/>
              </a:rPr>
              <a:t>Sends request</a:t>
            </a:r>
            <a:endParaRPr lang="en-US" sz="1250" dirty="0"/>
          </a:p>
          <a:p>
            <a:pPr marL="177800" indent="-177800">
              <a:spcAft>
                <a:spcPts val="800"/>
              </a:spcAft>
              <a:buSzPct val="100000"/>
              <a:buChar char="▪"/>
            </a:pPr>
            <a:r>
              <a:rPr lang="en-US" sz="1250" dirty="0">
                <a:solidFill>
                  <a:srgbClr val="1A1D29"/>
                </a:solidFill>
                <a:latin typeface="Calibri" pitchFamily="34" charset="0"/>
                <a:ea typeface="Calibri" pitchFamily="34" charset="-122"/>
                <a:cs typeface="Calibri" pitchFamily="34" charset="-120"/>
              </a:rPr>
              <a:t>Displays result</a:t>
            </a:r>
            <a:endParaRPr lang="en-US" sz="1250" dirty="0"/>
          </a:p>
        </p:txBody>
      </p:sp>
      <p:sp>
        <p:nvSpPr>
          <p:cNvPr id="28" name="Shape 26"/>
          <p:cNvSpPr/>
          <p:nvPr/>
        </p:nvSpPr>
        <p:spPr>
          <a:xfrm>
            <a:off x="4434840" y="3200400"/>
            <a:ext cx="3520440" cy="2834640"/>
          </a:xfrm>
          <a:prstGeom prst="roundRect">
            <a:avLst>
              <a:gd name="adj" fmla="val 2581"/>
            </a:avLst>
          </a:prstGeom>
          <a:solidFill>
            <a:srgbClr val="FFFFFF"/>
          </a:solidFill>
          <a:ln/>
          <a:effectLst>
            <a:outerShdw sx="100000" sy="100000" kx="0" ky="0" algn="bl" rotWithShape="0" blurRad="101600" dist="25400" dir="5400000">
              <a:srgbClr val="1A1D29">
                <a:alpha val="12000"/>
              </a:srgbClr>
            </a:outerShdw>
          </a:effectLst>
        </p:spPr>
      </p:sp>
      <p:sp>
        <p:nvSpPr>
          <p:cNvPr id="29" name="Shape 27"/>
          <p:cNvSpPr/>
          <p:nvPr/>
        </p:nvSpPr>
        <p:spPr>
          <a:xfrm>
            <a:off x="4663440" y="3401568"/>
            <a:ext cx="128016" cy="128016"/>
          </a:xfrm>
          <a:prstGeom prst="roundRect">
            <a:avLst/>
          </a:prstGeom>
          <a:solidFill>
            <a:srgbClr val="21295C"/>
          </a:solidFill>
          <a:ln/>
        </p:spPr>
      </p:sp>
      <p:sp>
        <p:nvSpPr>
          <p:cNvPr id="30" name="Text 28"/>
          <p:cNvSpPr/>
          <p:nvPr/>
        </p:nvSpPr>
        <p:spPr>
          <a:xfrm>
            <a:off x="4892040" y="3291840"/>
            <a:ext cx="2926080" cy="365760"/>
          </a:xfrm>
          <a:prstGeom prst="rect">
            <a:avLst/>
          </a:prstGeom>
          <a:noFill/>
          <a:ln/>
        </p:spPr>
        <p:txBody>
          <a:bodyPr wrap="square" rtlCol="0" anchor="ctr"/>
          <a:lstStyle/>
          <a:p>
            <a:pPr indent="0" marL="0">
              <a:buNone/>
            </a:pPr>
            <a:r>
              <a:rPr lang="en-US" sz="1500" b="1" dirty="0">
                <a:solidFill>
                  <a:srgbClr val="21295C"/>
                </a:solidFill>
                <a:latin typeface="Cambria" pitchFamily="34" charset="0"/>
                <a:ea typeface="Cambria" pitchFamily="34" charset="-122"/>
                <a:cs typeface="Cambria" pitchFamily="34" charset="-120"/>
              </a:rPr>
              <a:t>Backend</a:t>
            </a:r>
            <a:endParaRPr lang="en-US" sz="1500" dirty="0"/>
          </a:p>
        </p:txBody>
      </p:sp>
      <p:sp>
        <p:nvSpPr>
          <p:cNvPr id="31" name="Text 29"/>
          <p:cNvSpPr/>
          <p:nvPr/>
        </p:nvSpPr>
        <p:spPr>
          <a:xfrm>
            <a:off x="4709160" y="3794760"/>
            <a:ext cx="3108960" cy="2103120"/>
          </a:xfrm>
          <a:prstGeom prst="rect">
            <a:avLst/>
          </a:prstGeom>
          <a:noFill/>
          <a:ln/>
        </p:spPr>
        <p:txBody>
          <a:bodyPr wrap="square" rtlCol="0" anchor="t"/>
          <a:lstStyle/>
          <a:p>
            <a:pPr marL="177800" indent="-177800">
              <a:spcAft>
                <a:spcPts val="800"/>
              </a:spcAft>
              <a:buSzPct val="100000"/>
              <a:buChar char="▪"/>
            </a:pPr>
            <a:r>
              <a:rPr lang="en-US" sz="1250" dirty="0">
                <a:solidFill>
                  <a:srgbClr val="1A1D29"/>
                </a:solidFill>
                <a:latin typeface="Calibri" pitchFamily="34" charset="0"/>
                <a:ea typeface="Calibri" pitchFamily="34" charset="-122"/>
                <a:cs typeface="Calibri" pitchFamily="34" charset="-120"/>
              </a:rPr>
              <a:t>API routing</a:t>
            </a:r>
            <a:endParaRPr lang="en-US" sz="1250" dirty="0"/>
          </a:p>
          <a:p>
            <a:pPr marL="177800" indent="-177800">
              <a:spcAft>
                <a:spcPts val="800"/>
              </a:spcAft>
              <a:buSzPct val="100000"/>
              <a:buChar char="▪"/>
            </a:pPr>
            <a:r>
              <a:rPr lang="en-US" sz="1250" dirty="0">
                <a:solidFill>
                  <a:srgbClr val="1A1D29"/>
                </a:solidFill>
                <a:latin typeface="Calibri" pitchFamily="34" charset="0"/>
                <a:ea typeface="Calibri" pitchFamily="34" charset="-122"/>
                <a:cs typeface="Calibri" pitchFamily="34" charset="-120"/>
              </a:rPr>
              <a:t>Validation</a:t>
            </a:r>
            <a:endParaRPr lang="en-US" sz="1250" dirty="0"/>
          </a:p>
          <a:p>
            <a:pPr marL="177800" indent="-177800">
              <a:spcAft>
                <a:spcPts val="800"/>
              </a:spcAft>
              <a:buSzPct val="100000"/>
              <a:buChar char="▪"/>
            </a:pPr>
            <a:r>
              <a:rPr lang="en-US" sz="1250" dirty="0">
                <a:solidFill>
                  <a:srgbClr val="1A1D29"/>
                </a:solidFill>
                <a:latin typeface="Calibri" pitchFamily="34" charset="0"/>
                <a:ea typeface="Calibri" pitchFamily="34" charset="-122"/>
                <a:cs typeface="Calibri" pitchFamily="34" charset="-120"/>
              </a:rPr>
              <a:t>Error handling</a:t>
            </a:r>
            <a:endParaRPr lang="en-US" sz="1250" dirty="0"/>
          </a:p>
          <a:p>
            <a:pPr marL="177800" indent="-177800">
              <a:spcAft>
                <a:spcPts val="800"/>
              </a:spcAft>
              <a:buSzPct val="100000"/>
              <a:buChar char="▪"/>
            </a:pPr>
            <a:r>
              <a:rPr lang="en-US" sz="1250" dirty="0">
                <a:solidFill>
                  <a:srgbClr val="1A1D29"/>
                </a:solidFill>
                <a:latin typeface="Calibri" pitchFamily="34" charset="0"/>
                <a:ea typeface="Calibri" pitchFamily="34" charset="-122"/>
                <a:cs typeface="Calibri" pitchFamily="34" charset="-120"/>
              </a:rPr>
              <a:t>Response formatting</a:t>
            </a:r>
            <a:endParaRPr lang="en-US" sz="1250" dirty="0"/>
          </a:p>
        </p:txBody>
      </p:sp>
      <p:sp>
        <p:nvSpPr>
          <p:cNvPr id="32" name="Shape 30"/>
          <p:cNvSpPr/>
          <p:nvPr/>
        </p:nvSpPr>
        <p:spPr>
          <a:xfrm>
            <a:off x="8321040" y="3200400"/>
            <a:ext cx="3520440" cy="2834640"/>
          </a:xfrm>
          <a:prstGeom prst="roundRect">
            <a:avLst>
              <a:gd name="adj" fmla="val 2581"/>
            </a:avLst>
          </a:prstGeom>
          <a:solidFill>
            <a:srgbClr val="FFFFFF"/>
          </a:solidFill>
          <a:ln/>
          <a:effectLst>
            <a:outerShdw sx="100000" sy="100000" kx="0" ky="0" algn="bl" rotWithShape="0" blurRad="101600" dist="25400" dir="5400000">
              <a:srgbClr val="1A1D29">
                <a:alpha val="12000"/>
              </a:srgbClr>
            </a:outerShdw>
          </a:effectLst>
        </p:spPr>
      </p:sp>
      <p:sp>
        <p:nvSpPr>
          <p:cNvPr id="33" name="Shape 31"/>
          <p:cNvSpPr/>
          <p:nvPr/>
        </p:nvSpPr>
        <p:spPr>
          <a:xfrm>
            <a:off x="8549640" y="3401568"/>
            <a:ext cx="128016" cy="128016"/>
          </a:xfrm>
          <a:prstGeom prst="roundRect">
            <a:avLst/>
          </a:prstGeom>
          <a:solidFill>
            <a:srgbClr val="1C7293"/>
          </a:solidFill>
          <a:ln/>
        </p:spPr>
      </p:sp>
      <p:sp>
        <p:nvSpPr>
          <p:cNvPr id="34" name="Text 32"/>
          <p:cNvSpPr/>
          <p:nvPr/>
        </p:nvSpPr>
        <p:spPr>
          <a:xfrm>
            <a:off x="8778240" y="3291840"/>
            <a:ext cx="2926080" cy="365760"/>
          </a:xfrm>
          <a:prstGeom prst="rect">
            <a:avLst/>
          </a:prstGeom>
          <a:noFill/>
          <a:ln/>
        </p:spPr>
        <p:txBody>
          <a:bodyPr wrap="square" rtlCol="0" anchor="ctr"/>
          <a:lstStyle/>
          <a:p>
            <a:pPr indent="0" marL="0">
              <a:buNone/>
            </a:pPr>
            <a:r>
              <a:rPr lang="en-US" sz="1500" b="1" dirty="0">
                <a:solidFill>
                  <a:srgbClr val="21295C"/>
                </a:solidFill>
                <a:latin typeface="Cambria" pitchFamily="34" charset="0"/>
                <a:ea typeface="Cambria" pitchFamily="34" charset="-122"/>
                <a:cs typeface="Cambria" pitchFamily="34" charset="-120"/>
              </a:rPr>
              <a:t>External APIs</a:t>
            </a:r>
            <a:endParaRPr lang="en-US" sz="1500" dirty="0"/>
          </a:p>
        </p:txBody>
      </p:sp>
      <p:sp>
        <p:nvSpPr>
          <p:cNvPr id="35" name="Text 33"/>
          <p:cNvSpPr/>
          <p:nvPr/>
        </p:nvSpPr>
        <p:spPr>
          <a:xfrm>
            <a:off x="8595360" y="3794760"/>
            <a:ext cx="3108960" cy="2103120"/>
          </a:xfrm>
          <a:prstGeom prst="rect">
            <a:avLst/>
          </a:prstGeom>
          <a:noFill/>
          <a:ln/>
        </p:spPr>
        <p:txBody>
          <a:bodyPr wrap="square" rtlCol="0" anchor="t"/>
          <a:lstStyle/>
          <a:p>
            <a:pPr marL="177800" indent="-177800">
              <a:spcAft>
                <a:spcPts val="800"/>
              </a:spcAft>
              <a:buSzPct val="100000"/>
              <a:buChar char="▪"/>
            </a:pPr>
            <a:r>
              <a:rPr lang="en-US" sz="1250" dirty="0">
                <a:solidFill>
                  <a:srgbClr val="1A1D29"/>
                </a:solidFill>
                <a:latin typeface="Calibri" pitchFamily="34" charset="0"/>
                <a:ea typeface="Calibri" pitchFamily="34" charset="-122"/>
                <a:cs typeface="Calibri" pitchFamily="34" charset="-120"/>
              </a:rPr>
              <a:t>Places information</a:t>
            </a:r>
            <a:endParaRPr lang="en-US" sz="1250" dirty="0"/>
          </a:p>
          <a:p>
            <a:pPr marL="177800" indent="-177800">
              <a:spcAft>
                <a:spcPts val="800"/>
              </a:spcAft>
              <a:buSzPct val="100000"/>
              <a:buChar char="▪"/>
            </a:pPr>
            <a:r>
              <a:rPr lang="en-US" sz="1250" dirty="0">
                <a:solidFill>
                  <a:srgbClr val="1A1D29"/>
                </a:solidFill>
                <a:latin typeface="Calibri" pitchFamily="34" charset="0"/>
                <a:ea typeface="Calibri" pitchFamily="34" charset="-122"/>
                <a:cs typeface="Calibri" pitchFamily="34" charset="-120"/>
              </a:rPr>
              <a:t>Vector search</a:t>
            </a:r>
            <a:endParaRPr lang="en-US" sz="1250" dirty="0"/>
          </a:p>
        </p:txBody>
      </p:sp>
      <p:sp>
        <p:nvSpPr>
          <p:cNvPr id="36" name="Text 34"/>
          <p:cNvSpPr/>
          <p:nvPr/>
        </p:nvSpPr>
        <p:spPr>
          <a:xfrm>
            <a:off x="11365992" y="6355080"/>
            <a:ext cx="548640" cy="320040"/>
          </a:xfrm>
          <a:prstGeom prst="rect">
            <a:avLst/>
          </a:prstGeom>
          <a:noFill/>
          <a:ln/>
        </p:spPr>
        <p:txBody>
          <a:bodyPr wrap="square"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7F9"/>
        </a:solidFill>
      </p:bgPr>
    </p:bg>
    <p:spTree>
      <p:nvGrpSpPr>
        <p:cNvPr id="1" name=""/>
        <p:cNvGrpSpPr/>
        <p:nvPr/>
      </p:nvGrpSpPr>
      <p:grpSpPr>
        <a:xfrm>
          <a:off x="0" y="0"/>
          <a:ext cx="0" cy="0"/>
          <a:chOff x="0" y="0"/>
          <a:chExt cx="0" cy="0"/>
        </a:xfrm>
      </p:grpSpPr>
      <p:sp>
        <p:nvSpPr>
          <p:cNvPr id="2" name="Text 0"/>
          <p:cNvSpPr/>
          <p:nvPr/>
        </p:nvSpPr>
        <p:spPr>
          <a:xfrm>
            <a:off x="548640" y="411480"/>
            <a:ext cx="7315200" cy="36576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KEY FEATURES</a:t>
            </a:r>
            <a:endParaRPr lang="en-US" sz="1300" dirty="0"/>
          </a:p>
        </p:txBody>
      </p:sp>
      <p:sp>
        <p:nvSpPr>
          <p:cNvPr id="3" name="Text 1"/>
          <p:cNvSpPr/>
          <p:nvPr/>
        </p:nvSpPr>
        <p:spPr>
          <a:xfrm>
            <a:off x="548640" y="731520"/>
            <a:ext cx="10515600" cy="822960"/>
          </a:xfrm>
          <a:prstGeom prst="rect">
            <a:avLst/>
          </a:prstGeom>
          <a:noFill/>
          <a:ln/>
        </p:spPr>
        <p:txBody>
          <a:bodyPr wrap="square" rtlCol="0" anchor="ctr"/>
          <a:lstStyle/>
          <a:p>
            <a:pPr indent="0" marL="0">
              <a:buNone/>
            </a:pPr>
            <a:r>
              <a:rPr lang="en-US" sz="3400" b="1" dirty="0">
                <a:solidFill>
                  <a:srgbClr val="21295C"/>
                </a:solidFill>
                <a:latin typeface="Cambria" pitchFamily="34" charset="0"/>
                <a:ea typeface="Cambria" pitchFamily="34" charset="-122"/>
                <a:cs typeface="Cambria" pitchFamily="34" charset="-120"/>
              </a:rPr>
              <a:t>What Sets This Project Apart</a:t>
            </a:r>
            <a:endParaRPr lang="en-US" sz="3400" dirty="0"/>
          </a:p>
        </p:txBody>
      </p:sp>
      <p:sp>
        <p:nvSpPr>
          <p:cNvPr id="4" name="Shape 2"/>
          <p:cNvSpPr/>
          <p:nvPr/>
        </p:nvSpPr>
        <p:spPr>
          <a:xfrm>
            <a:off x="548640" y="1874520"/>
            <a:ext cx="2084832" cy="3794760"/>
          </a:xfrm>
          <a:prstGeom prst="roundRect">
            <a:avLst>
              <a:gd name="adj" fmla="val 3509"/>
            </a:avLst>
          </a:prstGeom>
          <a:solidFill>
            <a:srgbClr val="FFFFFF"/>
          </a:solidFill>
          <a:ln/>
          <a:effectLst>
            <a:outerShdw sx="100000" sy="100000" kx="0" ky="0" algn="bl" rotWithShape="0" blurRad="101600" dist="25400" dir="5400000">
              <a:srgbClr val="1A1D29">
                <a:alpha val="12000"/>
              </a:srgbClr>
            </a:outerShdw>
          </a:effectLst>
        </p:spPr>
      </p:sp>
      <p:sp>
        <p:nvSpPr>
          <p:cNvPr id="5" name="Shape 3"/>
          <p:cNvSpPr/>
          <p:nvPr/>
        </p:nvSpPr>
        <p:spPr>
          <a:xfrm>
            <a:off x="1293876" y="2194560"/>
            <a:ext cx="594360" cy="594360"/>
          </a:xfrm>
          <a:prstGeom prst="ellipse">
            <a:avLst/>
          </a:prstGeom>
          <a:solidFill>
            <a:srgbClr val="065A82"/>
          </a:solidFill>
          <a:ln/>
        </p:spPr>
      </p:sp>
      <p:sp>
        <p:nvSpPr>
          <p:cNvPr id="6" name="Text 4"/>
          <p:cNvSpPr/>
          <p:nvPr/>
        </p:nvSpPr>
        <p:spPr>
          <a:xfrm>
            <a:off x="1293876" y="2194560"/>
            <a:ext cx="594360" cy="594360"/>
          </a:xfrm>
          <a:prstGeom prst="rect">
            <a:avLst/>
          </a:prstGeom>
          <a:noFill/>
          <a:ln/>
        </p:spPr>
        <p:txBody>
          <a:bodyPr wrap="square" rtlCol="0" anchor="ctr"/>
          <a:lstStyle/>
          <a:p>
            <a:pPr algn="ctr" indent="0" marL="0">
              <a:buNone/>
            </a:pPr>
            <a:r>
              <a:rPr lang="en-US" sz="2210" dirty="0">
                <a:solidFill>
                  <a:srgbClr val="FFFFFF"/>
                </a:solidFill>
                <a:latin typeface="Calibri" pitchFamily="34" charset="0"/>
                <a:ea typeface="Calibri" pitchFamily="34" charset="-122"/>
                <a:cs typeface="Calibri" pitchFamily="34" charset="-120"/>
              </a:rPr>
              <a:t>✦</a:t>
            </a:r>
            <a:endParaRPr lang="en-US" sz="2210" dirty="0"/>
          </a:p>
        </p:txBody>
      </p:sp>
      <p:sp>
        <p:nvSpPr>
          <p:cNvPr id="7" name="Text 5"/>
          <p:cNvSpPr/>
          <p:nvPr/>
        </p:nvSpPr>
        <p:spPr>
          <a:xfrm>
            <a:off x="685800" y="2971800"/>
            <a:ext cx="1810512" cy="822960"/>
          </a:xfrm>
          <a:prstGeom prst="rect">
            <a:avLst/>
          </a:prstGeom>
          <a:noFill/>
          <a:ln/>
        </p:spPr>
        <p:txBody>
          <a:bodyPr wrap="square" rtlCol="0" anchor="t"/>
          <a:lstStyle/>
          <a:p>
            <a:pPr algn="ctr" indent="0" marL="0">
              <a:buNone/>
            </a:pPr>
            <a:r>
              <a:rPr lang="en-US" sz="1450" b="1" dirty="0">
                <a:solidFill>
                  <a:srgbClr val="21295C"/>
                </a:solidFill>
                <a:latin typeface="Cambria" pitchFamily="34" charset="0"/>
                <a:ea typeface="Cambria" pitchFamily="34" charset="-122"/>
                <a:cs typeface="Cambria" pitchFamily="34" charset="-120"/>
              </a:rPr>
              <a:t>Smart Semantic Search</a:t>
            </a:r>
            <a:endParaRPr lang="en-US" sz="1450" dirty="0"/>
          </a:p>
        </p:txBody>
      </p:sp>
      <p:sp>
        <p:nvSpPr>
          <p:cNvPr id="8" name="Text 6"/>
          <p:cNvSpPr/>
          <p:nvPr/>
        </p:nvSpPr>
        <p:spPr>
          <a:xfrm>
            <a:off x="731520" y="3794760"/>
            <a:ext cx="1719072" cy="1737360"/>
          </a:xfrm>
          <a:prstGeom prst="rect">
            <a:avLst/>
          </a:prstGeom>
          <a:noFill/>
          <a:ln/>
        </p:spPr>
        <p:txBody>
          <a:bodyPr wrap="square" rtlCol="0" anchor="t"/>
          <a:lstStyle/>
          <a:p>
            <a:pPr algn="ctr" indent="0" marL="0">
              <a:buNone/>
            </a:pPr>
            <a:r>
              <a:rPr lang="en-US" sz="1150" dirty="0">
                <a:solidFill>
                  <a:srgbClr val="5A6472"/>
                </a:solidFill>
                <a:latin typeface="Calibri" pitchFamily="34" charset="0"/>
                <a:ea typeface="Calibri" pitchFamily="34" charset="-122"/>
                <a:cs typeface="Calibri" pitchFamily="34" charset="-120"/>
              </a:rPr>
              <a:t>Uses AI Vector Search to find results that match meaning, not just words.</a:t>
            </a:r>
            <a:endParaRPr lang="en-US" sz="1150" dirty="0"/>
          </a:p>
        </p:txBody>
      </p:sp>
      <p:sp>
        <p:nvSpPr>
          <p:cNvPr id="9" name="Shape 7"/>
          <p:cNvSpPr/>
          <p:nvPr/>
        </p:nvSpPr>
        <p:spPr>
          <a:xfrm>
            <a:off x="2779776" y="1874520"/>
            <a:ext cx="2084832" cy="3794760"/>
          </a:xfrm>
          <a:prstGeom prst="roundRect">
            <a:avLst>
              <a:gd name="adj" fmla="val 3509"/>
            </a:avLst>
          </a:prstGeom>
          <a:solidFill>
            <a:srgbClr val="FFFFFF"/>
          </a:solidFill>
          <a:ln/>
          <a:effectLst>
            <a:outerShdw sx="100000" sy="100000" kx="0" ky="0" algn="bl" rotWithShape="0" blurRad="101600" dist="25400" dir="5400000">
              <a:srgbClr val="1A1D29">
                <a:alpha val="12000"/>
              </a:srgbClr>
            </a:outerShdw>
          </a:effectLst>
        </p:spPr>
      </p:sp>
      <p:sp>
        <p:nvSpPr>
          <p:cNvPr id="10" name="Shape 8"/>
          <p:cNvSpPr/>
          <p:nvPr/>
        </p:nvSpPr>
        <p:spPr>
          <a:xfrm>
            <a:off x="3525012" y="2194560"/>
            <a:ext cx="594360" cy="594360"/>
          </a:xfrm>
          <a:prstGeom prst="ellipse">
            <a:avLst/>
          </a:prstGeom>
          <a:solidFill>
            <a:srgbClr val="21295C"/>
          </a:solidFill>
          <a:ln/>
        </p:spPr>
      </p:sp>
      <p:sp>
        <p:nvSpPr>
          <p:cNvPr id="11" name="Text 9"/>
          <p:cNvSpPr/>
          <p:nvPr/>
        </p:nvSpPr>
        <p:spPr>
          <a:xfrm>
            <a:off x="3525012" y="2194560"/>
            <a:ext cx="594360" cy="594360"/>
          </a:xfrm>
          <a:prstGeom prst="rect">
            <a:avLst/>
          </a:prstGeom>
          <a:noFill/>
          <a:ln/>
        </p:spPr>
        <p:txBody>
          <a:bodyPr wrap="square" rtlCol="0" anchor="ctr"/>
          <a:lstStyle/>
          <a:p>
            <a:pPr algn="ctr" indent="0" marL="0">
              <a:buNone/>
            </a:pPr>
            <a:r>
              <a:rPr lang="en-US" sz="2210" dirty="0">
                <a:solidFill>
                  <a:srgbClr val="FFFFFF"/>
                </a:solidFill>
                <a:latin typeface="Calibri" pitchFamily="34" charset="0"/>
                <a:ea typeface="Calibri" pitchFamily="34" charset="-122"/>
                <a:cs typeface="Calibri" pitchFamily="34" charset="-120"/>
              </a:rPr>
              <a:t>▦</a:t>
            </a:r>
            <a:endParaRPr lang="en-US" sz="2210" dirty="0"/>
          </a:p>
        </p:txBody>
      </p:sp>
      <p:sp>
        <p:nvSpPr>
          <p:cNvPr id="12" name="Text 10"/>
          <p:cNvSpPr/>
          <p:nvPr/>
        </p:nvSpPr>
        <p:spPr>
          <a:xfrm>
            <a:off x="2916936" y="2971800"/>
            <a:ext cx="1810512" cy="822960"/>
          </a:xfrm>
          <a:prstGeom prst="rect">
            <a:avLst/>
          </a:prstGeom>
          <a:noFill/>
          <a:ln/>
        </p:spPr>
        <p:txBody>
          <a:bodyPr wrap="square" rtlCol="0" anchor="t"/>
          <a:lstStyle/>
          <a:p>
            <a:pPr algn="ctr" indent="0" marL="0">
              <a:buNone/>
            </a:pPr>
            <a:r>
              <a:rPr lang="en-US" sz="1450" b="1" dirty="0">
                <a:solidFill>
                  <a:srgbClr val="21295C"/>
                </a:solidFill>
                <a:latin typeface="Cambria" pitchFamily="34" charset="0"/>
                <a:ea typeface="Cambria" pitchFamily="34" charset="-122"/>
                <a:cs typeface="Cambria" pitchFamily="34" charset="-120"/>
              </a:rPr>
              <a:t>Modern Architecture</a:t>
            </a:r>
            <a:endParaRPr lang="en-US" sz="1450" dirty="0"/>
          </a:p>
        </p:txBody>
      </p:sp>
      <p:sp>
        <p:nvSpPr>
          <p:cNvPr id="13" name="Text 11"/>
          <p:cNvSpPr/>
          <p:nvPr/>
        </p:nvSpPr>
        <p:spPr>
          <a:xfrm>
            <a:off x="2962656" y="3794760"/>
            <a:ext cx="1719072" cy="1737360"/>
          </a:xfrm>
          <a:prstGeom prst="rect">
            <a:avLst/>
          </a:prstGeom>
          <a:noFill/>
          <a:ln/>
        </p:spPr>
        <p:txBody>
          <a:bodyPr wrap="square" rtlCol="0" anchor="t"/>
          <a:lstStyle/>
          <a:p>
            <a:pPr algn="ctr" indent="0" marL="0">
              <a:buNone/>
            </a:pPr>
            <a:r>
              <a:rPr lang="en-US" sz="1150" dirty="0">
                <a:solidFill>
                  <a:srgbClr val="5A6472"/>
                </a:solidFill>
                <a:latin typeface="Calibri" pitchFamily="34" charset="0"/>
                <a:ea typeface="Calibri" pitchFamily="34" charset="-122"/>
                <a:cs typeface="Calibri" pitchFamily="34" charset="-120"/>
              </a:rPr>
              <a:t>Frontend and Backend are built as separate, well-defined layers.</a:t>
            </a:r>
            <a:endParaRPr lang="en-US" sz="1150" dirty="0"/>
          </a:p>
        </p:txBody>
      </p:sp>
      <p:sp>
        <p:nvSpPr>
          <p:cNvPr id="14" name="Shape 12"/>
          <p:cNvSpPr/>
          <p:nvPr/>
        </p:nvSpPr>
        <p:spPr>
          <a:xfrm>
            <a:off x="5010912" y="1874520"/>
            <a:ext cx="2084832" cy="3794760"/>
          </a:xfrm>
          <a:prstGeom prst="roundRect">
            <a:avLst>
              <a:gd name="adj" fmla="val 3509"/>
            </a:avLst>
          </a:prstGeom>
          <a:solidFill>
            <a:srgbClr val="FFFFFF"/>
          </a:solidFill>
          <a:ln/>
          <a:effectLst>
            <a:outerShdw sx="100000" sy="100000" kx="0" ky="0" algn="bl" rotWithShape="0" blurRad="101600" dist="25400" dir="5400000">
              <a:srgbClr val="1A1D29">
                <a:alpha val="12000"/>
              </a:srgbClr>
            </a:outerShdw>
          </a:effectLst>
        </p:spPr>
      </p:sp>
      <p:sp>
        <p:nvSpPr>
          <p:cNvPr id="15" name="Shape 13"/>
          <p:cNvSpPr/>
          <p:nvPr/>
        </p:nvSpPr>
        <p:spPr>
          <a:xfrm>
            <a:off x="5756148" y="2194560"/>
            <a:ext cx="594360" cy="594360"/>
          </a:xfrm>
          <a:prstGeom prst="ellipse">
            <a:avLst/>
          </a:prstGeom>
          <a:solidFill>
            <a:srgbClr val="1C7293"/>
          </a:solidFill>
          <a:ln/>
        </p:spPr>
      </p:sp>
      <p:sp>
        <p:nvSpPr>
          <p:cNvPr id="16" name="Text 14"/>
          <p:cNvSpPr/>
          <p:nvPr/>
        </p:nvSpPr>
        <p:spPr>
          <a:xfrm>
            <a:off x="5756148" y="2194560"/>
            <a:ext cx="594360" cy="594360"/>
          </a:xfrm>
          <a:prstGeom prst="rect">
            <a:avLst/>
          </a:prstGeom>
          <a:noFill/>
          <a:ln/>
        </p:spPr>
        <p:txBody>
          <a:bodyPr wrap="square" rtlCol="0" anchor="ctr"/>
          <a:lstStyle/>
          <a:p>
            <a:pPr algn="ctr" indent="0" marL="0">
              <a:buNone/>
            </a:pPr>
            <a:r>
              <a:rPr lang="en-US" sz="2210" dirty="0">
                <a:solidFill>
                  <a:srgbClr val="FFFFFF"/>
                </a:solidFill>
                <a:latin typeface="Calibri" pitchFamily="34" charset="0"/>
                <a:ea typeface="Calibri" pitchFamily="34" charset="-122"/>
                <a:cs typeface="Calibri" pitchFamily="34" charset="-120"/>
              </a:rPr>
              <a:t>⚡</a:t>
            </a:r>
            <a:endParaRPr lang="en-US" sz="2210" dirty="0"/>
          </a:p>
        </p:txBody>
      </p:sp>
      <p:sp>
        <p:nvSpPr>
          <p:cNvPr id="17" name="Text 15"/>
          <p:cNvSpPr/>
          <p:nvPr/>
        </p:nvSpPr>
        <p:spPr>
          <a:xfrm>
            <a:off x="5148072" y="2971800"/>
            <a:ext cx="1810512" cy="822960"/>
          </a:xfrm>
          <a:prstGeom prst="rect">
            <a:avLst/>
          </a:prstGeom>
          <a:noFill/>
          <a:ln/>
        </p:spPr>
        <p:txBody>
          <a:bodyPr wrap="square" rtlCol="0" anchor="t"/>
          <a:lstStyle/>
          <a:p>
            <a:pPr algn="ctr" indent="0" marL="0">
              <a:buNone/>
            </a:pPr>
            <a:r>
              <a:rPr lang="en-US" sz="1450" b="1" dirty="0">
                <a:solidFill>
                  <a:srgbClr val="21295C"/>
                </a:solidFill>
                <a:latin typeface="Cambria" pitchFamily="34" charset="0"/>
                <a:ea typeface="Cambria" pitchFamily="34" charset="-122"/>
                <a:cs typeface="Cambria" pitchFamily="34" charset="-120"/>
              </a:rPr>
              <a:t>Fast Response</a:t>
            </a:r>
            <a:endParaRPr lang="en-US" sz="1450" dirty="0"/>
          </a:p>
        </p:txBody>
      </p:sp>
      <p:sp>
        <p:nvSpPr>
          <p:cNvPr id="18" name="Text 16"/>
          <p:cNvSpPr/>
          <p:nvPr/>
        </p:nvSpPr>
        <p:spPr>
          <a:xfrm>
            <a:off x="5193792" y="3794760"/>
            <a:ext cx="1719072" cy="1737360"/>
          </a:xfrm>
          <a:prstGeom prst="rect">
            <a:avLst/>
          </a:prstGeom>
          <a:noFill/>
          <a:ln/>
        </p:spPr>
        <p:txBody>
          <a:bodyPr wrap="square" rtlCol="0" anchor="t"/>
          <a:lstStyle/>
          <a:p>
            <a:pPr algn="ctr" indent="0" marL="0">
              <a:buNone/>
            </a:pPr>
            <a:r>
              <a:rPr lang="en-US" sz="1150" dirty="0">
                <a:solidFill>
                  <a:srgbClr val="5A6472"/>
                </a:solidFill>
                <a:latin typeface="Calibri" pitchFamily="34" charset="0"/>
                <a:ea typeface="Calibri" pitchFamily="34" charset="-122"/>
                <a:cs typeface="Calibri" pitchFamily="34" charset="-120"/>
              </a:rPr>
              <a:t>Backend handles data processing so results return quickly.</a:t>
            </a:r>
            <a:endParaRPr lang="en-US" sz="1150" dirty="0"/>
          </a:p>
        </p:txBody>
      </p:sp>
      <p:sp>
        <p:nvSpPr>
          <p:cNvPr id="19" name="Shape 17"/>
          <p:cNvSpPr/>
          <p:nvPr/>
        </p:nvSpPr>
        <p:spPr>
          <a:xfrm>
            <a:off x="7242048" y="1874520"/>
            <a:ext cx="2084832" cy="3794760"/>
          </a:xfrm>
          <a:prstGeom prst="roundRect">
            <a:avLst>
              <a:gd name="adj" fmla="val 3509"/>
            </a:avLst>
          </a:prstGeom>
          <a:solidFill>
            <a:srgbClr val="FFFFFF"/>
          </a:solidFill>
          <a:ln/>
          <a:effectLst>
            <a:outerShdw sx="100000" sy="100000" kx="0" ky="0" algn="bl" rotWithShape="0" blurRad="101600" dist="25400" dir="5400000">
              <a:srgbClr val="1A1D29">
                <a:alpha val="12000"/>
              </a:srgbClr>
            </a:outerShdw>
          </a:effectLst>
        </p:spPr>
      </p:sp>
      <p:sp>
        <p:nvSpPr>
          <p:cNvPr id="20" name="Shape 18"/>
          <p:cNvSpPr/>
          <p:nvPr/>
        </p:nvSpPr>
        <p:spPr>
          <a:xfrm>
            <a:off x="7987284" y="2194560"/>
            <a:ext cx="594360" cy="594360"/>
          </a:xfrm>
          <a:prstGeom prst="ellipse">
            <a:avLst/>
          </a:prstGeom>
          <a:solidFill>
            <a:srgbClr val="3F7CAC"/>
          </a:solidFill>
          <a:ln/>
        </p:spPr>
      </p:sp>
      <p:sp>
        <p:nvSpPr>
          <p:cNvPr id="21" name="Text 19"/>
          <p:cNvSpPr/>
          <p:nvPr/>
        </p:nvSpPr>
        <p:spPr>
          <a:xfrm>
            <a:off x="7987284" y="2194560"/>
            <a:ext cx="594360" cy="594360"/>
          </a:xfrm>
          <a:prstGeom prst="rect">
            <a:avLst/>
          </a:prstGeom>
          <a:noFill/>
          <a:ln/>
        </p:spPr>
        <p:txBody>
          <a:bodyPr wrap="square" rtlCol="0" anchor="ctr"/>
          <a:lstStyle/>
          <a:p>
            <a:pPr algn="ctr" indent="0" marL="0">
              <a:buNone/>
            </a:pPr>
            <a:r>
              <a:rPr lang="en-US" sz="2210" dirty="0">
                <a:solidFill>
                  <a:srgbClr val="FFFFFF"/>
                </a:solidFill>
                <a:latin typeface="Calibri" pitchFamily="34" charset="0"/>
                <a:ea typeface="Calibri" pitchFamily="34" charset="-122"/>
                <a:cs typeface="Calibri" pitchFamily="34" charset="-120"/>
              </a:rPr>
              <a:t>🔧</a:t>
            </a:r>
            <a:endParaRPr lang="en-US" sz="2210" dirty="0"/>
          </a:p>
        </p:txBody>
      </p:sp>
      <p:sp>
        <p:nvSpPr>
          <p:cNvPr id="22" name="Text 20"/>
          <p:cNvSpPr/>
          <p:nvPr/>
        </p:nvSpPr>
        <p:spPr>
          <a:xfrm>
            <a:off x="7379208" y="2971800"/>
            <a:ext cx="1810512" cy="822960"/>
          </a:xfrm>
          <a:prstGeom prst="rect">
            <a:avLst/>
          </a:prstGeom>
          <a:noFill/>
          <a:ln/>
        </p:spPr>
        <p:txBody>
          <a:bodyPr wrap="square" rtlCol="0" anchor="t"/>
          <a:lstStyle/>
          <a:p>
            <a:pPr algn="ctr" indent="0" marL="0">
              <a:buNone/>
            </a:pPr>
            <a:r>
              <a:rPr lang="en-US" sz="1450" b="1" dirty="0">
                <a:solidFill>
                  <a:srgbClr val="21295C"/>
                </a:solidFill>
                <a:latin typeface="Cambria" pitchFamily="34" charset="0"/>
                <a:ea typeface="Cambria" pitchFamily="34" charset="-122"/>
                <a:cs typeface="Cambria" pitchFamily="34" charset="-120"/>
              </a:rPr>
              <a:t>Easy Maintenance</a:t>
            </a:r>
            <a:endParaRPr lang="en-US" sz="1450" dirty="0"/>
          </a:p>
        </p:txBody>
      </p:sp>
      <p:sp>
        <p:nvSpPr>
          <p:cNvPr id="23" name="Text 21"/>
          <p:cNvSpPr/>
          <p:nvPr/>
        </p:nvSpPr>
        <p:spPr>
          <a:xfrm>
            <a:off x="7424928" y="3794760"/>
            <a:ext cx="1719072" cy="1737360"/>
          </a:xfrm>
          <a:prstGeom prst="rect">
            <a:avLst/>
          </a:prstGeom>
          <a:noFill/>
          <a:ln/>
        </p:spPr>
        <p:txBody>
          <a:bodyPr wrap="square" rtlCol="0" anchor="t"/>
          <a:lstStyle/>
          <a:p>
            <a:pPr algn="ctr" indent="0" marL="0">
              <a:buNone/>
            </a:pPr>
            <a:r>
              <a:rPr lang="en-US" sz="1150" dirty="0">
                <a:solidFill>
                  <a:srgbClr val="5A6472"/>
                </a:solidFill>
                <a:latin typeface="Calibri" pitchFamily="34" charset="0"/>
                <a:ea typeface="Calibri" pitchFamily="34" charset="-122"/>
                <a:cs typeface="Calibri" pitchFamily="34" charset="-120"/>
              </a:rPr>
              <a:t>The layered architecture makes new features easy to add.</a:t>
            </a:r>
            <a:endParaRPr lang="en-US" sz="1150" dirty="0"/>
          </a:p>
        </p:txBody>
      </p:sp>
      <p:sp>
        <p:nvSpPr>
          <p:cNvPr id="24" name="Shape 22"/>
          <p:cNvSpPr/>
          <p:nvPr/>
        </p:nvSpPr>
        <p:spPr>
          <a:xfrm>
            <a:off x="9473184" y="1874520"/>
            <a:ext cx="2084832" cy="3794760"/>
          </a:xfrm>
          <a:prstGeom prst="roundRect">
            <a:avLst>
              <a:gd name="adj" fmla="val 3509"/>
            </a:avLst>
          </a:prstGeom>
          <a:solidFill>
            <a:srgbClr val="FFFFFF"/>
          </a:solidFill>
          <a:ln/>
          <a:effectLst>
            <a:outerShdw sx="100000" sy="100000" kx="0" ky="0" algn="bl" rotWithShape="0" blurRad="101600" dist="25400" dir="5400000">
              <a:srgbClr val="1A1D29">
                <a:alpha val="12000"/>
              </a:srgbClr>
            </a:outerShdw>
          </a:effectLst>
        </p:spPr>
      </p:sp>
      <p:sp>
        <p:nvSpPr>
          <p:cNvPr id="25" name="Shape 23"/>
          <p:cNvSpPr/>
          <p:nvPr/>
        </p:nvSpPr>
        <p:spPr>
          <a:xfrm>
            <a:off x="10218420" y="2194560"/>
            <a:ext cx="594360" cy="594360"/>
          </a:xfrm>
          <a:prstGeom prst="ellipse">
            <a:avLst/>
          </a:prstGeom>
          <a:solidFill>
            <a:srgbClr val="21295C"/>
          </a:solidFill>
          <a:ln/>
        </p:spPr>
      </p:sp>
      <p:sp>
        <p:nvSpPr>
          <p:cNvPr id="26" name="Text 24"/>
          <p:cNvSpPr/>
          <p:nvPr/>
        </p:nvSpPr>
        <p:spPr>
          <a:xfrm>
            <a:off x="10218420" y="2194560"/>
            <a:ext cx="594360" cy="594360"/>
          </a:xfrm>
          <a:prstGeom prst="rect">
            <a:avLst/>
          </a:prstGeom>
          <a:noFill/>
          <a:ln/>
        </p:spPr>
        <p:txBody>
          <a:bodyPr wrap="square" rtlCol="0" anchor="ctr"/>
          <a:lstStyle/>
          <a:p>
            <a:pPr algn="ctr" indent="0" marL="0">
              <a:buNone/>
            </a:pPr>
            <a:r>
              <a:rPr lang="en-US" sz="2210" dirty="0">
                <a:solidFill>
                  <a:srgbClr val="FFFFFF"/>
                </a:solidFill>
                <a:latin typeface="Calibri" pitchFamily="34" charset="0"/>
                <a:ea typeface="Calibri" pitchFamily="34" charset="-122"/>
                <a:cs typeface="Calibri" pitchFamily="34" charset="-120"/>
              </a:rPr>
              <a:t>🔒</a:t>
            </a:r>
            <a:endParaRPr lang="en-US" sz="2210" dirty="0"/>
          </a:p>
        </p:txBody>
      </p:sp>
      <p:sp>
        <p:nvSpPr>
          <p:cNvPr id="27" name="Text 25"/>
          <p:cNvSpPr/>
          <p:nvPr/>
        </p:nvSpPr>
        <p:spPr>
          <a:xfrm>
            <a:off x="9610344" y="2971800"/>
            <a:ext cx="1810512" cy="822960"/>
          </a:xfrm>
          <a:prstGeom prst="rect">
            <a:avLst/>
          </a:prstGeom>
          <a:noFill/>
          <a:ln/>
        </p:spPr>
        <p:txBody>
          <a:bodyPr wrap="square" rtlCol="0" anchor="t"/>
          <a:lstStyle/>
          <a:p>
            <a:pPr algn="ctr" indent="0" marL="0">
              <a:buNone/>
            </a:pPr>
            <a:r>
              <a:rPr lang="en-US" sz="1450" b="1" dirty="0">
                <a:solidFill>
                  <a:srgbClr val="21295C"/>
                </a:solidFill>
                <a:latin typeface="Cambria" pitchFamily="34" charset="0"/>
                <a:ea typeface="Cambria" pitchFamily="34" charset="-122"/>
                <a:cs typeface="Cambria" pitchFamily="34" charset="-120"/>
              </a:rPr>
              <a:t>Secure API Access</a:t>
            </a:r>
            <a:endParaRPr lang="en-US" sz="1450" dirty="0"/>
          </a:p>
        </p:txBody>
      </p:sp>
      <p:sp>
        <p:nvSpPr>
          <p:cNvPr id="28" name="Text 26"/>
          <p:cNvSpPr/>
          <p:nvPr/>
        </p:nvSpPr>
        <p:spPr>
          <a:xfrm>
            <a:off x="9656064" y="3794760"/>
            <a:ext cx="1719072" cy="1737360"/>
          </a:xfrm>
          <a:prstGeom prst="rect">
            <a:avLst/>
          </a:prstGeom>
          <a:noFill/>
          <a:ln/>
        </p:spPr>
        <p:txBody>
          <a:bodyPr wrap="square" rtlCol="0" anchor="t"/>
          <a:lstStyle/>
          <a:p>
            <a:pPr algn="ctr" indent="0" marL="0">
              <a:buNone/>
            </a:pPr>
            <a:r>
              <a:rPr lang="en-US" sz="1150" dirty="0">
                <a:solidFill>
                  <a:srgbClr val="5A6472"/>
                </a:solidFill>
                <a:latin typeface="Calibri" pitchFamily="34" charset="0"/>
                <a:ea typeface="Calibri" pitchFamily="34" charset="-122"/>
                <a:cs typeface="Calibri" pitchFamily="34" charset="-120"/>
              </a:rPr>
              <a:t>External APIs are only called through the Backend, never the Frontend.</a:t>
            </a:r>
            <a:endParaRPr lang="en-US" sz="1150" dirty="0"/>
          </a:p>
        </p:txBody>
      </p:sp>
      <p:sp>
        <p:nvSpPr>
          <p:cNvPr id="29" name="Text 27"/>
          <p:cNvSpPr/>
          <p:nvPr/>
        </p:nvSpPr>
        <p:spPr>
          <a:xfrm>
            <a:off x="11365992" y="6355080"/>
            <a:ext cx="548640" cy="320040"/>
          </a:xfrm>
          <a:prstGeom prst="rect">
            <a:avLst/>
          </a:prstGeom>
          <a:noFill/>
          <a:ln/>
        </p:spPr>
        <p:txBody>
          <a:bodyPr wrap="square"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7F9"/>
        </a:solidFill>
      </p:bgPr>
    </p:bg>
    <p:spTree>
      <p:nvGrpSpPr>
        <p:cNvPr id="1" name=""/>
        <p:cNvGrpSpPr/>
        <p:nvPr/>
      </p:nvGrpSpPr>
      <p:grpSpPr>
        <a:xfrm>
          <a:off x="0" y="0"/>
          <a:ext cx="0" cy="0"/>
          <a:chOff x="0" y="0"/>
          <a:chExt cx="0" cy="0"/>
        </a:xfrm>
      </p:grpSpPr>
      <p:sp>
        <p:nvSpPr>
          <p:cNvPr id="2" name="Text 0"/>
          <p:cNvSpPr/>
          <p:nvPr/>
        </p:nvSpPr>
        <p:spPr>
          <a:xfrm>
            <a:off x="548640" y="411480"/>
            <a:ext cx="7315200" cy="36576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LIVE DEMO</a:t>
            </a:r>
            <a:endParaRPr lang="en-US" sz="1300" dirty="0"/>
          </a:p>
        </p:txBody>
      </p:sp>
      <p:sp>
        <p:nvSpPr>
          <p:cNvPr id="3" name="Text 1"/>
          <p:cNvSpPr/>
          <p:nvPr/>
        </p:nvSpPr>
        <p:spPr>
          <a:xfrm>
            <a:off x="548640" y="731520"/>
            <a:ext cx="10515600" cy="822960"/>
          </a:xfrm>
          <a:prstGeom prst="rect">
            <a:avLst/>
          </a:prstGeom>
          <a:noFill/>
          <a:ln/>
        </p:spPr>
        <p:txBody>
          <a:bodyPr wrap="square" rtlCol="0" anchor="ctr"/>
          <a:lstStyle/>
          <a:p>
            <a:pPr indent="0" marL="0">
              <a:buNone/>
            </a:pPr>
            <a:r>
              <a:rPr lang="en-US" sz="3400" b="1" dirty="0">
                <a:solidFill>
                  <a:srgbClr val="21295C"/>
                </a:solidFill>
                <a:latin typeface="Cambria" pitchFamily="34" charset="0"/>
                <a:ea typeface="Cambria" pitchFamily="34" charset="-122"/>
                <a:cs typeface="Cambria" pitchFamily="34" charset="-120"/>
              </a:rPr>
              <a:t>System Demonstration</a:t>
            </a:r>
            <a:endParaRPr lang="en-US" sz="3400" dirty="0"/>
          </a:p>
        </p:txBody>
      </p:sp>
      <p:sp>
        <p:nvSpPr>
          <p:cNvPr id="4" name="Text 2"/>
          <p:cNvSpPr/>
          <p:nvPr/>
        </p:nvSpPr>
        <p:spPr>
          <a:xfrm>
            <a:off x="548640" y="1508760"/>
            <a:ext cx="10515600" cy="457200"/>
          </a:xfrm>
          <a:prstGeom prst="rect">
            <a:avLst/>
          </a:prstGeom>
          <a:noFill/>
          <a:ln/>
        </p:spPr>
        <p:txBody>
          <a:bodyPr wrap="square" rtlCol="0" anchor="ctr"/>
          <a:lstStyle/>
          <a:p>
            <a:pPr indent="0" marL="0">
              <a:buNone/>
            </a:pPr>
            <a:r>
              <a:rPr lang="en-US" sz="1400" i="1" dirty="0">
                <a:solidFill>
                  <a:srgbClr val="1C7293"/>
                </a:solidFill>
                <a:latin typeface="Calibri" pitchFamily="34" charset="0"/>
                <a:ea typeface="Calibri" pitchFamily="34" charset="-122"/>
                <a:cs typeface="Calibri" pitchFamily="34" charset="-120"/>
              </a:rPr>
              <a:t>Example searches: Coffee Shop · Japanese Restaurant · Shwedagon · Shopping Mall</a:t>
            </a:r>
            <a:endParaRPr lang="en-US" sz="1400" dirty="0"/>
          </a:p>
        </p:txBody>
      </p:sp>
      <p:sp>
        <p:nvSpPr>
          <p:cNvPr id="5" name="Shape 3"/>
          <p:cNvSpPr/>
          <p:nvPr/>
        </p:nvSpPr>
        <p:spPr>
          <a:xfrm>
            <a:off x="640080" y="2148840"/>
            <a:ext cx="457200" cy="457200"/>
          </a:xfrm>
          <a:prstGeom prst="ellipse">
            <a:avLst/>
          </a:prstGeom>
          <a:solidFill>
            <a:srgbClr val="065A82"/>
          </a:solidFill>
          <a:ln/>
        </p:spPr>
      </p:sp>
      <p:sp>
        <p:nvSpPr>
          <p:cNvPr id="6" name="Text 4"/>
          <p:cNvSpPr/>
          <p:nvPr/>
        </p:nvSpPr>
        <p:spPr>
          <a:xfrm>
            <a:off x="640080" y="214884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Shape 5"/>
          <p:cNvSpPr/>
          <p:nvPr/>
        </p:nvSpPr>
        <p:spPr>
          <a:xfrm>
            <a:off x="1280160" y="2130552"/>
            <a:ext cx="9875520" cy="566928"/>
          </a:xfrm>
          <a:prstGeom prst="roundRect">
            <a:avLst>
              <a:gd name="adj" fmla="val 8065"/>
            </a:avLst>
          </a:prstGeom>
          <a:solidFill>
            <a:srgbClr val="FFFFFF"/>
          </a:solidFill>
          <a:ln/>
          <a:effectLst>
            <a:outerShdw sx="100000" sy="100000" kx="0" ky="0" algn="bl" rotWithShape="0" blurRad="63500" dist="12700" dir="5400000">
              <a:srgbClr val="1A1D29">
                <a:alpha val="8000"/>
              </a:srgbClr>
            </a:outerShdw>
          </a:effectLst>
        </p:spPr>
      </p:sp>
      <p:sp>
        <p:nvSpPr>
          <p:cNvPr id="8" name="Text 6"/>
          <p:cNvSpPr/>
          <p:nvPr/>
        </p:nvSpPr>
        <p:spPr>
          <a:xfrm>
            <a:off x="1508760" y="2130552"/>
            <a:ext cx="9509760" cy="566928"/>
          </a:xfrm>
          <a:prstGeom prst="rect">
            <a:avLst/>
          </a:prstGeom>
          <a:noFill/>
          <a:ln/>
        </p:spPr>
        <p:txBody>
          <a:bodyPr wrap="square" rtlCol="0" anchor="ctr"/>
          <a:lstStyle/>
          <a:p>
            <a:pPr indent="0" marL="0">
              <a:buNone/>
            </a:pPr>
            <a:r>
              <a:rPr lang="en-US" sz="1450" dirty="0">
                <a:solidFill>
                  <a:srgbClr val="1A1D29"/>
                </a:solidFill>
                <a:latin typeface="Calibri" pitchFamily="34" charset="0"/>
                <a:ea typeface="Calibri" pitchFamily="34" charset="-122"/>
                <a:cs typeface="Calibri" pitchFamily="34" charset="-120"/>
              </a:rPr>
              <a:t>User opens the application</a:t>
            </a:r>
            <a:endParaRPr lang="en-US" sz="1450" dirty="0"/>
          </a:p>
        </p:txBody>
      </p:sp>
      <p:sp>
        <p:nvSpPr>
          <p:cNvPr id="9" name="Shape 7"/>
          <p:cNvSpPr/>
          <p:nvPr/>
        </p:nvSpPr>
        <p:spPr>
          <a:xfrm>
            <a:off x="804672" y="2724912"/>
            <a:ext cx="128016" cy="115214"/>
          </a:xfrm>
          <a:prstGeom prst="downArrow">
            <a:avLst/>
          </a:prstGeom>
          <a:solidFill>
            <a:srgbClr val="1C7293"/>
          </a:solidFill>
          <a:ln/>
        </p:spPr>
      </p:sp>
      <p:sp>
        <p:nvSpPr>
          <p:cNvPr id="10" name="Shape 8"/>
          <p:cNvSpPr/>
          <p:nvPr/>
        </p:nvSpPr>
        <p:spPr>
          <a:xfrm>
            <a:off x="640080" y="2843784"/>
            <a:ext cx="457200" cy="457200"/>
          </a:xfrm>
          <a:prstGeom prst="ellipse">
            <a:avLst/>
          </a:prstGeom>
          <a:solidFill>
            <a:srgbClr val="1C7293"/>
          </a:solidFill>
          <a:ln/>
        </p:spPr>
      </p:sp>
      <p:sp>
        <p:nvSpPr>
          <p:cNvPr id="11" name="Text 9"/>
          <p:cNvSpPr/>
          <p:nvPr/>
        </p:nvSpPr>
        <p:spPr>
          <a:xfrm>
            <a:off x="640080" y="2843784"/>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2" name="Shape 10"/>
          <p:cNvSpPr/>
          <p:nvPr/>
        </p:nvSpPr>
        <p:spPr>
          <a:xfrm>
            <a:off x="1280160" y="2825496"/>
            <a:ext cx="9875520" cy="566928"/>
          </a:xfrm>
          <a:prstGeom prst="roundRect">
            <a:avLst>
              <a:gd name="adj" fmla="val 8065"/>
            </a:avLst>
          </a:prstGeom>
          <a:solidFill>
            <a:srgbClr val="FFFFFF"/>
          </a:solidFill>
          <a:ln/>
          <a:effectLst>
            <a:outerShdw sx="100000" sy="100000" kx="0" ky="0" algn="bl" rotWithShape="0" blurRad="63500" dist="12700" dir="5400000">
              <a:srgbClr val="1A1D29">
                <a:alpha val="8000"/>
              </a:srgbClr>
            </a:outerShdw>
          </a:effectLst>
        </p:spPr>
      </p:sp>
      <p:sp>
        <p:nvSpPr>
          <p:cNvPr id="13" name="Text 11"/>
          <p:cNvSpPr/>
          <p:nvPr/>
        </p:nvSpPr>
        <p:spPr>
          <a:xfrm>
            <a:off x="1508760" y="2825496"/>
            <a:ext cx="9509760" cy="566928"/>
          </a:xfrm>
          <a:prstGeom prst="rect">
            <a:avLst/>
          </a:prstGeom>
          <a:noFill/>
          <a:ln/>
        </p:spPr>
        <p:txBody>
          <a:bodyPr wrap="square" rtlCol="0" anchor="ctr"/>
          <a:lstStyle/>
          <a:p>
            <a:pPr indent="0" marL="0">
              <a:buNone/>
            </a:pPr>
            <a:r>
              <a:rPr lang="en-US" sz="1450" dirty="0">
                <a:solidFill>
                  <a:srgbClr val="1A1D29"/>
                </a:solidFill>
                <a:latin typeface="Calibri" pitchFamily="34" charset="0"/>
                <a:ea typeface="Calibri" pitchFamily="34" charset="-122"/>
                <a:cs typeface="Calibri" pitchFamily="34" charset="-120"/>
              </a:rPr>
              <a:t>User enters a search keyword</a:t>
            </a:r>
            <a:endParaRPr lang="en-US" sz="1450" dirty="0"/>
          </a:p>
        </p:txBody>
      </p:sp>
      <p:sp>
        <p:nvSpPr>
          <p:cNvPr id="14" name="Shape 12"/>
          <p:cNvSpPr/>
          <p:nvPr/>
        </p:nvSpPr>
        <p:spPr>
          <a:xfrm>
            <a:off x="804672" y="3419856"/>
            <a:ext cx="128016" cy="115214"/>
          </a:xfrm>
          <a:prstGeom prst="downArrow">
            <a:avLst/>
          </a:prstGeom>
          <a:solidFill>
            <a:srgbClr val="1C7293"/>
          </a:solidFill>
          <a:ln/>
        </p:spPr>
      </p:sp>
      <p:sp>
        <p:nvSpPr>
          <p:cNvPr id="15" name="Shape 13"/>
          <p:cNvSpPr/>
          <p:nvPr/>
        </p:nvSpPr>
        <p:spPr>
          <a:xfrm>
            <a:off x="640080" y="3538728"/>
            <a:ext cx="457200" cy="457200"/>
          </a:xfrm>
          <a:prstGeom prst="ellipse">
            <a:avLst/>
          </a:prstGeom>
          <a:solidFill>
            <a:srgbClr val="065A82"/>
          </a:solidFill>
          <a:ln/>
        </p:spPr>
      </p:sp>
      <p:sp>
        <p:nvSpPr>
          <p:cNvPr id="16" name="Text 14"/>
          <p:cNvSpPr/>
          <p:nvPr/>
        </p:nvSpPr>
        <p:spPr>
          <a:xfrm>
            <a:off x="640080" y="3538728"/>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7" name="Shape 15"/>
          <p:cNvSpPr/>
          <p:nvPr/>
        </p:nvSpPr>
        <p:spPr>
          <a:xfrm>
            <a:off x="1280160" y="3520440"/>
            <a:ext cx="9875520" cy="566928"/>
          </a:xfrm>
          <a:prstGeom prst="roundRect">
            <a:avLst>
              <a:gd name="adj" fmla="val 8065"/>
            </a:avLst>
          </a:prstGeom>
          <a:solidFill>
            <a:srgbClr val="FFFFFF"/>
          </a:solidFill>
          <a:ln/>
          <a:effectLst>
            <a:outerShdw sx="100000" sy="100000" kx="0" ky="0" algn="bl" rotWithShape="0" blurRad="63500" dist="12700" dir="5400000">
              <a:srgbClr val="1A1D29">
                <a:alpha val="8000"/>
              </a:srgbClr>
            </a:outerShdw>
          </a:effectLst>
        </p:spPr>
      </p:sp>
      <p:sp>
        <p:nvSpPr>
          <p:cNvPr id="18" name="Text 16"/>
          <p:cNvSpPr/>
          <p:nvPr/>
        </p:nvSpPr>
        <p:spPr>
          <a:xfrm>
            <a:off x="1508760" y="3520440"/>
            <a:ext cx="9509760" cy="566928"/>
          </a:xfrm>
          <a:prstGeom prst="rect">
            <a:avLst/>
          </a:prstGeom>
          <a:noFill/>
          <a:ln/>
        </p:spPr>
        <p:txBody>
          <a:bodyPr wrap="square" rtlCol="0" anchor="ctr"/>
          <a:lstStyle/>
          <a:p>
            <a:pPr indent="0" marL="0">
              <a:buNone/>
            </a:pPr>
            <a:r>
              <a:rPr lang="en-US" sz="1450" dirty="0">
                <a:solidFill>
                  <a:srgbClr val="1A1D29"/>
                </a:solidFill>
                <a:latin typeface="Calibri" pitchFamily="34" charset="0"/>
                <a:ea typeface="Calibri" pitchFamily="34" charset="-122"/>
                <a:cs typeface="Calibri" pitchFamily="34" charset="-120"/>
              </a:rPr>
              <a:t>Frontend sends request to Backend</a:t>
            </a:r>
            <a:endParaRPr lang="en-US" sz="1450" dirty="0"/>
          </a:p>
        </p:txBody>
      </p:sp>
      <p:sp>
        <p:nvSpPr>
          <p:cNvPr id="19" name="Shape 17"/>
          <p:cNvSpPr/>
          <p:nvPr/>
        </p:nvSpPr>
        <p:spPr>
          <a:xfrm>
            <a:off x="804672" y="4114800"/>
            <a:ext cx="128016" cy="115214"/>
          </a:xfrm>
          <a:prstGeom prst="downArrow">
            <a:avLst/>
          </a:prstGeom>
          <a:solidFill>
            <a:srgbClr val="1C7293"/>
          </a:solidFill>
          <a:ln/>
        </p:spPr>
      </p:sp>
      <p:sp>
        <p:nvSpPr>
          <p:cNvPr id="20" name="Shape 18"/>
          <p:cNvSpPr/>
          <p:nvPr/>
        </p:nvSpPr>
        <p:spPr>
          <a:xfrm>
            <a:off x="640080" y="4233672"/>
            <a:ext cx="457200" cy="457200"/>
          </a:xfrm>
          <a:prstGeom prst="ellipse">
            <a:avLst/>
          </a:prstGeom>
          <a:solidFill>
            <a:srgbClr val="1C7293"/>
          </a:solidFill>
          <a:ln/>
        </p:spPr>
      </p:sp>
      <p:sp>
        <p:nvSpPr>
          <p:cNvPr id="21" name="Text 19"/>
          <p:cNvSpPr/>
          <p:nvPr/>
        </p:nvSpPr>
        <p:spPr>
          <a:xfrm>
            <a:off x="640080" y="4233672"/>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2" name="Shape 20"/>
          <p:cNvSpPr/>
          <p:nvPr/>
        </p:nvSpPr>
        <p:spPr>
          <a:xfrm>
            <a:off x="1280160" y="4215384"/>
            <a:ext cx="9875520" cy="566928"/>
          </a:xfrm>
          <a:prstGeom prst="roundRect">
            <a:avLst>
              <a:gd name="adj" fmla="val 8065"/>
            </a:avLst>
          </a:prstGeom>
          <a:solidFill>
            <a:srgbClr val="FFFFFF"/>
          </a:solidFill>
          <a:ln/>
          <a:effectLst>
            <a:outerShdw sx="100000" sy="100000" kx="0" ky="0" algn="bl" rotWithShape="0" blurRad="63500" dist="12700" dir="5400000">
              <a:srgbClr val="1A1D29">
                <a:alpha val="8000"/>
              </a:srgbClr>
            </a:outerShdw>
          </a:effectLst>
        </p:spPr>
      </p:sp>
      <p:sp>
        <p:nvSpPr>
          <p:cNvPr id="23" name="Text 21"/>
          <p:cNvSpPr/>
          <p:nvPr/>
        </p:nvSpPr>
        <p:spPr>
          <a:xfrm>
            <a:off x="1508760" y="4215384"/>
            <a:ext cx="9509760" cy="566928"/>
          </a:xfrm>
          <a:prstGeom prst="rect">
            <a:avLst/>
          </a:prstGeom>
          <a:noFill/>
          <a:ln/>
        </p:spPr>
        <p:txBody>
          <a:bodyPr wrap="square" rtlCol="0" anchor="ctr"/>
          <a:lstStyle/>
          <a:p>
            <a:pPr indent="0" marL="0">
              <a:buNone/>
            </a:pPr>
            <a:r>
              <a:rPr lang="en-US" sz="1450" dirty="0">
                <a:solidFill>
                  <a:srgbClr val="1A1D29"/>
                </a:solidFill>
                <a:latin typeface="Calibri" pitchFamily="34" charset="0"/>
                <a:ea typeface="Calibri" pitchFamily="34" charset="-122"/>
                <a:cs typeface="Calibri" pitchFamily="34" charset="-120"/>
              </a:rPr>
              <a:t>Backend communicates with external APIs</a:t>
            </a:r>
            <a:endParaRPr lang="en-US" sz="1450" dirty="0"/>
          </a:p>
        </p:txBody>
      </p:sp>
      <p:sp>
        <p:nvSpPr>
          <p:cNvPr id="24" name="Shape 22"/>
          <p:cNvSpPr/>
          <p:nvPr/>
        </p:nvSpPr>
        <p:spPr>
          <a:xfrm>
            <a:off x="804672" y="4809744"/>
            <a:ext cx="128016" cy="115214"/>
          </a:xfrm>
          <a:prstGeom prst="downArrow">
            <a:avLst/>
          </a:prstGeom>
          <a:solidFill>
            <a:srgbClr val="1C7293"/>
          </a:solidFill>
          <a:ln/>
        </p:spPr>
      </p:sp>
      <p:sp>
        <p:nvSpPr>
          <p:cNvPr id="25" name="Shape 23"/>
          <p:cNvSpPr/>
          <p:nvPr/>
        </p:nvSpPr>
        <p:spPr>
          <a:xfrm>
            <a:off x="640080" y="4928616"/>
            <a:ext cx="457200" cy="457200"/>
          </a:xfrm>
          <a:prstGeom prst="ellipse">
            <a:avLst/>
          </a:prstGeom>
          <a:solidFill>
            <a:srgbClr val="065A82"/>
          </a:solidFill>
          <a:ln/>
        </p:spPr>
      </p:sp>
      <p:sp>
        <p:nvSpPr>
          <p:cNvPr id="26" name="Text 24"/>
          <p:cNvSpPr/>
          <p:nvPr/>
        </p:nvSpPr>
        <p:spPr>
          <a:xfrm>
            <a:off x="640080" y="4928616"/>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27" name="Shape 25"/>
          <p:cNvSpPr/>
          <p:nvPr/>
        </p:nvSpPr>
        <p:spPr>
          <a:xfrm>
            <a:off x="1280160" y="4910328"/>
            <a:ext cx="9875520" cy="566928"/>
          </a:xfrm>
          <a:prstGeom prst="roundRect">
            <a:avLst>
              <a:gd name="adj" fmla="val 8065"/>
            </a:avLst>
          </a:prstGeom>
          <a:solidFill>
            <a:srgbClr val="FFFFFF"/>
          </a:solidFill>
          <a:ln/>
          <a:effectLst>
            <a:outerShdw sx="100000" sy="100000" kx="0" ky="0" algn="bl" rotWithShape="0" blurRad="63500" dist="12700" dir="5400000">
              <a:srgbClr val="1A1D29">
                <a:alpha val="8000"/>
              </a:srgbClr>
            </a:outerShdw>
          </a:effectLst>
        </p:spPr>
      </p:sp>
      <p:sp>
        <p:nvSpPr>
          <p:cNvPr id="28" name="Text 26"/>
          <p:cNvSpPr/>
          <p:nvPr/>
        </p:nvSpPr>
        <p:spPr>
          <a:xfrm>
            <a:off x="1508760" y="4910328"/>
            <a:ext cx="9509760" cy="566928"/>
          </a:xfrm>
          <a:prstGeom prst="rect">
            <a:avLst/>
          </a:prstGeom>
          <a:noFill/>
          <a:ln/>
        </p:spPr>
        <p:txBody>
          <a:bodyPr wrap="square" rtlCol="0" anchor="ctr"/>
          <a:lstStyle/>
          <a:p>
            <a:pPr indent="0" marL="0">
              <a:buNone/>
            </a:pPr>
            <a:r>
              <a:rPr lang="en-US" sz="1450" dirty="0">
                <a:solidFill>
                  <a:srgbClr val="1A1D29"/>
                </a:solidFill>
                <a:latin typeface="Calibri" pitchFamily="34" charset="0"/>
                <a:ea typeface="Calibri" pitchFamily="34" charset="-122"/>
                <a:cs typeface="Calibri" pitchFamily="34" charset="-120"/>
              </a:rPr>
              <a:t>Search results are returned</a:t>
            </a:r>
            <a:endParaRPr lang="en-US" sz="1450" dirty="0"/>
          </a:p>
        </p:txBody>
      </p:sp>
      <p:sp>
        <p:nvSpPr>
          <p:cNvPr id="29" name="Shape 27"/>
          <p:cNvSpPr/>
          <p:nvPr/>
        </p:nvSpPr>
        <p:spPr>
          <a:xfrm>
            <a:off x="804672" y="5504688"/>
            <a:ext cx="128016" cy="115214"/>
          </a:xfrm>
          <a:prstGeom prst="downArrow">
            <a:avLst/>
          </a:prstGeom>
          <a:solidFill>
            <a:srgbClr val="1C7293"/>
          </a:solidFill>
          <a:ln/>
        </p:spPr>
      </p:sp>
      <p:sp>
        <p:nvSpPr>
          <p:cNvPr id="30" name="Shape 28"/>
          <p:cNvSpPr/>
          <p:nvPr/>
        </p:nvSpPr>
        <p:spPr>
          <a:xfrm>
            <a:off x="640080" y="5623560"/>
            <a:ext cx="457200" cy="457200"/>
          </a:xfrm>
          <a:prstGeom prst="ellipse">
            <a:avLst/>
          </a:prstGeom>
          <a:solidFill>
            <a:srgbClr val="1C7293"/>
          </a:solidFill>
          <a:ln/>
        </p:spPr>
      </p:sp>
      <p:sp>
        <p:nvSpPr>
          <p:cNvPr id="31" name="Text 29"/>
          <p:cNvSpPr/>
          <p:nvPr/>
        </p:nvSpPr>
        <p:spPr>
          <a:xfrm>
            <a:off x="640080" y="562356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6</a:t>
            </a:r>
            <a:endParaRPr lang="en-US" sz="1600" dirty="0"/>
          </a:p>
        </p:txBody>
      </p:sp>
      <p:sp>
        <p:nvSpPr>
          <p:cNvPr id="32" name="Shape 30"/>
          <p:cNvSpPr/>
          <p:nvPr/>
        </p:nvSpPr>
        <p:spPr>
          <a:xfrm>
            <a:off x="1280160" y="5605272"/>
            <a:ext cx="9875520" cy="566928"/>
          </a:xfrm>
          <a:prstGeom prst="roundRect">
            <a:avLst>
              <a:gd name="adj" fmla="val 8065"/>
            </a:avLst>
          </a:prstGeom>
          <a:solidFill>
            <a:srgbClr val="FFFFFF"/>
          </a:solidFill>
          <a:ln/>
          <a:effectLst>
            <a:outerShdw sx="100000" sy="100000" kx="0" ky="0" algn="bl" rotWithShape="0" blurRad="63500" dist="12700" dir="5400000">
              <a:srgbClr val="1A1D29">
                <a:alpha val="8000"/>
              </a:srgbClr>
            </a:outerShdw>
          </a:effectLst>
        </p:spPr>
      </p:sp>
      <p:sp>
        <p:nvSpPr>
          <p:cNvPr id="33" name="Text 31"/>
          <p:cNvSpPr/>
          <p:nvPr/>
        </p:nvSpPr>
        <p:spPr>
          <a:xfrm>
            <a:off x="1508760" y="5605272"/>
            <a:ext cx="9509760" cy="566928"/>
          </a:xfrm>
          <a:prstGeom prst="rect">
            <a:avLst/>
          </a:prstGeom>
          <a:noFill/>
          <a:ln/>
        </p:spPr>
        <p:txBody>
          <a:bodyPr wrap="square" rtlCol="0" anchor="ctr"/>
          <a:lstStyle/>
          <a:p>
            <a:pPr indent="0" marL="0">
              <a:buNone/>
            </a:pPr>
            <a:r>
              <a:rPr lang="en-US" sz="1450" dirty="0">
                <a:solidFill>
                  <a:srgbClr val="1A1D29"/>
                </a:solidFill>
                <a:latin typeface="Calibri" pitchFamily="34" charset="0"/>
                <a:ea typeface="Calibri" pitchFamily="34" charset="-122"/>
                <a:cs typeface="Calibri" pitchFamily="34" charset="-120"/>
              </a:rPr>
              <a:t>User views place information</a:t>
            </a:r>
            <a:endParaRPr lang="en-US" sz="1450" dirty="0"/>
          </a:p>
        </p:txBody>
      </p:sp>
      <p:sp>
        <p:nvSpPr>
          <p:cNvPr id="34" name="Text 32"/>
          <p:cNvSpPr/>
          <p:nvPr/>
        </p:nvSpPr>
        <p:spPr>
          <a:xfrm>
            <a:off x="11365992" y="6355080"/>
            <a:ext cx="548640" cy="320040"/>
          </a:xfrm>
          <a:prstGeom prst="rect">
            <a:avLst/>
          </a:prstGeom>
          <a:noFill/>
          <a:ln/>
        </p:spPr>
        <p:txBody>
          <a:bodyPr wrap="square"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7F9"/>
        </a:solidFill>
      </p:bgPr>
    </p:bg>
    <p:spTree>
      <p:nvGrpSpPr>
        <p:cNvPr id="1" name=""/>
        <p:cNvGrpSpPr/>
        <p:nvPr/>
      </p:nvGrpSpPr>
      <p:grpSpPr>
        <a:xfrm>
          <a:off x="0" y="0"/>
          <a:ext cx="0" cy="0"/>
          <a:chOff x="0" y="0"/>
          <a:chExt cx="0" cy="0"/>
        </a:xfrm>
      </p:grpSpPr>
      <p:sp>
        <p:nvSpPr>
          <p:cNvPr id="2" name="Text 0"/>
          <p:cNvSpPr/>
          <p:nvPr/>
        </p:nvSpPr>
        <p:spPr>
          <a:xfrm>
            <a:off x="548640" y="411480"/>
            <a:ext cx="7315200" cy="36576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CHALLENGES &amp; SOLUTIONS</a:t>
            </a:r>
            <a:endParaRPr lang="en-US" sz="1300" dirty="0"/>
          </a:p>
        </p:txBody>
      </p:sp>
      <p:sp>
        <p:nvSpPr>
          <p:cNvPr id="3" name="Text 1"/>
          <p:cNvSpPr/>
          <p:nvPr/>
        </p:nvSpPr>
        <p:spPr>
          <a:xfrm>
            <a:off x="548640" y="731520"/>
            <a:ext cx="10515600" cy="822960"/>
          </a:xfrm>
          <a:prstGeom prst="rect">
            <a:avLst/>
          </a:prstGeom>
          <a:noFill/>
          <a:ln/>
        </p:spPr>
        <p:txBody>
          <a:bodyPr wrap="square" rtlCol="0" anchor="ctr"/>
          <a:lstStyle/>
          <a:p>
            <a:pPr indent="0" marL="0">
              <a:buNone/>
            </a:pPr>
            <a:r>
              <a:rPr lang="en-US" sz="3400" b="1" dirty="0">
                <a:solidFill>
                  <a:srgbClr val="21295C"/>
                </a:solidFill>
                <a:latin typeface="Cambria" pitchFamily="34" charset="0"/>
                <a:ea typeface="Cambria" pitchFamily="34" charset="-122"/>
                <a:cs typeface="Cambria" pitchFamily="34" charset="-120"/>
              </a:rPr>
              <a:t>Problems Solved Along the Way</a:t>
            </a:r>
            <a:endParaRPr lang="en-US" sz="3400" dirty="0"/>
          </a:p>
        </p:txBody>
      </p:sp>
      <p:sp>
        <p:nvSpPr>
          <p:cNvPr id="4" name="Shape 2"/>
          <p:cNvSpPr/>
          <p:nvPr/>
        </p:nvSpPr>
        <p:spPr>
          <a:xfrm>
            <a:off x="548640" y="1783080"/>
            <a:ext cx="5257800" cy="914400"/>
          </a:xfrm>
          <a:prstGeom prst="roundRect">
            <a:avLst>
              <a:gd name="adj" fmla="val 8000"/>
            </a:avLst>
          </a:prstGeom>
          <a:solidFill>
            <a:srgbClr val="FFFFFF"/>
          </a:solidFill>
          <a:ln/>
          <a:effectLst>
            <a:outerShdw sx="100000" sy="100000" kx="0" ky="0" algn="bl" rotWithShape="0" blurRad="101600" dist="25400" dir="5400000">
              <a:srgbClr val="1A1D29">
                <a:alpha val="12000"/>
              </a:srgbClr>
            </a:outerShdw>
          </a:effectLst>
        </p:spPr>
      </p:sp>
      <p:sp>
        <p:nvSpPr>
          <p:cNvPr id="5" name="Shape 3"/>
          <p:cNvSpPr/>
          <p:nvPr/>
        </p:nvSpPr>
        <p:spPr>
          <a:xfrm>
            <a:off x="548640" y="1783080"/>
            <a:ext cx="91440" cy="914400"/>
          </a:xfrm>
          <a:prstGeom prst="roundRect">
            <a:avLst/>
          </a:prstGeom>
          <a:solidFill>
            <a:srgbClr val="C0392B"/>
          </a:solidFill>
          <a:ln/>
        </p:spPr>
      </p:sp>
      <p:sp>
        <p:nvSpPr>
          <p:cNvPr id="6" name="Text 4"/>
          <p:cNvSpPr/>
          <p:nvPr/>
        </p:nvSpPr>
        <p:spPr>
          <a:xfrm>
            <a:off x="868680" y="1874520"/>
            <a:ext cx="4754880" cy="274320"/>
          </a:xfrm>
          <a:prstGeom prst="rect">
            <a:avLst/>
          </a:prstGeom>
          <a:noFill/>
          <a:ln/>
        </p:spPr>
        <p:txBody>
          <a:bodyPr wrap="square" rtlCol="0" anchor="ctr"/>
          <a:lstStyle/>
          <a:p>
            <a:pPr indent="0" marL="0">
              <a:buNone/>
            </a:pPr>
            <a:r>
              <a:rPr lang="en-US" sz="1050" b="1" dirty="0">
                <a:solidFill>
                  <a:srgbClr val="C0392B"/>
                </a:solidFill>
                <a:latin typeface="Calibri" pitchFamily="34" charset="0"/>
                <a:ea typeface="Calibri" pitchFamily="34" charset="-122"/>
                <a:cs typeface="Calibri" pitchFamily="34" charset="-120"/>
              </a:rPr>
              <a:t>CHALLENGE 1</a:t>
            </a:r>
            <a:endParaRPr lang="en-US" sz="1050" dirty="0"/>
          </a:p>
        </p:txBody>
      </p:sp>
      <p:sp>
        <p:nvSpPr>
          <p:cNvPr id="7" name="Text 5"/>
          <p:cNvSpPr/>
          <p:nvPr/>
        </p:nvSpPr>
        <p:spPr>
          <a:xfrm>
            <a:off x="868680" y="2130552"/>
            <a:ext cx="4754880" cy="502920"/>
          </a:xfrm>
          <a:prstGeom prst="rect">
            <a:avLst/>
          </a:prstGeom>
          <a:noFill/>
          <a:ln/>
        </p:spPr>
        <p:txBody>
          <a:bodyPr wrap="square" rtlCol="0" anchor="t"/>
          <a:lstStyle/>
          <a:p>
            <a:pPr indent="0" marL="0">
              <a:buNone/>
            </a:pPr>
            <a:r>
              <a:rPr lang="en-US" sz="1250" dirty="0">
                <a:solidFill>
                  <a:srgbClr val="1A1D29"/>
                </a:solidFill>
                <a:latin typeface="Calibri" pitchFamily="34" charset="0"/>
                <a:ea typeface="Calibri" pitchFamily="34" charset="-122"/>
                <a:cs typeface="Calibri" pitchFamily="34" charset="-120"/>
              </a:rPr>
              <a:t>Combining multiple external APIs</a:t>
            </a:r>
            <a:endParaRPr lang="en-US" sz="1250" dirty="0"/>
          </a:p>
        </p:txBody>
      </p:sp>
      <p:sp>
        <p:nvSpPr>
          <p:cNvPr id="8" name="Shape 6"/>
          <p:cNvSpPr/>
          <p:nvPr/>
        </p:nvSpPr>
        <p:spPr>
          <a:xfrm>
            <a:off x="6035040" y="1783080"/>
            <a:ext cx="5577840" cy="914400"/>
          </a:xfrm>
          <a:prstGeom prst="roundRect">
            <a:avLst>
              <a:gd name="adj" fmla="val 8000"/>
            </a:avLst>
          </a:prstGeom>
          <a:solidFill>
            <a:srgbClr val="FFFFFF"/>
          </a:solidFill>
          <a:ln/>
          <a:effectLst>
            <a:outerShdw sx="100000" sy="100000" kx="0" ky="0" algn="bl" rotWithShape="0" blurRad="101600" dist="25400" dir="5400000">
              <a:srgbClr val="1A1D29">
                <a:alpha val="12000"/>
              </a:srgbClr>
            </a:outerShdw>
          </a:effectLst>
        </p:spPr>
      </p:sp>
      <p:sp>
        <p:nvSpPr>
          <p:cNvPr id="9" name="Shape 7"/>
          <p:cNvSpPr/>
          <p:nvPr/>
        </p:nvSpPr>
        <p:spPr>
          <a:xfrm>
            <a:off x="6035040" y="1783080"/>
            <a:ext cx="91440" cy="914400"/>
          </a:xfrm>
          <a:prstGeom prst="roundRect">
            <a:avLst/>
          </a:prstGeom>
          <a:solidFill>
            <a:srgbClr val="1C7293"/>
          </a:solidFill>
          <a:ln/>
        </p:spPr>
      </p:sp>
      <p:sp>
        <p:nvSpPr>
          <p:cNvPr id="10" name="Text 8"/>
          <p:cNvSpPr/>
          <p:nvPr/>
        </p:nvSpPr>
        <p:spPr>
          <a:xfrm>
            <a:off x="6355080" y="1874520"/>
            <a:ext cx="5029200" cy="274320"/>
          </a:xfrm>
          <a:prstGeom prst="rect">
            <a:avLst/>
          </a:prstGeom>
          <a:noFill/>
          <a:ln/>
        </p:spPr>
        <p:txBody>
          <a:bodyPr wrap="square" rtlCol="0" anchor="ctr"/>
          <a:lstStyle/>
          <a:p>
            <a:pPr indent="0" marL="0">
              <a:buNone/>
            </a:pPr>
            <a:r>
              <a:rPr lang="en-US" sz="1050" b="1" dirty="0">
                <a:solidFill>
                  <a:srgbClr val="1C7293"/>
                </a:solidFill>
                <a:latin typeface="Calibri" pitchFamily="34" charset="0"/>
                <a:ea typeface="Calibri" pitchFamily="34" charset="-122"/>
                <a:cs typeface="Calibri" pitchFamily="34" charset="-120"/>
              </a:rPr>
              <a:t>SOLUTION</a:t>
            </a:r>
            <a:endParaRPr lang="en-US" sz="1050" dirty="0"/>
          </a:p>
        </p:txBody>
      </p:sp>
      <p:sp>
        <p:nvSpPr>
          <p:cNvPr id="11" name="Text 9"/>
          <p:cNvSpPr/>
          <p:nvPr/>
        </p:nvSpPr>
        <p:spPr>
          <a:xfrm>
            <a:off x="6355080" y="2130552"/>
            <a:ext cx="5029200" cy="502920"/>
          </a:xfrm>
          <a:prstGeom prst="rect">
            <a:avLst/>
          </a:prstGeom>
          <a:noFill/>
          <a:ln/>
        </p:spPr>
        <p:txBody>
          <a:bodyPr wrap="square" rtlCol="0" anchor="t"/>
          <a:lstStyle/>
          <a:p>
            <a:pPr indent="0" marL="0">
              <a:buNone/>
            </a:pPr>
            <a:r>
              <a:rPr lang="en-US" sz="1250" dirty="0">
                <a:solidFill>
                  <a:srgbClr val="1A1D29"/>
                </a:solidFill>
                <a:latin typeface="Calibri" pitchFamily="34" charset="0"/>
                <a:ea typeface="Calibri" pitchFamily="34" charset="-122"/>
                <a:cs typeface="Calibri" pitchFamily="34" charset="-120"/>
              </a:rPr>
              <a:t>Built an API Integration Layer in the Backend to manage requests.</a:t>
            </a:r>
            <a:endParaRPr lang="en-US" sz="1250" dirty="0"/>
          </a:p>
        </p:txBody>
      </p:sp>
      <p:sp>
        <p:nvSpPr>
          <p:cNvPr id="12" name="Shape 10"/>
          <p:cNvSpPr/>
          <p:nvPr/>
        </p:nvSpPr>
        <p:spPr>
          <a:xfrm>
            <a:off x="548640" y="2807208"/>
            <a:ext cx="5257800" cy="914400"/>
          </a:xfrm>
          <a:prstGeom prst="roundRect">
            <a:avLst>
              <a:gd name="adj" fmla="val 8000"/>
            </a:avLst>
          </a:prstGeom>
          <a:solidFill>
            <a:srgbClr val="FFFFFF"/>
          </a:solidFill>
          <a:ln/>
          <a:effectLst>
            <a:outerShdw sx="100000" sy="100000" kx="0" ky="0" algn="bl" rotWithShape="0" blurRad="101600" dist="25400" dir="5400000">
              <a:srgbClr val="1A1D29">
                <a:alpha val="12000"/>
              </a:srgbClr>
            </a:outerShdw>
          </a:effectLst>
        </p:spPr>
      </p:sp>
      <p:sp>
        <p:nvSpPr>
          <p:cNvPr id="13" name="Shape 11"/>
          <p:cNvSpPr/>
          <p:nvPr/>
        </p:nvSpPr>
        <p:spPr>
          <a:xfrm>
            <a:off x="548640" y="2807208"/>
            <a:ext cx="91440" cy="914400"/>
          </a:xfrm>
          <a:prstGeom prst="roundRect">
            <a:avLst/>
          </a:prstGeom>
          <a:solidFill>
            <a:srgbClr val="C0392B"/>
          </a:solidFill>
          <a:ln/>
        </p:spPr>
      </p:sp>
      <p:sp>
        <p:nvSpPr>
          <p:cNvPr id="14" name="Text 12"/>
          <p:cNvSpPr/>
          <p:nvPr/>
        </p:nvSpPr>
        <p:spPr>
          <a:xfrm>
            <a:off x="868680" y="2898648"/>
            <a:ext cx="4754880" cy="274320"/>
          </a:xfrm>
          <a:prstGeom prst="rect">
            <a:avLst/>
          </a:prstGeom>
          <a:noFill/>
          <a:ln/>
        </p:spPr>
        <p:txBody>
          <a:bodyPr wrap="square" rtlCol="0" anchor="ctr"/>
          <a:lstStyle/>
          <a:p>
            <a:pPr indent="0" marL="0">
              <a:buNone/>
            </a:pPr>
            <a:r>
              <a:rPr lang="en-US" sz="1050" b="1" dirty="0">
                <a:solidFill>
                  <a:srgbClr val="C0392B"/>
                </a:solidFill>
                <a:latin typeface="Calibri" pitchFamily="34" charset="0"/>
                <a:ea typeface="Calibri" pitchFamily="34" charset="-122"/>
                <a:cs typeface="Calibri" pitchFamily="34" charset="-120"/>
              </a:rPr>
              <a:t>CHALLENGE 2</a:t>
            </a:r>
            <a:endParaRPr lang="en-US" sz="1050" dirty="0"/>
          </a:p>
        </p:txBody>
      </p:sp>
      <p:sp>
        <p:nvSpPr>
          <p:cNvPr id="15" name="Text 13"/>
          <p:cNvSpPr/>
          <p:nvPr/>
        </p:nvSpPr>
        <p:spPr>
          <a:xfrm>
            <a:off x="868680" y="3154680"/>
            <a:ext cx="4754880" cy="502920"/>
          </a:xfrm>
          <a:prstGeom prst="rect">
            <a:avLst/>
          </a:prstGeom>
          <a:noFill/>
          <a:ln/>
        </p:spPr>
        <p:txBody>
          <a:bodyPr wrap="square" rtlCol="0" anchor="t"/>
          <a:lstStyle/>
          <a:p>
            <a:pPr indent="0" marL="0">
              <a:buNone/>
            </a:pPr>
            <a:r>
              <a:rPr lang="en-US" sz="1250" dirty="0">
                <a:solidFill>
                  <a:srgbClr val="1A1D29"/>
                </a:solidFill>
                <a:latin typeface="Calibri" pitchFamily="34" charset="0"/>
                <a:ea typeface="Calibri" pitchFamily="34" charset="-122"/>
                <a:cs typeface="Calibri" pitchFamily="34" charset="-120"/>
              </a:rPr>
              <a:t>Calling external APIs directly from the Frontend risked weak security</a:t>
            </a:r>
            <a:endParaRPr lang="en-US" sz="1250" dirty="0"/>
          </a:p>
        </p:txBody>
      </p:sp>
      <p:sp>
        <p:nvSpPr>
          <p:cNvPr id="16" name="Shape 14"/>
          <p:cNvSpPr/>
          <p:nvPr/>
        </p:nvSpPr>
        <p:spPr>
          <a:xfrm>
            <a:off x="6035040" y="2807208"/>
            <a:ext cx="5577840" cy="914400"/>
          </a:xfrm>
          <a:prstGeom prst="roundRect">
            <a:avLst>
              <a:gd name="adj" fmla="val 8000"/>
            </a:avLst>
          </a:prstGeom>
          <a:solidFill>
            <a:srgbClr val="FFFFFF"/>
          </a:solidFill>
          <a:ln/>
          <a:effectLst>
            <a:outerShdw sx="100000" sy="100000" kx="0" ky="0" algn="bl" rotWithShape="0" blurRad="101600" dist="25400" dir="5400000">
              <a:srgbClr val="1A1D29">
                <a:alpha val="12000"/>
              </a:srgbClr>
            </a:outerShdw>
          </a:effectLst>
        </p:spPr>
      </p:sp>
      <p:sp>
        <p:nvSpPr>
          <p:cNvPr id="17" name="Shape 15"/>
          <p:cNvSpPr/>
          <p:nvPr/>
        </p:nvSpPr>
        <p:spPr>
          <a:xfrm>
            <a:off x="6035040" y="2807208"/>
            <a:ext cx="91440" cy="914400"/>
          </a:xfrm>
          <a:prstGeom prst="roundRect">
            <a:avLst/>
          </a:prstGeom>
          <a:solidFill>
            <a:srgbClr val="1C7293"/>
          </a:solidFill>
          <a:ln/>
        </p:spPr>
      </p:sp>
      <p:sp>
        <p:nvSpPr>
          <p:cNvPr id="18" name="Text 16"/>
          <p:cNvSpPr/>
          <p:nvPr/>
        </p:nvSpPr>
        <p:spPr>
          <a:xfrm>
            <a:off x="6355080" y="2898648"/>
            <a:ext cx="5029200" cy="274320"/>
          </a:xfrm>
          <a:prstGeom prst="rect">
            <a:avLst/>
          </a:prstGeom>
          <a:noFill/>
          <a:ln/>
        </p:spPr>
        <p:txBody>
          <a:bodyPr wrap="square" rtlCol="0" anchor="ctr"/>
          <a:lstStyle/>
          <a:p>
            <a:pPr indent="0" marL="0">
              <a:buNone/>
            </a:pPr>
            <a:r>
              <a:rPr lang="en-US" sz="1050" b="1" dirty="0">
                <a:solidFill>
                  <a:srgbClr val="1C7293"/>
                </a:solidFill>
                <a:latin typeface="Calibri" pitchFamily="34" charset="0"/>
                <a:ea typeface="Calibri" pitchFamily="34" charset="-122"/>
                <a:cs typeface="Calibri" pitchFamily="34" charset="-120"/>
              </a:rPr>
              <a:t>SOLUTION</a:t>
            </a:r>
            <a:endParaRPr lang="en-US" sz="1050" dirty="0"/>
          </a:p>
        </p:txBody>
      </p:sp>
      <p:sp>
        <p:nvSpPr>
          <p:cNvPr id="19" name="Text 17"/>
          <p:cNvSpPr/>
          <p:nvPr/>
        </p:nvSpPr>
        <p:spPr>
          <a:xfrm>
            <a:off x="6355080" y="3154680"/>
            <a:ext cx="5029200" cy="502920"/>
          </a:xfrm>
          <a:prstGeom prst="rect">
            <a:avLst/>
          </a:prstGeom>
          <a:noFill/>
          <a:ln/>
        </p:spPr>
        <p:txBody>
          <a:bodyPr wrap="square" rtlCol="0" anchor="t"/>
          <a:lstStyle/>
          <a:p>
            <a:pPr indent="0" marL="0">
              <a:buNone/>
            </a:pPr>
            <a:r>
              <a:rPr lang="en-US" sz="1250" dirty="0">
                <a:solidFill>
                  <a:srgbClr val="1A1D29"/>
                </a:solidFill>
                <a:latin typeface="Calibri" pitchFamily="34" charset="0"/>
                <a:ea typeface="Calibri" pitchFamily="34" charset="-122"/>
                <a:cs typeface="Calibri" pitchFamily="34" charset="-120"/>
              </a:rPr>
              <a:t>Used the Express Backend as a proxy — all API communication goes through it.</a:t>
            </a:r>
            <a:endParaRPr lang="en-US" sz="1250" dirty="0"/>
          </a:p>
        </p:txBody>
      </p:sp>
      <p:sp>
        <p:nvSpPr>
          <p:cNvPr id="20" name="Shape 18"/>
          <p:cNvSpPr/>
          <p:nvPr/>
        </p:nvSpPr>
        <p:spPr>
          <a:xfrm>
            <a:off x="548640" y="3831336"/>
            <a:ext cx="5257800" cy="914400"/>
          </a:xfrm>
          <a:prstGeom prst="roundRect">
            <a:avLst>
              <a:gd name="adj" fmla="val 8000"/>
            </a:avLst>
          </a:prstGeom>
          <a:solidFill>
            <a:srgbClr val="FFFFFF"/>
          </a:solidFill>
          <a:ln/>
          <a:effectLst>
            <a:outerShdw sx="100000" sy="100000" kx="0" ky="0" algn="bl" rotWithShape="0" blurRad="101600" dist="25400" dir="5400000">
              <a:srgbClr val="1A1D29">
                <a:alpha val="12000"/>
              </a:srgbClr>
            </a:outerShdw>
          </a:effectLst>
        </p:spPr>
      </p:sp>
      <p:sp>
        <p:nvSpPr>
          <p:cNvPr id="21" name="Shape 19"/>
          <p:cNvSpPr/>
          <p:nvPr/>
        </p:nvSpPr>
        <p:spPr>
          <a:xfrm>
            <a:off x="548640" y="3831336"/>
            <a:ext cx="91440" cy="914400"/>
          </a:xfrm>
          <a:prstGeom prst="roundRect">
            <a:avLst/>
          </a:prstGeom>
          <a:solidFill>
            <a:srgbClr val="C0392B"/>
          </a:solidFill>
          <a:ln/>
        </p:spPr>
      </p:sp>
      <p:sp>
        <p:nvSpPr>
          <p:cNvPr id="22" name="Text 20"/>
          <p:cNvSpPr/>
          <p:nvPr/>
        </p:nvSpPr>
        <p:spPr>
          <a:xfrm>
            <a:off x="868680" y="3922776"/>
            <a:ext cx="4754880" cy="274320"/>
          </a:xfrm>
          <a:prstGeom prst="rect">
            <a:avLst/>
          </a:prstGeom>
          <a:noFill/>
          <a:ln/>
        </p:spPr>
        <p:txBody>
          <a:bodyPr wrap="square" rtlCol="0" anchor="ctr"/>
          <a:lstStyle/>
          <a:p>
            <a:pPr indent="0" marL="0">
              <a:buNone/>
            </a:pPr>
            <a:r>
              <a:rPr lang="en-US" sz="1050" b="1" dirty="0">
                <a:solidFill>
                  <a:srgbClr val="C0392B"/>
                </a:solidFill>
                <a:latin typeface="Calibri" pitchFamily="34" charset="0"/>
                <a:ea typeface="Calibri" pitchFamily="34" charset="-122"/>
                <a:cs typeface="Calibri" pitchFamily="34" charset="-120"/>
              </a:rPr>
              <a:t>CHALLENGE 3</a:t>
            </a:r>
            <a:endParaRPr lang="en-US" sz="1050" dirty="0"/>
          </a:p>
        </p:txBody>
      </p:sp>
      <p:sp>
        <p:nvSpPr>
          <p:cNvPr id="23" name="Text 21"/>
          <p:cNvSpPr/>
          <p:nvPr/>
        </p:nvSpPr>
        <p:spPr>
          <a:xfrm>
            <a:off x="868680" y="4178808"/>
            <a:ext cx="4754880" cy="502920"/>
          </a:xfrm>
          <a:prstGeom prst="rect">
            <a:avLst/>
          </a:prstGeom>
          <a:noFill/>
          <a:ln/>
        </p:spPr>
        <p:txBody>
          <a:bodyPr wrap="square" rtlCol="0" anchor="t"/>
          <a:lstStyle/>
          <a:p>
            <a:pPr indent="0" marL="0">
              <a:buNone/>
            </a:pPr>
            <a:r>
              <a:rPr lang="en-US" sz="1250" dirty="0">
                <a:solidFill>
                  <a:srgbClr val="1A1D29"/>
                </a:solidFill>
                <a:latin typeface="Calibri" pitchFamily="34" charset="0"/>
                <a:ea typeface="Calibri" pitchFamily="34" charset="-122"/>
                <a:cs typeface="Calibri" pitchFamily="34" charset="-120"/>
              </a:rPr>
              <a:t>Inconsistent API response formats</a:t>
            </a:r>
            <a:endParaRPr lang="en-US" sz="1250" dirty="0"/>
          </a:p>
        </p:txBody>
      </p:sp>
      <p:sp>
        <p:nvSpPr>
          <p:cNvPr id="24" name="Shape 22"/>
          <p:cNvSpPr/>
          <p:nvPr/>
        </p:nvSpPr>
        <p:spPr>
          <a:xfrm>
            <a:off x="6035040" y="3831336"/>
            <a:ext cx="5577840" cy="914400"/>
          </a:xfrm>
          <a:prstGeom prst="roundRect">
            <a:avLst>
              <a:gd name="adj" fmla="val 8000"/>
            </a:avLst>
          </a:prstGeom>
          <a:solidFill>
            <a:srgbClr val="FFFFFF"/>
          </a:solidFill>
          <a:ln/>
          <a:effectLst>
            <a:outerShdw sx="100000" sy="100000" kx="0" ky="0" algn="bl" rotWithShape="0" blurRad="101600" dist="25400" dir="5400000">
              <a:srgbClr val="1A1D29">
                <a:alpha val="12000"/>
              </a:srgbClr>
            </a:outerShdw>
          </a:effectLst>
        </p:spPr>
      </p:sp>
      <p:sp>
        <p:nvSpPr>
          <p:cNvPr id="25" name="Shape 23"/>
          <p:cNvSpPr/>
          <p:nvPr/>
        </p:nvSpPr>
        <p:spPr>
          <a:xfrm>
            <a:off x="6035040" y="3831336"/>
            <a:ext cx="91440" cy="914400"/>
          </a:xfrm>
          <a:prstGeom prst="roundRect">
            <a:avLst/>
          </a:prstGeom>
          <a:solidFill>
            <a:srgbClr val="1C7293"/>
          </a:solidFill>
          <a:ln/>
        </p:spPr>
      </p:sp>
      <p:sp>
        <p:nvSpPr>
          <p:cNvPr id="26" name="Text 24"/>
          <p:cNvSpPr/>
          <p:nvPr/>
        </p:nvSpPr>
        <p:spPr>
          <a:xfrm>
            <a:off x="6355080" y="3922776"/>
            <a:ext cx="5029200" cy="274320"/>
          </a:xfrm>
          <a:prstGeom prst="rect">
            <a:avLst/>
          </a:prstGeom>
          <a:noFill/>
          <a:ln/>
        </p:spPr>
        <p:txBody>
          <a:bodyPr wrap="square" rtlCol="0" anchor="ctr"/>
          <a:lstStyle/>
          <a:p>
            <a:pPr indent="0" marL="0">
              <a:buNone/>
            </a:pPr>
            <a:r>
              <a:rPr lang="en-US" sz="1050" b="1" dirty="0">
                <a:solidFill>
                  <a:srgbClr val="1C7293"/>
                </a:solidFill>
                <a:latin typeface="Calibri" pitchFamily="34" charset="0"/>
                <a:ea typeface="Calibri" pitchFamily="34" charset="-122"/>
                <a:cs typeface="Calibri" pitchFamily="34" charset="-120"/>
              </a:rPr>
              <a:t>SOLUTION</a:t>
            </a:r>
            <a:endParaRPr lang="en-US" sz="1050" dirty="0"/>
          </a:p>
        </p:txBody>
      </p:sp>
      <p:sp>
        <p:nvSpPr>
          <p:cNvPr id="27" name="Text 25"/>
          <p:cNvSpPr/>
          <p:nvPr/>
        </p:nvSpPr>
        <p:spPr>
          <a:xfrm>
            <a:off x="6355080" y="4178808"/>
            <a:ext cx="5029200" cy="502920"/>
          </a:xfrm>
          <a:prstGeom prst="rect">
            <a:avLst/>
          </a:prstGeom>
          <a:noFill/>
          <a:ln/>
        </p:spPr>
        <p:txBody>
          <a:bodyPr wrap="square" rtlCol="0" anchor="t"/>
          <a:lstStyle/>
          <a:p>
            <a:pPr indent="0" marL="0">
              <a:buNone/>
            </a:pPr>
            <a:r>
              <a:rPr lang="en-US" sz="1250" dirty="0">
                <a:solidFill>
                  <a:srgbClr val="1A1D29"/>
                </a:solidFill>
                <a:latin typeface="Calibri" pitchFamily="34" charset="0"/>
                <a:ea typeface="Calibri" pitchFamily="34" charset="-122"/>
                <a:cs typeface="Calibri" pitchFamily="34" charset="-120"/>
              </a:rPr>
              <a:t>Backend processes data and returns a consistent JSON format to the Frontend.</a:t>
            </a:r>
            <a:endParaRPr lang="en-US" sz="1250" dirty="0"/>
          </a:p>
        </p:txBody>
      </p:sp>
      <p:sp>
        <p:nvSpPr>
          <p:cNvPr id="28" name="Shape 26"/>
          <p:cNvSpPr/>
          <p:nvPr/>
        </p:nvSpPr>
        <p:spPr>
          <a:xfrm>
            <a:off x="548640" y="4855464"/>
            <a:ext cx="5257800" cy="914400"/>
          </a:xfrm>
          <a:prstGeom prst="roundRect">
            <a:avLst>
              <a:gd name="adj" fmla="val 8000"/>
            </a:avLst>
          </a:prstGeom>
          <a:solidFill>
            <a:srgbClr val="FFFFFF"/>
          </a:solidFill>
          <a:ln/>
          <a:effectLst>
            <a:outerShdw sx="100000" sy="100000" kx="0" ky="0" algn="bl" rotWithShape="0" blurRad="101600" dist="25400" dir="5400000">
              <a:srgbClr val="1A1D29">
                <a:alpha val="12000"/>
              </a:srgbClr>
            </a:outerShdw>
          </a:effectLst>
        </p:spPr>
      </p:sp>
      <p:sp>
        <p:nvSpPr>
          <p:cNvPr id="29" name="Shape 27"/>
          <p:cNvSpPr/>
          <p:nvPr/>
        </p:nvSpPr>
        <p:spPr>
          <a:xfrm>
            <a:off x="548640" y="4855464"/>
            <a:ext cx="91440" cy="914400"/>
          </a:xfrm>
          <a:prstGeom prst="roundRect">
            <a:avLst/>
          </a:prstGeom>
          <a:solidFill>
            <a:srgbClr val="C0392B"/>
          </a:solidFill>
          <a:ln/>
        </p:spPr>
      </p:sp>
      <p:sp>
        <p:nvSpPr>
          <p:cNvPr id="30" name="Text 28"/>
          <p:cNvSpPr/>
          <p:nvPr/>
        </p:nvSpPr>
        <p:spPr>
          <a:xfrm>
            <a:off x="868680" y="4946904"/>
            <a:ext cx="4754880" cy="274320"/>
          </a:xfrm>
          <a:prstGeom prst="rect">
            <a:avLst/>
          </a:prstGeom>
          <a:noFill/>
          <a:ln/>
        </p:spPr>
        <p:txBody>
          <a:bodyPr wrap="square" rtlCol="0" anchor="ctr"/>
          <a:lstStyle/>
          <a:p>
            <a:pPr indent="0" marL="0">
              <a:buNone/>
            </a:pPr>
            <a:r>
              <a:rPr lang="en-US" sz="1050" b="1" dirty="0">
                <a:solidFill>
                  <a:srgbClr val="C0392B"/>
                </a:solidFill>
                <a:latin typeface="Calibri" pitchFamily="34" charset="0"/>
                <a:ea typeface="Calibri" pitchFamily="34" charset="-122"/>
                <a:cs typeface="Calibri" pitchFamily="34" charset="-120"/>
              </a:rPr>
              <a:t>CHALLENGE 4</a:t>
            </a:r>
            <a:endParaRPr lang="en-US" sz="1050" dirty="0"/>
          </a:p>
        </p:txBody>
      </p:sp>
      <p:sp>
        <p:nvSpPr>
          <p:cNvPr id="31" name="Text 29"/>
          <p:cNvSpPr/>
          <p:nvPr/>
        </p:nvSpPr>
        <p:spPr>
          <a:xfrm>
            <a:off x="868680" y="5202936"/>
            <a:ext cx="4754880" cy="502920"/>
          </a:xfrm>
          <a:prstGeom prst="rect">
            <a:avLst/>
          </a:prstGeom>
          <a:noFill/>
          <a:ln/>
        </p:spPr>
        <p:txBody>
          <a:bodyPr wrap="square" rtlCol="0" anchor="t"/>
          <a:lstStyle/>
          <a:p>
            <a:pPr indent="0" marL="0">
              <a:buNone/>
            </a:pPr>
            <a:r>
              <a:rPr lang="en-US" sz="1250" dirty="0">
                <a:solidFill>
                  <a:srgbClr val="1A1D29"/>
                </a:solidFill>
                <a:latin typeface="Calibri" pitchFamily="34" charset="0"/>
                <a:ea typeface="Calibri" pitchFamily="34" charset="-122"/>
                <a:cs typeface="Calibri" pitchFamily="34" charset="-120"/>
              </a:rPr>
              <a:t>Needed a structure that could scale later</a:t>
            </a:r>
            <a:endParaRPr lang="en-US" sz="1250" dirty="0"/>
          </a:p>
        </p:txBody>
      </p:sp>
      <p:sp>
        <p:nvSpPr>
          <p:cNvPr id="32" name="Shape 30"/>
          <p:cNvSpPr/>
          <p:nvPr/>
        </p:nvSpPr>
        <p:spPr>
          <a:xfrm>
            <a:off x="6035040" y="4855464"/>
            <a:ext cx="5577840" cy="914400"/>
          </a:xfrm>
          <a:prstGeom prst="roundRect">
            <a:avLst>
              <a:gd name="adj" fmla="val 8000"/>
            </a:avLst>
          </a:prstGeom>
          <a:solidFill>
            <a:srgbClr val="FFFFFF"/>
          </a:solidFill>
          <a:ln/>
          <a:effectLst>
            <a:outerShdw sx="100000" sy="100000" kx="0" ky="0" algn="bl" rotWithShape="0" blurRad="101600" dist="25400" dir="5400000">
              <a:srgbClr val="1A1D29">
                <a:alpha val="12000"/>
              </a:srgbClr>
            </a:outerShdw>
          </a:effectLst>
        </p:spPr>
      </p:sp>
      <p:sp>
        <p:nvSpPr>
          <p:cNvPr id="33" name="Shape 31"/>
          <p:cNvSpPr/>
          <p:nvPr/>
        </p:nvSpPr>
        <p:spPr>
          <a:xfrm>
            <a:off x="6035040" y="4855464"/>
            <a:ext cx="91440" cy="914400"/>
          </a:xfrm>
          <a:prstGeom prst="roundRect">
            <a:avLst/>
          </a:prstGeom>
          <a:solidFill>
            <a:srgbClr val="1C7293"/>
          </a:solidFill>
          <a:ln/>
        </p:spPr>
      </p:sp>
      <p:sp>
        <p:nvSpPr>
          <p:cNvPr id="34" name="Text 32"/>
          <p:cNvSpPr/>
          <p:nvPr/>
        </p:nvSpPr>
        <p:spPr>
          <a:xfrm>
            <a:off x="6355080" y="4946904"/>
            <a:ext cx="5029200" cy="274320"/>
          </a:xfrm>
          <a:prstGeom prst="rect">
            <a:avLst/>
          </a:prstGeom>
          <a:noFill/>
          <a:ln/>
        </p:spPr>
        <p:txBody>
          <a:bodyPr wrap="square" rtlCol="0" anchor="ctr"/>
          <a:lstStyle/>
          <a:p>
            <a:pPr indent="0" marL="0">
              <a:buNone/>
            </a:pPr>
            <a:r>
              <a:rPr lang="en-US" sz="1050" b="1" dirty="0">
                <a:solidFill>
                  <a:srgbClr val="1C7293"/>
                </a:solidFill>
                <a:latin typeface="Calibri" pitchFamily="34" charset="0"/>
                <a:ea typeface="Calibri" pitchFamily="34" charset="-122"/>
                <a:cs typeface="Calibri" pitchFamily="34" charset="-120"/>
              </a:rPr>
              <a:t>SOLUTION</a:t>
            </a:r>
            <a:endParaRPr lang="en-US" sz="1050" dirty="0"/>
          </a:p>
        </p:txBody>
      </p:sp>
      <p:sp>
        <p:nvSpPr>
          <p:cNvPr id="35" name="Text 33"/>
          <p:cNvSpPr/>
          <p:nvPr/>
        </p:nvSpPr>
        <p:spPr>
          <a:xfrm>
            <a:off x="6355080" y="5202936"/>
            <a:ext cx="5029200" cy="502920"/>
          </a:xfrm>
          <a:prstGeom prst="rect">
            <a:avLst/>
          </a:prstGeom>
          <a:noFill/>
          <a:ln/>
        </p:spPr>
        <p:txBody>
          <a:bodyPr wrap="square" rtlCol="0" anchor="t"/>
          <a:lstStyle/>
          <a:p>
            <a:pPr indent="0" marL="0">
              <a:buNone/>
            </a:pPr>
            <a:r>
              <a:rPr lang="en-US" sz="1250" dirty="0">
                <a:solidFill>
                  <a:srgbClr val="1A1D29"/>
                </a:solidFill>
                <a:latin typeface="Calibri" pitchFamily="34" charset="0"/>
                <a:ea typeface="Calibri" pitchFamily="34" charset="-122"/>
                <a:cs typeface="Calibri" pitchFamily="34" charset="-120"/>
              </a:rPr>
              <a:t>Built Frontend and Backend as a layered architecture.</a:t>
            </a:r>
            <a:endParaRPr lang="en-US" sz="1250" dirty="0"/>
          </a:p>
        </p:txBody>
      </p:sp>
      <p:sp>
        <p:nvSpPr>
          <p:cNvPr id="36" name="Text 34"/>
          <p:cNvSpPr/>
          <p:nvPr/>
        </p:nvSpPr>
        <p:spPr>
          <a:xfrm>
            <a:off x="11365992" y="6355080"/>
            <a:ext cx="548640" cy="320040"/>
          </a:xfrm>
          <a:prstGeom prst="rect">
            <a:avLst/>
          </a:prstGeom>
          <a:noFill/>
          <a:ln/>
        </p:spPr>
        <p:txBody>
          <a:bodyPr wrap="square"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7F9"/>
        </a:solidFill>
      </p:bgPr>
    </p:bg>
    <p:spTree>
      <p:nvGrpSpPr>
        <p:cNvPr id="1" name=""/>
        <p:cNvGrpSpPr/>
        <p:nvPr/>
      </p:nvGrpSpPr>
      <p:grpSpPr>
        <a:xfrm>
          <a:off x="0" y="0"/>
          <a:ext cx="0" cy="0"/>
          <a:chOff x="0" y="0"/>
          <a:chExt cx="0" cy="0"/>
        </a:xfrm>
      </p:grpSpPr>
      <p:sp>
        <p:nvSpPr>
          <p:cNvPr id="2" name="Text 0"/>
          <p:cNvSpPr/>
          <p:nvPr/>
        </p:nvSpPr>
        <p:spPr>
          <a:xfrm>
            <a:off x="548640" y="411480"/>
            <a:ext cx="7315200" cy="36576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FUTURE IMPROVEMENTS</a:t>
            </a:r>
            <a:endParaRPr lang="en-US" sz="1300" dirty="0"/>
          </a:p>
        </p:txBody>
      </p:sp>
      <p:sp>
        <p:nvSpPr>
          <p:cNvPr id="3" name="Text 1"/>
          <p:cNvSpPr/>
          <p:nvPr/>
        </p:nvSpPr>
        <p:spPr>
          <a:xfrm>
            <a:off x="548640" y="731520"/>
            <a:ext cx="10515600" cy="822960"/>
          </a:xfrm>
          <a:prstGeom prst="rect">
            <a:avLst/>
          </a:prstGeom>
          <a:noFill/>
          <a:ln/>
        </p:spPr>
        <p:txBody>
          <a:bodyPr wrap="square" rtlCol="0" anchor="ctr"/>
          <a:lstStyle/>
          <a:p>
            <a:pPr indent="0" marL="0">
              <a:buNone/>
            </a:pPr>
            <a:r>
              <a:rPr lang="en-US" sz="3400" b="1" dirty="0">
                <a:solidFill>
                  <a:srgbClr val="21295C"/>
                </a:solidFill>
                <a:latin typeface="Cambria" pitchFamily="34" charset="0"/>
                <a:ea typeface="Cambria" pitchFamily="34" charset="-122"/>
                <a:cs typeface="Cambria" pitchFamily="34" charset="-120"/>
              </a:rPr>
              <a:t>Where This Project Goes Next</a:t>
            </a:r>
            <a:endParaRPr lang="en-US" sz="3400" dirty="0"/>
          </a:p>
        </p:txBody>
      </p:sp>
      <p:sp>
        <p:nvSpPr>
          <p:cNvPr id="4" name="Shape 2"/>
          <p:cNvSpPr/>
          <p:nvPr/>
        </p:nvSpPr>
        <p:spPr>
          <a:xfrm>
            <a:off x="548640" y="1783080"/>
            <a:ext cx="2606040" cy="4114800"/>
          </a:xfrm>
          <a:prstGeom prst="roundRect">
            <a:avLst>
              <a:gd name="adj" fmla="val 2807"/>
            </a:avLst>
          </a:prstGeom>
          <a:solidFill>
            <a:srgbClr val="FFFFFF"/>
          </a:solidFill>
          <a:ln/>
          <a:effectLst>
            <a:outerShdw sx="100000" sy="100000" kx="0" ky="0" algn="bl" rotWithShape="0" blurRad="101600" dist="25400" dir="5400000">
              <a:srgbClr val="1A1D29">
                <a:alpha val="12000"/>
              </a:srgbClr>
            </a:outerShdw>
          </a:effectLst>
        </p:spPr>
      </p:sp>
      <p:sp>
        <p:nvSpPr>
          <p:cNvPr id="5" name="Shape 3"/>
          <p:cNvSpPr/>
          <p:nvPr/>
        </p:nvSpPr>
        <p:spPr>
          <a:xfrm>
            <a:off x="822960" y="2057400"/>
            <a:ext cx="2057400" cy="73152"/>
          </a:xfrm>
          <a:prstGeom prst="roundRect">
            <a:avLst/>
          </a:prstGeom>
          <a:solidFill>
            <a:srgbClr val="065A82"/>
          </a:solidFill>
          <a:ln/>
        </p:spPr>
      </p:sp>
      <p:sp>
        <p:nvSpPr>
          <p:cNvPr id="6" name="Text 4"/>
          <p:cNvSpPr/>
          <p:nvPr/>
        </p:nvSpPr>
        <p:spPr>
          <a:xfrm>
            <a:off x="822960" y="2240280"/>
            <a:ext cx="2057400" cy="457200"/>
          </a:xfrm>
          <a:prstGeom prst="rect">
            <a:avLst/>
          </a:prstGeom>
          <a:noFill/>
          <a:ln/>
        </p:spPr>
        <p:txBody>
          <a:bodyPr wrap="square" rtlCol="0" anchor="ctr"/>
          <a:lstStyle/>
          <a:p>
            <a:pPr indent="0" marL="0">
              <a:buNone/>
            </a:pPr>
            <a:r>
              <a:rPr lang="en-US" sz="1600" b="1" dirty="0">
                <a:solidFill>
                  <a:srgbClr val="21295C"/>
                </a:solidFill>
                <a:latin typeface="Cambria" pitchFamily="34" charset="0"/>
                <a:ea typeface="Cambria" pitchFamily="34" charset="-122"/>
                <a:cs typeface="Cambria" pitchFamily="34" charset="-120"/>
              </a:rPr>
              <a:t>Backend</a:t>
            </a:r>
            <a:endParaRPr lang="en-US" sz="1600" dirty="0"/>
          </a:p>
        </p:txBody>
      </p:sp>
      <p:sp>
        <p:nvSpPr>
          <p:cNvPr id="7" name="Text 5"/>
          <p:cNvSpPr/>
          <p:nvPr/>
        </p:nvSpPr>
        <p:spPr>
          <a:xfrm>
            <a:off x="822960" y="2743200"/>
            <a:ext cx="2148840" cy="3017520"/>
          </a:xfrm>
          <a:prstGeom prst="rect">
            <a:avLst/>
          </a:prstGeom>
          <a:noFill/>
          <a:ln/>
        </p:spPr>
        <p:txBody>
          <a:bodyPr wrap="square" rtlCol="0" anchor="t"/>
          <a:lstStyle/>
          <a:p>
            <a:pPr marL="177800" indent="-177800">
              <a:spcAft>
                <a:spcPts val="900"/>
              </a:spcAft>
              <a:buSzPct val="100000"/>
              <a:buChar char="▪"/>
            </a:pPr>
            <a:r>
              <a:rPr lang="en-US" sz="1200" dirty="0">
                <a:solidFill>
                  <a:srgbClr val="1A1D29"/>
                </a:solidFill>
                <a:latin typeface="Calibri" pitchFamily="34" charset="0"/>
                <a:ea typeface="Calibri" pitchFamily="34" charset="-122"/>
                <a:cs typeface="Calibri" pitchFamily="34" charset="-120"/>
              </a:rPr>
              <a:t>Split into Controller Layer</a:t>
            </a:r>
            <a:endParaRPr lang="en-US" sz="1200" dirty="0"/>
          </a:p>
          <a:p>
            <a:pPr marL="177800" indent="-177800">
              <a:spcAft>
                <a:spcPts val="900"/>
              </a:spcAft>
              <a:buSzPct val="100000"/>
              <a:buChar char="▪"/>
            </a:pPr>
            <a:r>
              <a:rPr lang="en-US" sz="1200" dirty="0">
                <a:solidFill>
                  <a:srgbClr val="1A1D29"/>
                </a:solidFill>
                <a:latin typeface="Calibri" pitchFamily="34" charset="0"/>
                <a:ea typeface="Calibri" pitchFamily="34" charset="-122"/>
                <a:cs typeface="Calibri" pitchFamily="34" charset="-120"/>
              </a:rPr>
              <a:t>Add Service Layer</a:t>
            </a:r>
            <a:endParaRPr lang="en-US" sz="1200" dirty="0"/>
          </a:p>
          <a:p>
            <a:pPr marL="177800" indent="-177800">
              <a:spcAft>
                <a:spcPts val="900"/>
              </a:spcAft>
              <a:buSzPct val="100000"/>
              <a:buChar char="▪"/>
            </a:pPr>
            <a:r>
              <a:rPr lang="en-US" sz="1200" dirty="0">
                <a:solidFill>
                  <a:srgbClr val="1A1D29"/>
                </a:solidFill>
                <a:latin typeface="Calibri" pitchFamily="34" charset="0"/>
                <a:ea typeface="Calibri" pitchFamily="34" charset="-122"/>
                <a:cs typeface="Calibri" pitchFamily="34" charset="-120"/>
              </a:rPr>
              <a:t>Add Middleware</a:t>
            </a:r>
            <a:endParaRPr lang="en-US" sz="1200" dirty="0"/>
          </a:p>
          <a:p>
            <a:pPr marL="177800" indent="-177800">
              <a:spcAft>
                <a:spcPts val="900"/>
              </a:spcAft>
              <a:buSzPct val="100000"/>
              <a:buChar char="▪"/>
            </a:pPr>
            <a:r>
              <a:rPr lang="en-US" sz="1200" dirty="0">
                <a:solidFill>
                  <a:srgbClr val="1A1D29"/>
                </a:solidFill>
                <a:latin typeface="Calibri" pitchFamily="34" charset="0"/>
                <a:ea typeface="Calibri" pitchFamily="34" charset="-122"/>
                <a:cs typeface="Calibri" pitchFamily="34" charset="-120"/>
              </a:rPr>
              <a:t>Separate environment config</a:t>
            </a:r>
            <a:endParaRPr lang="en-US" sz="1200" dirty="0"/>
          </a:p>
        </p:txBody>
      </p:sp>
      <p:sp>
        <p:nvSpPr>
          <p:cNvPr id="8" name="Shape 6"/>
          <p:cNvSpPr/>
          <p:nvPr/>
        </p:nvSpPr>
        <p:spPr>
          <a:xfrm>
            <a:off x="3383280" y="1783080"/>
            <a:ext cx="2606040" cy="4114800"/>
          </a:xfrm>
          <a:prstGeom prst="roundRect">
            <a:avLst>
              <a:gd name="adj" fmla="val 2807"/>
            </a:avLst>
          </a:prstGeom>
          <a:solidFill>
            <a:srgbClr val="FFFFFF"/>
          </a:solidFill>
          <a:ln/>
          <a:effectLst>
            <a:outerShdw sx="100000" sy="100000" kx="0" ky="0" algn="bl" rotWithShape="0" blurRad="101600" dist="25400" dir="5400000">
              <a:srgbClr val="1A1D29">
                <a:alpha val="12000"/>
              </a:srgbClr>
            </a:outerShdw>
          </a:effectLst>
        </p:spPr>
      </p:sp>
      <p:sp>
        <p:nvSpPr>
          <p:cNvPr id="9" name="Shape 7"/>
          <p:cNvSpPr/>
          <p:nvPr/>
        </p:nvSpPr>
        <p:spPr>
          <a:xfrm>
            <a:off x="3657600" y="2057400"/>
            <a:ext cx="2057400" cy="73152"/>
          </a:xfrm>
          <a:prstGeom prst="roundRect">
            <a:avLst/>
          </a:prstGeom>
          <a:solidFill>
            <a:srgbClr val="1C7293"/>
          </a:solidFill>
          <a:ln/>
        </p:spPr>
      </p:sp>
      <p:sp>
        <p:nvSpPr>
          <p:cNvPr id="10" name="Text 8"/>
          <p:cNvSpPr/>
          <p:nvPr/>
        </p:nvSpPr>
        <p:spPr>
          <a:xfrm>
            <a:off x="3657600" y="2240280"/>
            <a:ext cx="2057400" cy="457200"/>
          </a:xfrm>
          <a:prstGeom prst="rect">
            <a:avLst/>
          </a:prstGeom>
          <a:noFill/>
          <a:ln/>
        </p:spPr>
        <p:txBody>
          <a:bodyPr wrap="square" rtlCol="0" anchor="ctr"/>
          <a:lstStyle/>
          <a:p>
            <a:pPr indent="0" marL="0">
              <a:buNone/>
            </a:pPr>
            <a:r>
              <a:rPr lang="en-US" sz="1600" b="1" dirty="0">
                <a:solidFill>
                  <a:srgbClr val="21295C"/>
                </a:solidFill>
                <a:latin typeface="Cambria" pitchFamily="34" charset="0"/>
                <a:ea typeface="Cambria" pitchFamily="34" charset="-122"/>
                <a:cs typeface="Cambria" pitchFamily="34" charset="-120"/>
              </a:rPr>
              <a:t>Performance</a:t>
            </a:r>
            <a:endParaRPr lang="en-US" sz="1600" dirty="0"/>
          </a:p>
        </p:txBody>
      </p:sp>
      <p:sp>
        <p:nvSpPr>
          <p:cNvPr id="11" name="Text 9"/>
          <p:cNvSpPr/>
          <p:nvPr/>
        </p:nvSpPr>
        <p:spPr>
          <a:xfrm>
            <a:off x="3657600" y="2743200"/>
            <a:ext cx="2148840" cy="3017520"/>
          </a:xfrm>
          <a:prstGeom prst="rect">
            <a:avLst/>
          </a:prstGeom>
          <a:noFill/>
          <a:ln/>
        </p:spPr>
        <p:txBody>
          <a:bodyPr wrap="square" rtlCol="0" anchor="t"/>
          <a:lstStyle/>
          <a:p>
            <a:pPr marL="177800" indent="-177800">
              <a:spcAft>
                <a:spcPts val="900"/>
              </a:spcAft>
              <a:buSzPct val="100000"/>
              <a:buChar char="▪"/>
            </a:pPr>
            <a:r>
              <a:rPr lang="en-US" sz="1200" dirty="0">
                <a:solidFill>
                  <a:srgbClr val="1A1D29"/>
                </a:solidFill>
                <a:latin typeface="Calibri" pitchFamily="34" charset="0"/>
                <a:ea typeface="Calibri" pitchFamily="34" charset="-122"/>
                <a:cs typeface="Calibri" pitchFamily="34" charset="-120"/>
              </a:rPr>
              <a:t>Redis caching</a:t>
            </a:r>
            <a:endParaRPr lang="en-US" sz="1200" dirty="0"/>
          </a:p>
          <a:p>
            <a:pPr marL="177800" indent="-177800">
              <a:spcAft>
                <a:spcPts val="900"/>
              </a:spcAft>
              <a:buSzPct val="100000"/>
              <a:buChar char="▪"/>
            </a:pPr>
            <a:r>
              <a:rPr lang="en-US" sz="1200" dirty="0">
                <a:solidFill>
                  <a:srgbClr val="1A1D29"/>
                </a:solidFill>
                <a:latin typeface="Calibri" pitchFamily="34" charset="0"/>
                <a:ea typeface="Calibri" pitchFamily="34" charset="-122"/>
                <a:cs typeface="Calibri" pitchFamily="34" charset="-120"/>
              </a:rPr>
              <a:t>Response caching</a:t>
            </a:r>
            <a:endParaRPr lang="en-US" sz="1200" dirty="0"/>
          </a:p>
          <a:p>
            <a:pPr marL="177800" indent="-177800">
              <a:spcAft>
                <a:spcPts val="900"/>
              </a:spcAft>
              <a:buSzPct val="100000"/>
              <a:buChar char="▪"/>
            </a:pPr>
            <a:r>
              <a:rPr lang="en-US" sz="1200" dirty="0">
                <a:solidFill>
                  <a:srgbClr val="1A1D29"/>
                </a:solidFill>
                <a:latin typeface="Calibri" pitchFamily="34" charset="0"/>
                <a:ea typeface="Calibri" pitchFamily="34" charset="-122"/>
                <a:cs typeface="Calibri" pitchFamily="34" charset="-120"/>
              </a:rPr>
              <a:t>API optimization</a:t>
            </a:r>
            <a:endParaRPr lang="en-US" sz="1200" dirty="0"/>
          </a:p>
        </p:txBody>
      </p:sp>
      <p:sp>
        <p:nvSpPr>
          <p:cNvPr id="12" name="Shape 10"/>
          <p:cNvSpPr/>
          <p:nvPr/>
        </p:nvSpPr>
        <p:spPr>
          <a:xfrm>
            <a:off x="6217920" y="1783080"/>
            <a:ext cx="2606040" cy="4114800"/>
          </a:xfrm>
          <a:prstGeom prst="roundRect">
            <a:avLst>
              <a:gd name="adj" fmla="val 2807"/>
            </a:avLst>
          </a:prstGeom>
          <a:solidFill>
            <a:srgbClr val="FFFFFF"/>
          </a:solidFill>
          <a:ln/>
          <a:effectLst>
            <a:outerShdw sx="100000" sy="100000" kx="0" ky="0" algn="bl" rotWithShape="0" blurRad="101600" dist="25400" dir="5400000">
              <a:srgbClr val="1A1D29">
                <a:alpha val="12000"/>
              </a:srgbClr>
            </a:outerShdw>
          </a:effectLst>
        </p:spPr>
      </p:sp>
      <p:sp>
        <p:nvSpPr>
          <p:cNvPr id="13" name="Shape 11"/>
          <p:cNvSpPr/>
          <p:nvPr/>
        </p:nvSpPr>
        <p:spPr>
          <a:xfrm>
            <a:off x="6492240" y="2057400"/>
            <a:ext cx="2057400" cy="73152"/>
          </a:xfrm>
          <a:prstGeom prst="roundRect">
            <a:avLst/>
          </a:prstGeom>
          <a:solidFill>
            <a:srgbClr val="21295C"/>
          </a:solidFill>
          <a:ln/>
        </p:spPr>
      </p:sp>
      <p:sp>
        <p:nvSpPr>
          <p:cNvPr id="14" name="Text 12"/>
          <p:cNvSpPr/>
          <p:nvPr/>
        </p:nvSpPr>
        <p:spPr>
          <a:xfrm>
            <a:off x="6492240" y="2240280"/>
            <a:ext cx="2057400" cy="457200"/>
          </a:xfrm>
          <a:prstGeom prst="rect">
            <a:avLst/>
          </a:prstGeom>
          <a:noFill/>
          <a:ln/>
        </p:spPr>
        <p:txBody>
          <a:bodyPr wrap="square" rtlCol="0" anchor="ctr"/>
          <a:lstStyle/>
          <a:p>
            <a:pPr indent="0" marL="0">
              <a:buNone/>
            </a:pPr>
            <a:r>
              <a:rPr lang="en-US" sz="1600" b="1" dirty="0">
                <a:solidFill>
                  <a:srgbClr val="21295C"/>
                </a:solidFill>
                <a:latin typeface="Cambria" pitchFamily="34" charset="0"/>
                <a:ea typeface="Cambria" pitchFamily="34" charset="-122"/>
                <a:cs typeface="Cambria" pitchFamily="34" charset="-120"/>
              </a:rPr>
              <a:t>Security</a:t>
            </a:r>
            <a:endParaRPr lang="en-US" sz="1600" dirty="0"/>
          </a:p>
        </p:txBody>
      </p:sp>
      <p:sp>
        <p:nvSpPr>
          <p:cNvPr id="15" name="Text 13"/>
          <p:cNvSpPr/>
          <p:nvPr/>
        </p:nvSpPr>
        <p:spPr>
          <a:xfrm>
            <a:off x="6492240" y="2743200"/>
            <a:ext cx="2148840" cy="3017520"/>
          </a:xfrm>
          <a:prstGeom prst="rect">
            <a:avLst/>
          </a:prstGeom>
          <a:noFill/>
          <a:ln/>
        </p:spPr>
        <p:txBody>
          <a:bodyPr wrap="square" rtlCol="0" anchor="t"/>
          <a:lstStyle/>
          <a:p>
            <a:pPr marL="177800" indent="-177800">
              <a:spcAft>
                <a:spcPts val="900"/>
              </a:spcAft>
              <a:buSzPct val="100000"/>
              <a:buChar char="▪"/>
            </a:pPr>
            <a:r>
              <a:rPr lang="en-US" sz="1200" dirty="0">
                <a:solidFill>
                  <a:srgbClr val="1A1D29"/>
                </a:solidFill>
                <a:latin typeface="Calibri" pitchFamily="34" charset="0"/>
                <a:ea typeface="Calibri" pitchFamily="34" charset="-122"/>
                <a:cs typeface="Calibri" pitchFamily="34" charset="-120"/>
              </a:rPr>
              <a:t>JWT authentication</a:t>
            </a:r>
            <a:endParaRPr lang="en-US" sz="1200" dirty="0"/>
          </a:p>
          <a:p>
            <a:pPr marL="177800" indent="-177800">
              <a:spcAft>
                <a:spcPts val="900"/>
              </a:spcAft>
              <a:buSzPct val="100000"/>
              <a:buChar char="▪"/>
            </a:pPr>
            <a:r>
              <a:rPr lang="en-US" sz="1200" dirty="0">
                <a:solidFill>
                  <a:srgbClr val="1A1D29"/>
                </a:solidFill>
                <a:latin typeface="Calibri" pitchFamily="34" charset="0"/>
                <a:ea typeface="Calibri" pitchFamily="34" charset="-122"/>
                <a:cs typeface="Calibri" pitchFamily="34" charset="-120"/>
              </a:rPr>
              <a:t>Authorization</a:t>
            </a:r>
            <a:endParaRPr lang="en-US" sz="1200" dirty="0"/>
          </a:p>
          <a:p>
            <a:pPr marL="177800" indent="-177800">
              <a:spcAft>
                <a:spcPts val="900"/>
              </a:spcAft>
              <a:buSzPct val="100000"/>
              <a:buChar char="▪"/>
            </a:pPr>
            <a:r>
              <a:rPr lang="en-US" sz="1200" dirty="0">
                <a:solidFill>
                  <a:srgbClr val="1A1D29"/>
                </a:solidFill>
                <a:latin typeface="Calibri" pitchFamily="34" charset="0"/>
                <a:ea typeface="Calibri" pitchFamily="34" charset="-122"/>
                <a:cs typeface="Calibri" pitchFamily="34" charset="-120"/>
              </a:rPr>
              <a:t>Rate limiting</a:t>
            </a:r>
            <a:endParaRPr lang="en-US" sz="1200" dirty="0"/>
          </a:p>
          <a:p>
            <a:pPr marL="177800" indent="-177800">
              <a:spcAft>
                <a:spcPts val="900"/>
              </a:spcAft>
              <a:buSzPct val="100000"/>
              <a:buChar char="▪"/>
            </a:pPr>
            <a:r>
              <a:rPr lang="en-US" sz="1200" dirty="0">
                <a:solidFill>
                  <a:srgbClr val="1A1D29"/>
                </a:solidFill>
                <a:latin typeface="Calibri" pitchFamily="34" charset="0"/>
                <a:ea typeface="Calibri" pitchFamily="34" charset="-122"/>
                <a:cs typeface="Calibri" pitchFamily="34" charset="-120"/>
              </a:rPr>
              <a:t>Helmet</a:t>
            </a:r>
            <a:endParaRPr lang="en-US" sz="1200" dirty="0"/>
          </a:p>
          <a:p>
            <a:pPr marL="177800" indent="-177800">
              <a:spcAft>
                <a:spcPts val="900"/>
              </a:spcAft>
              <a:buSzPct val="100000"/>
              <a:buChar char="▪"/>
            </a:pPr>
            <a:r>
              <a:rPr lang="en-US" sz="1200" dirty="0">
                <a:solidFill>
                  <a:srgbClr val="1A1D29"/>
                </a:solidFill>
                <a:latin typeface="Calibri" pitchFamily="34" charset="0"/>
                <a:ea typeface="Calibri" pitchFamily="34" charset="-122"/>
                <a:cs typeface="Calibri" pitchFamily="34" charset="-120"/>
              </a:rPr>
              <a:t>Input validation</a:t>
            </a:r>
            <a:endParaRPr lang="en-US" sz="1200" dirty="0"/>
          </a:p>
        </p:txBody>
      </p:sp>
      <p:sp>
        <p:nvSpPr>
          <p:cNvPr id="16" name="Shape 14"/>
          <p:cNvSpPr/>
          <p:nvPr/>
        </p:nvSpPr>
        <p:spPr>
          <a:xfrm>
            <a:off x="9052560" y="1783080"/>
            <a:ext cx="2606040" cy="4114800"/>
          </a:xfrm>
          <a:prstGeom prst="roundRect">
            <a:avLst>
              <a:gd name="adj" fmla="val 2807"/>
            </a:avLst>
          </a:prstGeom>
          <a:solidFill>
            <a:srgbClr val="FFFFFF"/>
          </a:solidFill>
          <a:ln/>
          <a:effectLst>
            <a:outerShdw sx="100000" sy="100000" kx="0" ky="0" algn="bl" rotWithShape="0" blurRad="101600" dist="25400" dir="5400000">
              <a:srgbClr val="1A1D29">
                <a:alpha val="12000"/>
              </a:srgbClr>
            </a:outerShdw>
          </a:effectLst>
        </p:spPr>
      </p:sp>
      <p:sp>
        <p:nvSpPr>
          <p:cNvPr id="17" name="Shape 15"/>
          <p:cNvSpPr/>
          <p:nvPr/>
        </p:nvSpPr>
        <p:spPr>
          <a:xfrm>
            <a:off x="9326880" y="2057400"/>
            <a:ext cx="2057400" cy="73152"/>
          </a:xfrm>
          <a:prstGeom prst="roundRect">
            <a:avLst/>
          </a:prstGeom>
          <a:solidFill>
            <a:srgbClr val="3F7CAC"/>
          </a:solidFill>
          <a:ln/>
        </p:spPr>
      </p:sp>
      <p:sp>
        <p:nvSpPr>
          <p:cNvPr id="18" name="Text 16"/>
          <p:cNvSpPr/>
          <p:nvPr/>
        </p:nvSpPr>
        <p:spPr>
          <a:xfrm>
            <a:off x="9326880" y="2240280"/>
            <a:ext cx="2057400" cy="457200"/>
          </a:xfrm>
          <a:prstGeom prst="rect">
            <a:avLst/>
          </a:prstGeom>
          <a:noFill/>
          <a:ln/>
        </p:spPr>
        <p:txBody>
          <a:bodyPr wrap="square" rtlCol="0" anchor="ctr"/>
          <a:lstStyle/>
          <a:p>
            <a:pPr indent="0" marL="0">
              <a:buNone/>
            </a:pPr>
            <a:r>
              <a:rPr lang="en-US" sz="1600" b="1" dirty="0">
                <a:solidFill>
                  <a:srgbClr val="21295C"/>
                </a:solidFill>
                <a:latin typeface="Cambria" pitchFamily="34" charset="0"/>
                <a:ea typeface="Cambria" pitchFamily="34" charset="-122"/>
                <a:cs typeface="Cambria" pitchFamily="34" charset="-120"/>
              </a:rPr>
              <a:t>DevOps</a:t>
            </a:r>
            <a:endParaRPr lang="en-US" sz="1600" dirty="0"/>
          </a:p>
        </p:txBody>
      </p:sp>
      <p:sp>
        <p:nvSpPr>
          <p:cNvPr id="19" name="Text 17"/>
          <p:cNvSpPr/>
          <p:nvPr/>
        </p:nvSpPr>
        <p:spPr>
          <a:xfrm>
            <a:off x="9326880" y="2743200"/>
            <a:ext cx="2148840" cy="3017520"/>
          </a:xfrm>
          <a:prstGeom prst="rect">
            <a:avLst/>
          </a:prstGeom>
          <a:noFill/>
          <a:ln/>
        </p:spPr>
        <p:txBody>
          <a:bodyPr wrap="square" rtlCol="0" anchor="t"/>
          <a:lstStyle/>
          <a:p>
            <a:pPr marL="177800" indent="-177800">
              <a:spcAft>
                <a:spcPts val="900"/>
              </a:spcAft>
              <a:buSzPct val="100000"/>
              <a:buChar char="▪"/>
            </a:pPr>
            <a:r>
              <a:rPr lang="en-US" sz="1200" dirty="0">
                <a:solidFill>
                  <a:srgbClr val="1A1D29"/>
                </a:solidFill>
                <a:latin typeface="Calibri" pitchFamily="34" charset="0"/>
                <a:ea typeface="Calibri" pitchFamily="34" charset="-122"/>
                <a:cs typeface="Calibri" pitchFamily="34" charset="-120"/>
              </a:rPr>
              <a:t>Docker</a:t>
            </a:r>
            <a:endParaRPr lang="en-US" sz="1200" dirty="0"/>
          </a:p>
          <a:p>
            <a:pPr marL="177800" indent="-177800">
              <a:spcAft>
                <a:spcPts val="900"/>
              </a:spcAft>
              <a:buSzPct val="100000"/>
              <a:buChar char="▪"/>
            </a:pPr>
            <a:r>
              <a:rPr lang="en-US" sz="1200" dirty="0">
                <a:solidFill>
                  <a:srgbClr val="1A1D29"/>
                </a:solidFill>
                <a:latin typeface="Calibri" pitchFamily="34" charset="0"/>
                <a:ea typeface="Calibri" pitchFamily="34" charset="-122"/>
                <a:cs typeface="Calibri" pitchFamily="34" charset="-120"/>
              </a:rPr>
              <a:t>GitHub Actions (CI/CD)</a:t>
            </a:r>
            <a:endParaRPr lang="en-US" sz="1200" dirty="0"/>
          </a:p>
          <a:p>
            <a:pPr marL="177800" indent="-177800">
              <a:spcAft>
                <a:spcPts val="900"/>
              </a:spcAft>
              <a:buSzPct val="100000"/>
              <a:buChar char="▪"/>
            </a:pPr>
            <a:r>
              <a:rPr lang="en-US" sz="1200" dirty="0">
                <a:solidFill>
                  <a:srgbClr val="1A1D29"/>
                </a:solidFill>
                <a:latin typeface="Calibri" pitchFamily="34" charset="0"/>
                <a:ea typeface="Calibri" pitchFamily="34" charset="-122"/>
                <a:cs typeface="Calibri" pitchFamily="34" charset="-120"/>
              </a:rPr>
              <a:t>Unit &amp; integration testing</a:t>
            </a:r>
            <a:endParaRPr lang="en-US" sz="1200" dirty="0"/>
          </a:p>
          <a:p>
            <a:pPr marL="177800" indent="-177800">
              <a:spcAft>
                <a:spcPts val="900"/>
              </a:spcAft>
              <a:buSzPct val="100000"/>
              <a:buChar char="▪"/>
            </a:pPr>
            <a:r>
              <a:rPr lang="en-US" sz="1200" dirty="0">
                <a:solidFill>
                  <a:srgbClr val="1A1D29"/>
                </a:solidFill>
                <a:latin typeface="Calibri" pitchFamily="34" charset="0"/>
                <a:ea typeface="Calibri" pitchFamily="34" charset="-122"/>
                <a:cs typeface="Calibri" pitchFamily="34" charset="-120"/>
              </a:rPr>
              <a:t>Swagger API docs</a:t>
            </a:r>
            <a:endParaRPr lang="en-US" sz="1200" dirty="0"/>
          </a:p>
        </p:txBody>
      </p:sp>
      <p:sp>
        <p:nvSpPr>
          <p:cNvPr id="20" name="Text 18"/>
          <p:cNvSpPr/>
          <p:nvPr/>
        </p:nvSpPr>
        <p:spPr>
          <a:xfrm>
            <a:off x="11365992" y="6355080"/>
            <a:ext cx="548640" cy="320040"/>
          </a:xfrm>
          <a:prstGeom prst="rect">
            <a:avLst/>
          </a:prstGeom>
          <a:noFill/>
          <a:ln/>
        </p:spPr>
        <p:txBody>
          <a:bodyPr wrap="square"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7F9"/>
        </a:solidFill>
      </p:bgPr>
    </p:bg>
    <p:spTree>
      <p:nvGrpSpPr>
        <p:cNvPr id="1" name=""/>
        <p:cNvGrpSpPr/>
        <p:nvPr/>
      </p:nvGrpSpPr>
      <p:grpSpPr>
        <a:xfrm>
          <a:off x="0" y="0"/>
          <a:ext cx="0" cy="0"/>
          <a:chOff x="0" y="0"/>
          <a:chExt cx="0" cy="0"/>
        </a:xfrm>
      </p:grpSpPr>
      <p:sp>
        <p:nvSpPr>
          <p:cNvPr id="2" name="Text 0"/>
          <p:cNvSpPr/>
          <p:nvPr/>
        </p:nvSpPr>
        <p:spPr>
          <a:xfrm>
            <a:off x="548640" y="411480"/>
            <a:ext cx="7315200" cy="36576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LESSONS LEARNED</a:t>
            </a:r>
            <a:endParaRPr lang="en-US" sz="1300" dirty="0"/>
          </a:p>
        </p:txBody>
      </p:sp>
      <p:sp>
        <p:nvSpPr>
          <p:cNvPr id="3" name="Text 1"/>
          <p:cNvSpPr/>
          <p:nvPr/>
        </p:nvSpPr>
        <p:spPr>
          <a:xfrm>
            <a:off x="548640" y="731520"/>
            <a:ext cx="10515600" cy="822960"/>
          </a:xfrm>
          <a:prstGeom prst="rect">
            <a:avLst/>
          </a:prstGeom>
          <a:noFill/>
          <a:ln/>
        </p:spPr>
        <p:txBody>
          <a:bodyPr wrap="square" rtlCol="0" anchor="ctr"/>
          <a:lstStyle/>
          <a:p>
            <a:pPr indent="0" marL="0">
              <a:buNone/>
            </a:pPr>
            <a:r>
              <a:rPr lang="en-US" sz="3400" b="1" dirty="0">
                <a:solidFill>
                  <a:srgbClr val="21295C"/>
                </a:solidFill>
                <a:latin typeface="Cambria" pitchFamily="34" charset="0"/>
                <a:ea typeface="Cambria" pitchFamily="34" charset="-122"/>
                <a:cs typeface="Cambria" pitchFamily="34" charset="-120"/>
              </a:rPr>
              <a:t>What This Project Taught Me</a:t>
            </a:r>
            <a:endParaRPr lang="en-US" sz="3400" dirty="0"/>
          </a:p>
        </p:txBody>
      </p:sp>
      <p:sp>
        <p:nvSpPr>
          <p:cNvPr id="4" name="Shape 2"/>
          <p:cNvSpPr/>
          <p:nvPr/>
        </p:nvSpPr>
        <p:spPr>
          <a:xfrm>
            <a:off x="548640" y="1783080"/>
            <a:ext cx="3520440" cy="4160520"/>
          </a:xfrm>
          <a:prstGeom prst="roundRect">
            <a:avLst>
              <a:gd name="adj" fmla="val 2078"/>
            </a:avLst>
          </a:prstGeom>
          <a:solidFill>
            <a:srgbClr val="FFFFFF"/>
          </a:solidFill>
          <a:ln/>
          <a:effectLst>
            <a:outerShdw sx="100000" sy="100000" kx="0" ky="0" algn="bl" rotWithShape="0" blurRad="101600" dist="25400" dir="5400000">
              <a:srgbClr val="1A1D29">
                <a:alpha val="12000"/>
              </a:srgbClr>
            </a:outerShdw>
          </a:effectLst>
        </p:spPr>
      </p:sp>
      <p:sp>
        <p:nvSpPr>
          <p:cNvPr id="5" name="Shape 3"/>
          <p:cNvSpPr/>
          <p:nvPr/>
        </p:nvSpPr>
        <p:spPr>
          <a:xfrm>
            <a:off x="822960" y="2057400"/>
            <a:ext cx="2971800" cy="73152"/>
          </a:xfrm>
          <a:prstGeom prst="roundRect">
            <a:avLst/>
          </a:prstGeom>
          <a:solidFill>
            <a:srgbClr val="065A82"/>
          </a:solidFill>
          <a:ln/>
        </p:spPr>
      </p:sp>
      <p:sp>
        <p:nvSpPr>
          <p:cNvPr id="6" name="Text 4"/>
          <p:cNvSpPr/>
          <p:nvPr/>
        </p:nvSpPr>
        <p:spPr>
          <a:xfrm>
            <a:off x="822960" y="2221992"/>
            <a:ext cx="2971800" cy="548640"/>
          </a:xfrm>
          <a:prstGeom prst="rect">
            <a:avLst/>
          </a:prstGeom>
          <a:noFill/>
          <a:ln/>
        </p:spPr>
        <p:txBody>
          <a:bodyPr wrap="square" rtlCol="0" anchor="ctr"/>
          <a:lstStyle/>
          <a:p>
            <a:pPr indent="0" marL="0">
              <a:buNone/>
            </a:pPr>
            <a:r>
              <a:rPr lang="en-US" sz="1600" b="1" dirty="0">
                <a:solidFill>
                  <a:srgbClr val="21295C"/>
                </a:solidFill>
                <a:latin typeface="Cambria" pitchFamily="34" charset="0"/>
                <a:ea typeface="Cambria" pitchFamily="34" charset="-122"/>
                <a:cs typeface="Cambria" pitchFamily="34" charset="-120"/>
              </a:rPr>
              <a:t>Technical Skills</a:t>
            </a:r>
            <a:endParaRPr lang="en-US" sz="1600" dirty="0"/>
          </a:p>
        </p:txBody>
      </p:sp>
      <p:sp>
        <p:nvSpPr>
          <p:cNvPr id="7" name="Text 5"/>
          <p:cNvSpPr/>
          <p:nvPr/>
        </p:nvSpPr>
        <p:spPr>
          <a:xfrm>
            <a:off x="822960" y="2834640"/>
            <a:ext cx="3063240" cy="2971800"/>
          </a:xfrm>
          <a:prstGeom prst="rect">
            <a:avLst/>
          </a:prstGeom>
          <a:noFill/>
          <a:ln/>
        </p:spPr>
        <p:txBody>
          <a:bodyPr wrap="square" rtlCol="0" anchor="t"/>
          <a:lstStyle/>
          <a:p>
            <a:pPr marL="177800" indent="-177800">
              <a:spcAft>
                <a:spcPts val="1100"/>
              </a:spcAft>
              <a:buSzPct val="100000"/>
              <a:buChar char="▪"/>
            </a:pPr>
            <a:r>
              <a:rPr lang="en-US" sz="1250" dirty="0">
                <a:solidFill>
                  <a:srgbClr val="1A1D29"/>
                </a:solidFill>
                <a:latin typeface="Calibri" pitchFamily="34" charset="0"/>
                <a:ea typeface="Calibri" pitchFamily="34" charset="-122"/>
                <a:cs typeface="Calibri" pitchFamily="34" charset="-120"/>
              </a:rPr>
              <a:t>Vue.js &amp; modern frontend development</a:t>
            </a:r>
            <a:endParaRPr lang="en-US" sz="1250" dirty="0"/>
          </a:p>
          <a:p>
            <a:pPr marL="177800" indent="-177800">
              <a:spcAft>
                <a:spcPts val="1100"/>
              </a:spcAft>
              <a:buSzPct val="100000"/>
              <a:buChar char="▪"/>
            </a:pPr>
            <a:r>
              <a:rPr lang="en-US" sz="1250" dirty="0">
                <a:solidFill>
                  <a:srgbClr val="1A1D29"/>
                </a:solidFill>
                <a:latin typeface="Calibri" pitchFamily="34" charset="0"/>
                <a:ea typeface="Calibri" pitchFamily="34" charset="-122"/>
                <a:cs typeface="Calibri" pitchFamily="34" charset="-120"/>
              </a:rPr>
              <a:t>Express.js &amp; REST API development</a:t>
            </a:r>
            <a:endParaRPr lang="en-US" sz="1250" dirty="0"/>
          </a:p>
          <a:p>
            <a:pPr marL="177800" indent="-177800">
              <a:spcAft>
                <a:spcPts val="1100"/>
              </a:spcAft>
              <a:buSzPct val="100000"/>
              <a:buChar char="▪"/>
            </a:pPr>
            <a:r>
              <a:rPr lang="en-US" sz="1250" dirty="0">
                <a:solidFill>
                  <a:srgbClr val="1A1D29"/>
                </a:solidFill>
                <a:latin typeface="Calibri" pitchFamily="34" charset="0"/>
                <a:ea typeface="Calibri" pitchFamily="34" charset="-122"/>
                <a:cs typeface="Calibri" pitchFamily="34" charset="-120"/>
              </a:rPr>
              <a:t>Type-safe programming with TypeScript</a:t>
            </a:r>
            <a:endParaRPr lang="en-US" sz="1250" dirty="0"/>
          </a:p>
          <a:p>
            <a:pPr marL="177800" indent="-177800">
              <a:spcAft>
                <a:spcPts val="1100"/>
              </a:spcAft>
              <a:buSzPct val="100000"/>
              <a:buChar char="▪"/>
            </a:pPr>
            <a:r>
              <a:rPr lang="en-US" sz="1250" dirty="0">
                <a:solidFill>
                  <a:srgbClr val="1A1D29"/>
                </a:solidFill>
                <a:latin typeface="Calibri" pitchFamily="34" charset="0"/>
                <a:ea typeface="Calibri" pitchFamily="34" charset="-122"/>
                <a:cs typeface="Calibri" pitchFamily="34" charset="-120"/>
              </a:rPr>
              <a:t>External API integration</a:t>
            </a:r>
            <a:endParaRPr lang="en-US" sz="1250" dirty="0"/>
          </a:p>
          <a:p>
            <a:pPr marL="177800" indent="-177800">
              <a:spcAft>
                <a:spcPts val="1100"/>
              </a:spcAft>
              <a:buSzPct val="100000"/>
              <a:buChar char="▪"/>
            </a:pPr>
            <a:r>
              <a:rPr lang="en-US" sz="1250" dirty="0">
                <a:solidFill>
                  <a:srgbClr val="1A1D29"/>
                </a:solidFill>
                <a:latin typeface="Calibri" pitchFamily="34" charset="0"/>
                <a:ea typeface="Calibri" pitchFamily="34" charset="-122"/>
                <a:cs typeface="Calibri" pitchFamily="34" charset="-120"/>
              </a:rPr>
              <a:t>API design &amp; data processing</a:t>
            </a:r>
            <a:endParaRPr lang="en-US" sz="1250" dirty="0"/>
          </a:p>
        </p:txBody>
      </p:sp>
      <p:sp>
        <p:nvSpPr>
          <p:cNvPr id="8" name="Shape 6"/>
          <p:cNvSpPr/>
          <p:nvPr/>
        </p:nvSpPr>
        <p:spPr>
          <a:xfrm>
            <a:off x="4251960" y="1783080"/>
            <a:ext cx="3520440" cy="4160520"/>
          </a:xfrm>
          <a:prstGeom prst="roundRect">
            <a:avLst>
              <a:gd name="adj" fmla="val 2078"/>
            </a:avLst>
          </a:prstGeom>
          <a:solidFill>
            <a:srgbClr val="FFFFFF"/>
          </a:solidFill>
          <a:ln/>
          <a:effectLst>
            <a:outerShdw sx="100000" sy="100000" kx="0" ky="0" algn="bl" rotWithShape="0" blurRad="101600" dist="25400" dir="5400000">
              <a:srgbClr val="1A1D29">
                <a:alpha val="12000"/>
              </a:srgbClr>
            </a:outerShdw>
          </a:effectLst>
        </p:spPr>
      </p:sp>
      <p:sp>
        <p:nvSpPr>
          <p:cNvPr id="9" name="Shape 7"/>
          <p:cNvSpPr/>
          <p:nvPr/>
        </p:nvSpPr>
        <p:spPr>
          <a:xfrm>
            <a:off x="4526280" y="2057400"/>
            <a:ext cx="2971800" cy="73152"/>
          </a:xfrm>
          <a:prstGeom prst="roundRect">
            <a:avLst/>
          </a:prstGeom>
          <a:solidFill>
            <a:srgbClr val="21295C"/>
          </a:solidFill>
          <a:ln/>
        </p:spPr>
      </p:sp>
      <p:sp>
        <p:nvSpPr>
          <p:cNvPr id="10" name="Text 8"/>
          <p:cNvSpPr/>
          <p:nvPr/>
        </p:nvSpPr>
        <p:spPr>
          <a:xfrm>
            <a:off x="4526280" y="2221992"/>
            <a:ext cx="2971800" cy="548640"/>
          </a:xfrm>
          <a:prstGeom prst="rect">
            <a:avLst/>
          </a:prstGeom>
          <a:noFill/>
          <a:ln/>
        </p:spPr>
        <p:txBody>
          <a:bodyPr wrap="square" rtlCol="0" anchor="ctr"/>
          <a:lstStyle/>
          <a:p>
            <a:pPr indent="0" marL="0">
              <a:buNone/>
            </a:pPr>
            <a:r>
              <a:rPr lang="en-US" sz="1600" b="1" dirty="0">
                <a:solidFill>
                  <a:srgbClr val="21295C"/>
                </a:solidFill>
                <a:latin typeface="Cambria" pitchFamily="34" charset="0"/>
                <a:ea typeface="Cambria" pitchFamily="34" charset="-122"/>
                <a:cs typeface="Cambria" pitchFamily="34" charset="-120"/>
              </a:rPr>
              <a:t>Software Engineering Skills</a:t>
            </a:r>
            <a:endParaRPr lang="en-US" sz="1600" dirty="0"/>
          </a:p>
        </p:txBody>
      </p:sp>
      <p:sp>
        <p:nvSpPr>
          <p:cNvPr id="11" name="Text 9"/>
          <p:cNvSpPr/>
          <p:nvPr/>
        </p:nvSpPr>
        <p:spPr>
          <a:xfrm>
            <a:off x="4526280" y="2834640"/>
            <a:ext cx="3063240" cy="2971800"/>
          </a:xfrm>
          <a:prstGeom prst="rect">
            <a:avLst/>
          </a:prstGeom>
          <a:noFill/>
          <a:ln/>
        </p:spPr>
        <p:txBody>
          <a:bodyPr wrap="square" rtlCol="0" anchor="t"/>
          <a:lstStyle/>
          <a:p>
            <a:pPr marL="177800" indent="-177800">
              <a:spcAft>
                <a:spcPts val="1100"/>
              </a:spcAft>
              <a:buSzPct val="100000"/>
              <a:buChar char="▪"/>
            </a:pPr>
            <a:r>
              <a:rPr lang="en-US" sz="1250" dirty="0">
                <a:solidFill>
                  <a:srgbClr val="1A1D29"/>
                </a:solidFill>
                <a:latin typeface="Calibri" pitchFamily="34" charset="0"/>
                <a:ea typeface="Calibri" pitchFamily="34" charset="-122"/>
                <a:cs typeface="Calibri" pitchFamily="34" charset="-120"/>
              </a:rPr>
              <a:t>Layered architecture design</a:t>
            </a:r>
            <a:endParaRPr lang="en-US" sz="1250" dirty="0"/>
          </a:p>
          <a:p>
            <a:pPr marL="177800" indent="-177800">
              <a:spcAft>
                <a:spcPts val="1100"/>
              </a:spcAft>
              <a:buSzPct val="100000"/>
              <a:buChar char="▪"/>
            </a:pPr>
            <a:r>
              <a:rPr lang="en-US" sz="1250" dirty="0">
                <a:solidFill>
                  <a:srgbClr val="1A1D29"/>
                </a:solidFill>
                <a:latin typeface="Calibri" pitchFamily="34" charset="0"/>
                <a:ea typeface="Calibri" pitchFamily="34" charset="-122"/>
                <a:cs typeface="Calibri" pitchFamily="34" charset="-120"/>
              </a:rPr>
              <a:t>Separating Frontend &amp; Backend</a:t>
            </a:r>
            <a:endParaRPr lang="en-US" sz="1250" dirty="0"/>
          </a:p>
          <a:p>
            <a:pPr marL="177800" indent="-177800">
              <a:spcAft>
                <a:spcPts val="1100"/>
              </a:spcAft>
              <a:buSzPct val="100000"/>
              <a:buChar char="▪"/>
            </a:pPr>
            <a:r>
              <a:rPr lang="en-US" sz="1250" dirty="0">
                <a:solidFill>
                  <a:srgbClr val="1A1D29"/>
                </a:solidFill>
                <a:latin typeface="Calibri" pitchFamily="34" charset="0"/>
                <a:ea typeface="Calibri" pitchFamily="34" charset="-122"/>
                <a:cs typeface="Calibri" pitchFamily="34" charset="-120"/>
              </a:rPr>
              <a:t>Git version control</a:t>
            </a:r>
            <a:endParaRPr lang="en-US" sz="1250" dirty="0"/>
          </a:p>
          <a:p>
            <a:pPr marL="177800" indent="-177800">
              <a:spcAft>
                <a:spcPts val="1100"/>
              </a:spcAft>
              <a:buSzPct val="100000"/>
              <a:buChar char="▪"/>
            </a:pPr>
            <a:r>
              <a:rPr lang="en-US" sz="1250" dirty="0">
                <a:solidFill>
                  <a:srgbClr val="1A1D29"/>
                </a:solidFill>
                <a:latin typeface="Calibri" pitchFamily="34" charset="0"/>
                <a:ea typeface="Calibri" pitchFamily="34" charset="-122"/>
                <a:cs typeface="Calibri" pitchFamily="34" charset="-120"/>
              </a:rPr>
              <a:t>Debugging &amp; problem solving</a:t>
            </a:r>
            <a:endParaRPr lang="en-US" sz="1250" dirty="0"/>
          </a:p>
          <a:p>
            <a:pPr marL="177800" indent="-177800">
              <a:spcAft>
                <a:spcPts val="1100"/>
              </a:spcAft>
              <a:buSzPct val="100000"/>
              <a:buChar char="▪"/>
            </a:pPr>
            <a:r>
              <a:rPr lang="en-US" sz="1250" dirty="0">
                <a:solidFill>
                  <a:srgbClr val="1A1D29"/>
                </a:solidFill>
                <a:latin typeface="Calibri" pitchFamily="34" charset="0"/>
                <a:ea typeface="Calibri" pitchFamily="34" charset="-122"/>
                <a:cs typeface="Calibri" pitchFamily="34" charset="-120"/>
              </a:rPr>
              <a:t>Project planning</a:t>
            </a:r>
            <a:endParaRPr lang="en-US" sz="1250" dirty="0"/>
          </a:p>
        </p:txBody>
      </p:sp>
      <p:sp>
        <p:nvSpPr>
          <p:cNvPr id="12" name="Shape 10"/>
          <p:cNvSpPr/>
          <p:nvPr/>
        </p:nvSpPr>
        <p:spPr>
          <a:xfrm>
            <a:off x="7955280" y="1783080"/>
            <a:ext cx="3520440" cy="4160520"/>
          </a:xfrm>
          <a:prstGeom prst="roundRect">
            <a:avLst>
              <a:gd name="adj" fmla="val 2078"/>
            </a:avLst>
          </a:prstGeom>
          <a:solidFill>
            <a:srgbClr val="FFFFFF"/>
          </a:solidFill>
          <a:ln/>
          <a:effectLst>
            <a:outerShdw sx="100000" sy="100000" kx="0" ky="0" algn="bl" rotWithShape="0" blurRad="101600" dist="25400" dir="5400000">
              <a:srgbClr val="1A1D29">
                <a:alpha val="12000"/>
              </a:srgbClr>
            </a:outerShdw>
          </a:effectLst>
        </p:spPr>
      </p:sp>
      <p:sp>
        <p:nvSpPr>
          <p:cNvPr id="13" name="Shape 11"/>
          <p:cNvSpPr/>
          <p:nvPr/>
        </p:nvSpPr>
        <p:spPr>
          <a:xfrm>
            <a:off x="8229600" y="2057400"/>
            <a:ext cx="2971800" cy="73152"/>
          </a:xfrm>
          <a:prstGeom prst="roundRect">
            <a:avLst/>
          </a:prstGeom>
          <a:solidFill>
            <a:srgbClr val="1C7293"/>
          </a:solidFill>
          <a:ln/>
        </p:spPr>
      </p:sp>
      <p:sp>
        <p:nvSpPr>
          <p:cNvPr id="14" name="Text 12"/>
          <p:cNvSpPr/>
          <p:nvPr/>
        </p:nvSpPr>
        <p:spPr>
          <a:xfrm>
            <a:off x="8229600" y="2221992"/>
            <a:ext cx="2971800" cy="548640"/>
          </a:xfrm>
          <a:prstGeom prst="rect">
            <a:avLst/>
          </a:prstGeom>
          <a:noFill/>
          <a:ln/>
        </p:spPr>
        <p:txBody>
          <a:bodyPr wrap="square" rtlCol="0" anchor="ctr"/>
          <a:lstStyle/>
          <a:p>
            <a:pPr indent="0" marL="0">
              <a:buNone/>
            </a:pPr>
            <a:r>
              <a:rPr lang="en-US" sz="1600" b="1" dirty="0">
                <a:solidFill>
                  <a:srgbClr val="21295C"/>
                </a:solidFill>
                <a:latin typeface="Cambria" pitchFamily="34" charset="0"/>
                <a:ea typeface="Cambria" pitchFamily="34" charset="-122"/>
                <a:cs typeface="Cambria" pitchFamily="34" charset="-120"/>
              </a:rPr>
              <a:t>Personal Growth</a:t>
            </a:r>
            <a:endParaRPr lang="en-US" sz="1600" dirty="0"/>
          </a:p>
        </p:txBody>
      </p:sp>
      <p:sp>
        <p:nvSpPr>
          <p:cNvPr id="15" name="Text 13"/>
          <p:cNvSpPr/>
          <p:nvPr/>
        </p:nvSpPr>
        <p:spPr>
          <a:xfrm>
            <a:off x="8229600" y="2834640"/>
            <a:ext cx="3063240" cy="2971800"/>
          </a:xfrm>
          <a:prstGeom prst="rect">
            <a:avLst/>
          </a:prstGeom>
          <a:noFill/>
          <a:ln/>
        </p:spPr>
        <p:txBody>
          <a:bodyPr wrap="square" rtlCol="0" anchor="t"/>
          <a:lstStyle/>
          <a:p>
            <a:pPr marL="177800" indent="-177800">
              <a:spcAft>
                <a:spcPts val="1100"/>
              </a:spcAft>
              <a:buSzPct val="100000"/>
              <a:buChar char="▪"/>
            </a:pPr>
            <a:r>
              <a:rPr lang="en-US" sz="1250" dirty="0">
                <a:solidFill>
                  <a:srgbClr val="1A1D29"/>
                </a:solidFill>
                <a:latin typeface="Calibri" pitchFamily="34" charset="0"/>
                <a:ea typeface="Calibri" pitchFamily="34" charset="-122"/>
                <a:cs typeface="Calibri" pitchFamily="34" charset="-120"/>
              </a:rPr>
              <a:t>Requirement analysis</a:t>
            </a:r>
            <a:endParaRPr lang="en-US" sz="1250" dirty="0"/>
          </a:p>
          <a:p>
            <a:pPr marL="177800" indent="-177800">
              <a:spcAft>
                <a:spcPts val="1100"/>
              </a:spcAft>
              <a:buSzPct val="100000"/>
              <a:buChar char="▪"/>
            </a:pPr>
            <a:r>
              <a:rPr lang="en-US" sz="1250" dirty="0">
                <a:solidFill>
                  <a:srgbClr val="1A1D29"/>
                </a:solidFill>
                <a:latin typeface="Calibri" pitchFamily="34" charset="0"/>
                <a:ea typeface="Calibri" pitchFamily="34" charset="-122"/>
                <a:cs typeface="Calibri" pitchFamily="34" charset="-120"/>
              </a:rPr>
              <a:t>Project design thinking</a:t>
            </a:r>
            <a:endParaRPr lang="en-US" sz="1250" dirty="0"/>
          </a:p>
          <a:p>
            <a:pPr marL="177800" indent="-177800">
              <a:spcAft>
                <a:spcPts val="1100"/>
              </a:spcAft>
              <a:buSzPct val="100000"/>
              <a:buChar char="▪"/>
            </a:pPr>
            <a:r>
              <a:rPr lang="en-US" sz="1250" dirty="0">
                <a:solidFill>
                  <a:srgbClr val="1A1D29"/>
                </a:solidFill>
                <a:latin typeface="Calibri" pitchFamily="34" charset="0"/>
                <a:ea typeface="Calibri" pitchFamily="34" charset="-122"/>
                <a:cs typeface="Calibri" pitchFamily="34" charset="-120"/>
              </a:rPr>
              <a:t>Structured error resolution</a:t>
            </a:r>
            <a:endParaRPr lang="en-US" sz="1250" dirty="0"/>
          </a:p>
          <a:p>
            <a:pPr marL="177800" indent="-177800">
              <a:spcAft>
                <a:spcPts val="1100"/>
              </a:spcAft>
              <a:buSzPct val="100000"/>
              <a:buChar char="▪"/>
            </a:pPr>
            <a:r>
              <a:rPr lang="en-US" sz="1250" dirty="0">
                <a:solidFill>
                  <a:srgbClr val="1A1D29"/>
                </a:solidFill>
                <a:latin typeface="Calibri" pitchFamily="34" charset="0"/>
                <a:ea typeface="Calibri" pitchFamily="34" charset="-122"/>
                <a:cs typeface="Calibri" pitchFamily="34" charset="-120"/>
              </a:rPr>
              <a:t>Documentation writing</a:t>
            </a:r>
            <a:endParaRPr lang="en-US" sz="1250" dirty="0"/>
          </a:p>
          <a:p>
            <a:pPr marL="177800" indent="-177800">
              <a:spcAft>
                <a:spcPts val="1100"/>
              </a:spcAft>
              <a:buSzPct val="100000"/>
              <a:buChar char="▪"/>
            </a:pPr>
            <a:r>
              <a:rPr lang="en-US" sz="1250" dirty="0">
                <a:solidFill>
                  <a:srgbClr val="1A1D29"/>
                </a:solidFill>
                <a:latin typeface="Calibri" pitchFamily="34" charset="0"/>
                <a:ea typeface="Calibri" pitchFamily="34" charset="-122"/>
                <a:cs typeface="Calibri" pitchFamily="34" charset="-120"/>
              </a:rPr>
              <a:t>Self-learning ability</a:t>
            </a:r>
            <a:endParaRPr lang="en-US" sz="1250" dirty="0"/>
          </a:p>
        </p:txBody>
      </p:sp>
      <p:sp>
        <p:nvSpPr>
          <p:cNvPr id="16" name="Text 14"/>
          <p:cNvSpPr/>
          <p:nvPr/>
        </p:nvSpPr>
        <p:spPr>
          <a:xfrm>
            <a:off x="11365992" y="6355080"/>
            <a:ext cx="548640" cy="320040"/>
          </a:xfrm>
          <a:prstGeom prst="rect">
            <a:avLst/>
          </a:prstGeom>
          <a:noFill/>
          <a:ln/>
        </p:spPr>
        <p:txBody>
          <a:bodyPr wrap="square"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1828800" y="-2286000"/>
            <a:ext cx="5486400" cy="5486400"/>
          </a:xfrm>
          <a:prstGeom prst="ellipse">
            <a:avLst/>
          </a:prstGeom>
          <a:solidFill>
            <a:srgbClr val="065A82"/>
          </a:solidFill>
          <a:ln/>
        </p:spPr>
      </p:sp>
      <p:sp>
        <p:nvSpPr>
          <p:cNvPr id="3" name="Text 1"/>
          <p:cNvSpPr/>
          <p:nvPr/>
        </p:nvSpPr>
        <p:spPr>
          <a:xfrm>
            <a:off x="548640" y="411480"/>
            <a:ext cx="7315200" cy="365760"/>
          </a:xfrm>
          <a:prstGeom prst="rect">
            <a:avLst/>
          </a:prstGeom>
          <a:noFill/>
          <a:ln/>
        </p:spPr>
        <p:txBody>
          <a:bodyPr wrap="square" rtlCol="0" anchor="ctr"/>
          <a:lstStyle/>
          <a:p>
            <a:pPr indent="0" marL="0">
              <a:buNone/>
            </a:pPr>
            <a:r>
              <a:rPr lang="en-US" sz="1300" b="1" spc="200" kern="0" dirty="0">
                <a:solidFill>
                  <a:srgbClr val="5FD3C4"/>
                </a:solidFill>
                <a:latin typeface="Calibri" pitchFamily="34" charset="0"/>
                <a:ea typeface="Calibri" pitchFamily="34" charset="-122"/>
                <a:cs typeface="Calibri" pitchFamily="34" charset="-120"/>
              </a:rPr>
              <a:t>CONCLUSION</a:t>
            </a:r>
            <a:endParaRPr lang="en-US" sz="1300" dirty="0"/>
          </a:p>
        </p:txBody>
      </p:sp>
      <p:sp>
        <p:nvSpPr>
          <p:cNvPr id="4" name="Text 2"/>
          <p:cNvSpPr/>
          <p:nvPr/>
        </p:nvSpPr>
        <p:spPr>
          <a:xfrm>
            <a:off x="548640" y="777240"/>
            <a:ext cx="10515600" cy="73152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Yangon Places Vector, in Summary</a:t>
            </a:r>
            <a:endParaRPr lang="en-US" sz="3200" dirty="0"/>
          </a:p>
        </p:txBody>
      </p:sp>
      <p:sp>
        <p:nvSpPr>
          <p:cNvPr id="5" name="Text 3"/>
          <p:cNvSpPr/>
          <p:nvPr/>
        </p:nvSpPr>
        <p:spPr>
          <a:xfrm>
            <a:off x="548640" y="1737360"/>
            <a:ext cx="5669280" cy="3840480"/>
          </a:xfrm>
          <a:prstGeom prst="rect">
            <a:avLst/>
          </a:prstGeom>
          <a:noFill/>
          <a:ln/>
        </p:spPr>
        <p:txBody>
          <a:bodyPr wrap="square" rtlCol="0" anchor="t"/>
          <a:lstStyle/>
          <a:p>
            <a:pPr marL="177800" indent="-177800">
              <a:spcAft>
                <a:spcPts val="1400"/>
              </a:spcAft>
              <a:buSzPct val="100000"/>
              <a:buChar char="▪"/>
            </a:pPr>
            <a:r>
              <a:rPr lang="en-US" sz="1450" dirty="0">
                <a:solidFill>
                  <a:srgbClr val="E4ECF5"/>
                </a:solidFill>
                <a:latin typeface="Calibri" pitchFamily="34" charset="0"/>
                <a:ea typeface="Calibri" pitchFamily="34" charset="-122"/>
                <a:cs typeface="Calibri" pitchFamily="34" charset="-120"/>
              </a:rPr>
              <a:t>A modern semantic search system powered by AI Vector Search</a:t>
            </a:r>
            <a:endParaRPr lang="en-US" sz="1450" dirty="0"/>
          </a:p>
          <a:p>
            <a:pPr marL="177800" indent="-177800">
              <a:spcAft>
                <a:spcPts val="1400"/>
              </a:spcAft>
              <a:buSzPct val="100000"/>
              <a:buChar char="▪"/>
            </a:pPr>
            <a:r>
              <a:rPr lang="en-US" sz="1450" dirty="0">
                <a:solidFill>
                  <a:srgbClr val="E4ECF5"/>
                </a:solidFill>
                <a:latin typeface="Calibri" pitchFamily="34" charset="0"/>
                <a:ea typeface="Calibri" pitchFamily="34" charset="-122"/>
                <a:cs typeface="Calibri" pitchFamily="34" charset="-120"/>
              </a:rPr>
              <a:t>Built on a layered architecture (Frontend / Backend / External Services)</a:t>
            </a:r>
            <a:endParaRPr lang="en-US" sz="1450" dirty="0"/>
          </a:p>
          <a:p>
            <a:pPr marL="177800" indent="-177800">
              <a:spcAft>
                <a:spcPts val="1400"/>
              </a:spcAft>
              <a:buSzPct val="100000"/>
              <a:buChar char="▪"/>
            </a:pPr>
            <a:r>
              <a:rPr lang="en-US" sz="1450" dirty="0">
                <a:solidFill>
                  <a:srgbClr val="E4ECF5"/>
                </a:solidFill>
                <a:latin typeface="Calibri" pitchFamily="34" charset="0"/>
                <a:ea typeface="Calibri" pitchFamily="34" charset="-122"/>
                <a:cs typeface="Calibri" pitchFamily="34" charset="-120"/>
              </a:rPr>
              <a:t>Frontend and Backend are cleanly separated</a:t>
            </a:r>
            <a:endParaRPr lang="en-US" sz="1450" dirty="0"/>
          </a:p>
          <a:p>
            <a:pPr marL="177800" indent="-177800">
              <a:spcAft>
                <a:spcPts val="1400"/>
              </a:spcAft>
              <a:buSzPct val="100000"/>
              <a:buChar char="▪"/>
            </a:pPr>
            <a:r>
              <a:rPr lang="en-US" sz="1450" dirty="0">
                <a:solidFill>
                  <a:srgbClr val="E4ECF5"/>
                </a:solidFill>
                <a:latin typeface="Calibri" pitchFamily="34" charset="0"/>
                <a:ea typeface="Calibri" pitchFamily="34" charset="-122"/>
                <a:cs typeface="Calibri" pitchFamily="34" charset="-120"/>
              </a:rPr>
              <a:t>Semantic search meaningfully improves the user experience</a:t>
            </a:r>
            <a:endParaRPr lang="en-US" sz="1450" dirty="0"/>
          </a:p>
          <a:p>
            <a:pPr marL="177800" indent="-177800">
              <a:spcAft>
                <a:spcPts val="1400"/>
              </a:spcAft>
              <a:buSzPct val="100000"/>
              <a:buChar char="▪"/>
            </a:pPr>
            <a:r>
              <a:rPr lang="en-US" sz="1450" dirty="0">
                <a:solidFill>
                  <a:srgbClr val="E4ECF5"/>
                </a:solidFill>
                <a:latin typeface="Calibri" pitchFamily="34" charset="0"/>
                <a:ea typeface="Calibri" pitchFamily="34" charset="-122"/>
                <a:cs typeface="Calibri" pitchFamily="34" charset="-120"/>
              </a:rPr>
              <a:t>Structured to scale toward a production-level application</a:t>
            </a:r>
            <a:endParaRPr lang="en-US" sz="1450" dirty="0"/>
          </a:p>
        </p:txBody>
      </p:sp>
      <p:sp>
        <p:nvSpPr>
          <p:cNvPr id="6" name="Shape 4"/>
          <p:cNvSpPr/>
          <p:nvPr/>
        </p:nvSpPr>
        <p:spPr>
          <a:xfrm>
            <a:off x="6492240" y="1737360"/>
            <a:ext cx="5120640" cy="4023360"/>
          </a:xfrm>
          <a:prstGeom prst="roundRect">
            <a:avLst>
              <a:gd name="adj" fmla="val 1818"/>
            </a:avLst>
          </a:prstGeom>
          <a:solidFill>
            <a:srgbClr val="1B2450"/>
          </a:solidFill>
          <a:ln/>
          <a:effectLst>
            <a:outerShdw sx="100000" sy="100000" kx="0" ky="0" algn="bl" rotWithShape="0" blurRad="101600" dist="25400" dir="5400000">
              <a:srgbClr val="1A1D29">
                <a:alpha val="12000"/>
              </a:srgbClr>
            </a:outerShdw>
          </a:effectLst>
        </p:spPr>
      </p:sp>
      <p:sp>
        <p:nvSpPr>
          <p:cNvPr id="7" name="Text 5"/>
          <p:cNvSpPr/>
          <p:nvPr/>
        </p:nvSpPr>
        <p:spPr>
          <a:xfrm>
            <a:off x="6858000" y="1965960"/>
            <a:ext cx="4572000" cy="320040"/>
          </a:xfrm>
          <a:prstGeom prst="rect">
            <a:avLst/>
          </a:prstGeom>
          <a:noFill/>
          <a:ln/>
        </p:spPr>
        <p:txBody>
          <a:bodyPr wrap="square" rtlCol="0" anchor="ctr"/>
          <a:lstStyle/>
          <a:p>
            <a:pPr indent="0" marL="0">
              <a:buNone/>
            </a:pPr>
            <a:r>
              <a:rPr lang="en-US" sz="1250" b="1" spc="150" kern="0" dirty="0">
                <a:solidFill>
                  <a:srgbClr val="5FD3C4"/>
                </a:solidFill>
                <a:latin typeface="Calibri" pitchFamily="34" charset="0"/>
                <a:ea typeface="Calibri" pitchFamily="34" charset="-122"/>
                <a:cs typeface="Calibri" pitchFamily="34" charset="-120"/>
              </a:rPr>
              <a:t>PROJECT ACHIEVEMENTS</a:t>
            </a:r>
            <a:endParaRPr lang="en-US" sz="1250" dirty="0"/>
          </a:p>
        </p:txBody>
      </p:sp>
      <p:sp>
        <p:nvSpPr>
          <p:cNvPr id="8" name="Shape 6"/>
          <p:cNvSpPr/>
          <p:nvPr/>
        </p:nvSpPr>
        <p:spPr>
          <a:xfrm>
            <a:off x="6858000" y="2468880"/>
            <a:ext cx="274320" cy="274320"/>
          </a:xfrm>
          <a:prstGeom prst="ellipse">
            <a:avLst/>
          </a:prstGeom>
          <a:solidFill>
            <a:srgbClr val="5FD3C4"/>
          </a:solidFill>
          <a:ln/>
        </p:spPr>
      </p:sp>
      <p:sp>
        <p:nvSpPr>
          <p:cNvPr id="9" name="Text 7"/>
          <p:cNvSpPr/>
          <p:nvPr/>
        </p:nvSpPr>
        <p:spPr>
          <a:xfrm>
            <a:off x="6858000" y="2468880"/>
            <a:ext cx="274320" cy="274320"/>
          </a:xfrm>
          <a:prstGeom prst="rect">
            <a:avLst/>
          </a:prstGeom>
          <a:noFill/>
          <a:ln/>
        </p:spPr>
        <p:txBody>
          <a:bodyPr wrap="square" rtlCol="0" anchor="ctr"/>
          <a:lstStyle/>
          <a:p>
            <a:pPr algn="ctr" indent="0" marL="0">
              <a:buNone/>
            </a:pPr>
            <a:r>
              <a:rPr lang="en-US" sz="1400" b="1" dirty="0">
                <a:solidFill>
                  <a:srgbClr val="21295C"/>
                </a:solidFill>
              </a:rPr>
              <a:t>✓</a:t>
            </a:r>
            <a:endParaRPr lang="en-US" sz="1400" dirty="0"/>
          </a:p>
        </p:txBody>
      </p:sp>
      <p:sp>
        <p:nvSpPr>
          <p:cNvPr id="10" name="Text 8"/>
          <p:cNvSpPr/>
          <p:nvPr/>
        </p:nvSpPr>
        <p:spPr>
          <a:xfrm>
            <a:off x="7269480" y="2423160"/>
            <a:ext cx="4206240" cy="685800"/>
          </a:xfrm>
          <a:prstGeom prst="rect">
            <a:avLst/>
          </a:prstGeom>
          <a:noFill/>
          <a:ln/>
        </p:spPr>
        <p:txBody>
          <a:bodyPr wrap="square" rtlCol="0" anchor="t"/>
          <a:lstStyle/>
          <a:p>
            <a:pPr indent="0" marL="0">
              <a:buNone/>
            </a:pPr>
            <a:r>
              <a:rPr lang="en-US" sz="1350" dirty="0">
                <a:solidFill>
                  <a:srgbClr val="E4ECF5"/>
                </a:solidFill>
                <a:latin typeface="Calibri" pitchFamily="34" charset="0"/>
                <a:ea typeface="Calibri" pitchFamily="34" charset="-122"/>
                <a:cs typeface="Calibri" pitchFamily="34" charset="-120"/>
              </a:rPr>
              <a:t>Applied modern web technologies end-to-end</a:t>
            </a:r>
            <a:endParaRPr lang="en-US" sz="1350" dirty="0"/>
          </a:p>
        </p:txBody>
      </p:sp>
      <p:sp>
        <p:nvSpPr>
          <p:cNvPr id="11" name="Shape 9"/>
          <p:cNvSpPr/>
          <p:nvPr/>
        </p:nvSpPr>
        <p:spPr>
          <a:xfrm>
            <a:off x="6858000" y="3291840"/>
            <a:ext cx="274320" cy="274320"/>
          </a:xfrm>
          <a:prstGeom prst="ellipse">
            <a:avLst/>
          </a:prstGeom>
          <a:solidFill>
            <a:srgbClr val="5FD3C4"/>
          </a:solidFill>
          <a:ln/>
        </p:spPr>
      </p:sp>
      <p:sp>
        <p:nvSpPr>
          <p:cNvPr id="12" name="Text 10"/>
          <p:cNvSpPr/>
          <p:nvPr/>
        </p:nvSpPr>
        <p:spPr>
          <a:xfrm>
            <a:off x="6858000" y="3291840"/>
            <a:ext cx="274320" cy="274320"/>
          </a:xfrm>
          <a:prstGeom prst="rect">
            <a:avLst/>
          </a:prstGeom>
          <a:noFill/>
          <a:ln/>
        </p:spPr>
        <p:txBody>
          <a:bodyPr wrap="square" rtlCol="0" anchor="ctr"/>
          <a:lstStyle/>
          <a:p>
            <a:pPr algn="ctr" indent="0" marL="0">
              <a:buNone/>
            </a:pPr>
            <a:r>
              <a:rPr lang="en-US" sz="1400" b="1" dirty="0">
                <a:solidFill>
                  <a:srgbClr val="21295C"/>
                </a:solidFill>
              </a:rPr>
              <a:t>✓</a:t>
            </a:r>
            <a:endParaRPr lang="en-US" sz="1400" dirty="0"/>
          </a:p>
        </p:txBody>
      </p:sp>
      <p:sp>
        <p:nvSpPr>
          <p:cNvPr id="13" name="Text 11"/>
          <p:cNvSpPr/>
          <p:nvPr/>
        </p:nvSpPr>
        <p:spPr>
          <a:xfrm>
            <a:off x="7269480" y="3246120"/>
            <a:ext cx="4206240" cy="685800"/>
          </a:xfrm>
          <a:prstGeom prst="rect">
            <a:avLst/>
          </a:prstGeom>
          <a:noFill/>
          <a:ln/>
        </p:spPr>
        <p:txBody>
          <a:bodyPr wrap="square" rtlCol="0" anchor="t"/>
          <a:lstStyle/>
          <a:p>
            <a:pPr indent="0" marL="0">
              <a:buNone/>
            </a:pPr>
            <a:r>
              <a:rPr lang="en-US" sz="1350" dirty="0">
                <a:solidFill>
                  <a:srgbClr val="E4ECF5"/>
                </a:solidFill>
                <a:latin typeface="Calibri" pitchFamily="34" charset="0"/>
                <a:ea typeface="Calibri" pitchFamily="34" charset="-122"/>
                <a:cs typeface="Calibri" pitchFamily="34" charset="-120"/>
              </a:rPr>
              <a:t>Implemented AI Vector Search in practice</a:t>
            </a:r>
            <a:endParaRPr lang="en-US" sz="1350" dirty="0"/>
          </a:p>
        </p:txBody>
      </p:sp>
      <p:sp>
        <p:nvSpPr>
          <p:cNvPr id="14" name="Shape 12"/>
          <p:cNvSpPr/>
          <p:nvPr/>
        </p:nvSpPr>
        <p:spPr>
          <a:xfrm>
            <a:off x="6858000" y="4114800"/>
            <a:ext cx="274320" cy="274320"/>
          </a:xfrm>
          <a:prstGeom prst="ellipse">
            <a:avLst/>
          </a:prstGeom>
          <a:solidFill>
            <a:srgbClr val="5FD3C4"/>
          </a:solidFill>
          <a:ln/>
        </p:spPr>
      </p:sp>
      <p:sp>
        <p:nvSpPr>
          <p:cNvPr id="15" name="Text 13"/>
          <p:cNvSpPr/>
          <p:nvPr/>
        </p:nvSpPr>
        <p:spPr>
          <a:xfrm>
            <a:off x="6858000" y="4114800"/>
            <a:ext cx="274320" cy="274320"/>
          </a:xfrm>
          <a:prstGeom prst="rect">
            <a:avLst/>
          </a:prstGeom>
          <a:noFill/>
          <a:ln/>
        </p:spPr>
        <p:txBody>
          <a:bodyPr wrap="square" rtlCol="0" anchor="ctr"/>
          <a:lstStyle/>
          <a:p>
            <a:pPr algn="ctr" indent="0" marL="0">
              <a:buNone/>
            </a:pPr>
            <a:r>
              <a:rPr lang="en-US" sz="1400" b="1" dirty="0">
                <a:solidFill>
                  <a:srgbClr val="21295C"/>
                </a:solidFill>
              </a:rPr>
              <a:t>✓</a:t>
            </a:r>
            <a:endParaRPr lang="en-US" sz="1400" dirty="0"/>
          </a:p>
        </p:txBody>
      </p:sp>
      <p:sp>
        <p:nvSpPr>
          <p:cNvPr id="16" name="Text 14"/>
          <p:cNvSpPr/>
          <p:nvPr/>
        </p:nvSpPr>
        <p:spPr>
          <a:xfrm>
            <a:off x="7269480" y="4069080"/>
            <a:ext cx="4206240" cy="685800"/>
          </a:xfrm>
          <a:prstGeom prst="rect">
            <a:avLst/>
          </a:prstGeom>
          <a:noFill/>
          <a:ln/>
        </p:spPr>
        <p:txBody>
          <a:bodyPr wrap="square" rtlCol="0" anchor="t"/>
          <a:lstStyle/>
          <a:p>
            <a:pPr indent="0" marL="0">
              <a:buNone/>
            </a:pPr>
            <a:r>
              <a:rPr lang="en-US" sz="1350" dirty="0">
                <a:solidFill>
                  <a:srgbClr val="E4ECF5"/>
                </a:solidFill>
                <a:latin typeface="Calibri" pitchFamily="34" charset="0"/>
                <a:ea typeface="Calibri" pitchFamily="34" charset="-122"/>
                <a:cs typeface="Calibri" pitchFamily="34" charset="-120"/>
              </a:rPr>
              <a:t>Built a real Backend API architecture</a:t>
            </a:r>
            <a:endParaRPr lang="en-US" sz="1350" dirty="0"/>
          </a:p>
        </p:txBody>
      </p:sp>
      <p:sp>
        <p:nvSpPr>
          <p:cNvPr id="17" name="Shape 15"/>
          <p:cNvSpPr/>
          <p:nvPr/>
        </p:nvSpPr>
        <p:spPr>
          <a:xfrm>
            <a:off x="6858000" y="4937760"/>
            <a:ext cx="274320" cy="274320"/>
          </a:xfrm>
          <a:prstGeom prst="ellipse">
            <a:avLst/>
          </a:prstGeom>
          <a:solidFill>
            <a:srgbClr val="5FD3C4"/>
          </a:solidFill>
          <a:ln/>
        </p:spPr>
      </p:sp>
      <p:sp>
        <p:nvSpPr>
          <p:cNvPr id="18" name="Text 16"/>
          <p:cNvSpPr/>
          <p:nvPr/>
        </p:nvSpPr>
        <p:spPr>
          <a:xfrm>
            <a:off x="6858000" y="4937760"/>
            <a:ext cx="274320" cy="274320"/>
          </a:xfrm>
          <a:prstGeom prst="rect">
            <a:avLst/>
          </a:prstGeom>
          <a:noFill/>
          <a:ln/>
        </p:spPr>
        <p:txBody>
          <a:bodyPr wrap="square" rtlCol="0" anchor="ctr"/>
          <a:lstStyle/>
          <a:p>
            <a:pPr algn="ctr" indent="0" marL="0">
              <a:buNone/>
            </a:pPr>
            <a:r>
              <a:rPr lang="en-US" sz="1400" b="1" dirty="0">
                <a:solidFill>
                  <a:srgbClr val="21295C"/>
                </a:solidFill>
              </a:rPr>
              <a:t>✓</a:t>
            </a:r>
            <a:endParaRPr lang="en-US" sz="1400" dirty="0"/>
          </a:p>
        </p:txBody>
      </p:sp>
      <p:sp>
        <p:nvSpPr>
          <p:cNvPr id="19" name="Text 17"/>
          <p:cNvSpPr/>
          <p:nvPr/>
        </p:nvSpPr>
        <p:spPr>
          <a:xfrm>
            <a:off x="7269480" y="4892040"/>
            <a:ext cx="4206240" cy="685800"/>
          </a:xfrm>
          <a:prstGeom prst="rect">
            <a:avLst/>
          </a:prstGeom>
          <a:noFill/>
          <a:ln/>
        </p:spPr>
        <p:txBody>
          <a:bodyPr wrap="square" rtlCol="0" anchor="t"/>
          <a:lstStyle/>
          <a:p>
            <a:pPr indent="0" marL="0">
              <a:buNone/>
            </a:pPr>
            <a:r>
              <a:rPr lang="en-US" sz="1350" dirty="0">
                <a:solidFill>
                  <a:srgbClr val="E4ECF5"/>
                </a:solidFill>
                <a:latin typeface="Calibri" pitchFamily="34" charset="0"/>
                <a:ea typeface="Calibri" pitchFamily="34" charset="-122"/>
                <a:cs typeface="Calibri" pitchFamily="34" charset="-120"/>
              </a:rPr>
              <a:t>Integrated real-world external APIs</a:t>
            </a:r>
            <a:endParaRPr lang="en-US" sz="1350" dirty="0"/>
          </a:p>
        </p:txBody>
      </p:sp>
      <p:sp>
        <p:nvSpPr>
          <p:cNvPr id="20" name="Text 18"/>
          <p:cNvSpPr/>
          <p:nvPr/>
        </p:nvSpPr>
        <p:spPr>
          <a:xfrm>
            <a:off x="11365992" y="6355080"/>
            <a:ext cx="548640" cy="320040"/>
          </a:xfrm>
          <a:prstGeom prst="rect">
            <a:avLst/>
          </a:prstGeom>
          <a:noFill/>
          <a:ln/>
        </p:spPr>
        <p:txBody>
          <a:bodyPr wrap="square"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8778240" y="4114800"/>
            <a:ext cx="5486400" cy="5486400"/>
          </a:xfrm>
          <a:prstGeom prst="ellipse">
            <a:avLst/>
          </a:prstGeom>
          <a:solidFill>
            <a:srgbClr val="1C7293"/>
          </a:solidFill>
          <a:ln/>
        </p:spPr>
      </p:sp>
      <p:sp>
        <p:nvSpPr>
          <p:cNvPr id="3" name="Text 1"/>
          <p:cNvSpPr/>
          <p:nvPr/>
        </p:nvSpPr>
        <p:spPr>
          <a:xfrm>
            <a:off x="822960" y="2194560"/>
            <a:ext cx="9144000" cy="1097280"/>
          </a:xfrm>
          <a:prstGeom prst="rect">
            <a:avLst/>
          </a:prstGeom>
          <a:noFill/>
          <a:ln/>
        </p:spPr>
        <p:txBody>
          <a:bodyPr wrap="square" rtlCol="0" anchor="ctr"/>
          <a:lstStyle/>
          <a:p>
            <a:pPr indent="0" marL="0">
              <a:buNone/>
            </a:pPr>
            <a:r>
              <a:rPr lang="en-US" sz="5000" b="1" dirty="0">
                <a:solidFill>
                  <a:srgbClr val="FFFFFF"/>
                </a:solidFill>
                <a:latin typeface="Cambria" pitchFamily="34" charset="0"/>
                <a:ea typeface="Cambria" pitchFamily="34" charset="-122"/>
                <a:cs typeface="Cambria" pitchFamily="34" charset="-120"/>
              </a:rPr>
              <a:t>Thank You</a:t>
            </a:r>
            <a:endParaRPr lang="en-US" sz="5000" dirty="0"/>
          </a:p>
        </p:txBody>
      </p:sp>
      <p:sp>
        <p:nvSpPr>
          <p:cNvPr id="4" name="Text 2"/>
          <p:cNvSpPr/>
          <p:nvPr/>
        </p:nvSpPr>
        <p:spPr>
          <a:xfrm>
            <a:off x="822960" y="3291840"/>
            <a:ext cx="9144000" cy="548640"/>
          </a:xfrm>
          <a:prstGeom prst="rect">
            <a:avLst/>
          </a:prstGeom>
          <a:noFill/>
          <a:ln/>
        </p:spPr>
        <p:txBody>
          <a:bodyPr wrap="square" rtlCol="0" anchor="ctr"/>
          <a:lstStyle/>
          <a:p>
            <a:pPr indent="0" marL="0">
              <a:buNone/>
            </a:pPr>
            <a:r>
              <a:rPr lang="en-US" sz="2000" i="1" dirty="0">
                <a:solidFill>
                  <a:srgbClr val="5FD3C4"/>
                </a:solidFill>
                <a:latin typeface="Calibri" pitchFamily="34" charset="0"/>
                <a:ea typeface="Calibri" pitchFamily="34" charset="-122"/>
                <a:cs typeface="Calibri" pitchFamily="34" charset="-120"/>
              </a:rPr>
              <a:t>Questions &amp; Answers</a:t>
            </a:r>
            <a:endParaRPr lang="en-US" sz="2000" dirty="0"/>
          </a:p>
        </p:txBody>
      </p:sp>
      <p:sp>
        <p:nvSpPr>
          <p:cNvPr id="5" name="Shape 3"/>
          <p:cNvSpPr/>
          <p:nvPr/>
        </p:nvSpPr>
        <p:spPr>
          <a:xfrm>
            <a:off x="822960" y="4114800"/>
            <a:ext cx="2011680" cy="0"/>
          </a:xfrm>
          <a:prstGeom prst="line">
            <a:avLst/>
          </a:prstGeom>
          <a:noFill/>
          <a:ln w="25400">
            <a:solidFill>
              <a:srgbClr val="5FD3C4"/>
            </a:solidFill>
            <a:prstDash val="solid"/>
          </a:ln>
        </p:spPr>
      </p:sp>
      <p:sp>
        <p:nvSpPr>
          <p:cNvPr id="6" name="Text 4"/>
          <p:cNvSpPr/>
          <p:nvPr/>
        </p:nvSpPr>
        <p:spPr>
          <a:xfrm>
            <a:off x="822960" y="4297680"/>
            <a:ext cx="7315200" cy="457200"/>
          </a:xfrm>
          <a:prstGeom prst="rect">
            <a:avLst/>
          </a:prstGeom>
          <a:noFill/>
          <a:ln/>
        </p:spPr>
        <p:txBody>
          <a:bodyPr wrap="square" rtlCol="0" anchor="ctr"/>
          <a:lstStyle/>
          <a:p>
            <a:pPr indent="0" marL="0">
              <a:buNone/>
            </a:pPr>
            <a:r>
              <a:rPr lang="en-US" sz="1400" dirty="0">
                <a:solidFill>
                  <a:srgbClr val="8C9BB5"/>
                </a:solidFill>
                <a:latin typeface="Calibri" pitchFamily="34" charset="0"/>
                <a:ea typeface="Calibri" pitchFamily="34" charset="-122"/>
                <a:cs typeface="Calibri" pitchFamily="34" charset="-120"/>
              </a:rPr>
              <a:t>Yangon Places Vector — Han Win Aung</a:t>
            </a:r>
            <a:endParaRPr lang="en-US" sz="1400" dirty="0"/>
          </a:p>
        </p:txBody>
      </p:sp>
      <p:sp>
        <p:nvSpPr>
          <p:cNvPr id="7" name="Text 5"/>
          <p:cNvSpPr/>
          <p:nvPr/>
        </p:nvSpPr>
        <p:spPr>
          <a:xfrm>
            <a:off x="11365992" y="6355080"/>
            <a:ext cx="548640" cy="320040"/>
          </a:xfrm>
          <a:prstGeom prst="rect">
            <a:avLst/>
          </a:prstGeom>
          <a:noFill/>
          <a:ln/>
        </p:spPr>
        <p:txBody>
          <a:bodyPr wrap="square"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2026-07-26T18:39:00Z</dcterms:created>
  <dcterms:modified xsi:type="dcterms:W3CDTF">2026-07-26T18:39:00Z</dcterms:modified>
</cp:coreProperties>
</file>